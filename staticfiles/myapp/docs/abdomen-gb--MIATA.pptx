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8" r:id="rId3"/>
    <p:sldId id="259" r:id="rId4"/>
    <p:sldId id="260" r:id="rId5"/>
    <p:sldId id="304" r:id="rId6"/>
    <p:sldId id="305" r:id="rId7"/>
    <p:sldId id="306" r:id="rId8"/>
    <p:sldId id="337" r:id="rId9"/>
    <p:sldId id="307" r:id="rId10"/>
    <p:sldId id="308" r:id="rId11"/>
    <p:sldId id="261" r:id="rId12"/>
    <p:sldId id="309" r:id="rId13"/>
    <p:sldId id="333" r:id="rId14"/>
    <p:sldId id="262" r:id="rId15"/>
    <p:sldId id="332" r:id="rId16"/>
    <p:sldId id="263" r:id="rId17"/>
    <p:sldId id="318" r:id="rId18"/>
    <p:sldId id="264" r:id="rId19"/>
    <p:sldId id="265" r:id="rId20"/>
    <p:sldId id="266" r:id="rId21"/>
    <p:sldId id="267" r:id="rId22"/>
    <p:sldId id="331" r:id="rId23"/>
    <p:sldId id="268" r:id="rId24"/>
    <p:sldId id="269" r:id="rId25"/>
    <p:sldId id="270" r:id="rId26"/>
    <p:sldId id="271" r:id="rId27"/>
    <p:sldId id="273" r:id="rId28"/>
    <p:sldId id="272" r:id="rId29"/>
    <p:sldId id="275" r:id="rId30"/>
    <p:sldId id="276" r:id="rId31"/>
    <p:sldId id="277" r:id="rId32"/>
    <p:sldId id="274" r:id="rId33"/>
    <p:sldId id="278" r:id="rId34"/>
    <p:sldId id="279" r:id="rId35"/>
    <p:sldId id="330" r:id="rId36"/>
    <p:sldId id="319" r:id="rId37"/>
    <p:sldId id="280" r:id="rId38"/>
    <p:sldId id="281" r:id="rId39"/>
    <p:sldId id="320" r:id="rId40"/>
    <p:sldId id="282" r:id="rId41"/>
    <p:sldId id="283" r:id="rId42"/>
    <p:sldId id="329" r:id="rId43"/>
    <p:sldId id="321" r:id="rId44"/>
    <p:sldId id="284" r:id="rId45"/>
    <p:sldId id="285" r:id="rId46"/>
    <p:sldId id="286" r:id="rId47"/>
    <p:sldId id="287" r:id="rId48"/>
    <p:sldId id="289" r:id="rId49"/>
    <p:sldId id="291" r:id="rId50"/>
    <p:sldId id="292" r:id="rId51"/>
    <p:sldId id="323" r:id="rId52"/>
    <p:sldId id="293" r:id="rId53"/>
    <p:sldId id="294" r:id="rId54"/>
    <p:sldId id="334" r:id="rId55"/>
    <p:sldId id="295" r:id="rId56"/>
    <p:sldId id="296" r:id="rId57"/>
    <p:sldId id="297" r:id="rId58"/>
    <p:sldId id="322" r:id="rId59"/>
    <p:sldId id="336" r:id="rId60"/>
    <p:sldId id="335" r:id="rId61"/>
    <p:sldId id="299" r:id="rId62"/>
    <p:sldId id="300" r:id="rId63"/>
    <p:sldId id="310" r:id="rId64"/>
    <p:sldId id="311" r:id="rId65"/>
    <p:sldId id="312" r:id="rId66"/>
    <p:sldId id="313" r:id="rId67"/>
    <p:sldId id="314" r:id="rId68"/>
    <p:sldId id="324" r:id="rId69"/>
    <p:sldId id="315" r:id="rId70"/>
    <p:sldId id="328" r:id="rId71"/>
    <p:sldId id="316" r:id="rId72"/>
    <p:sldId id="325" r:id="rId73"/>
    <p:sldId id="317" r:id="rId74"/>
    <p:sldId id="327" r:id="rId75"/>
    <p:sldId id="326" r:id="rId76"/>
    <p:sldId id="301" r:id="rId77"/>
    <p:sldId id="302" r:id="rId78"/>
    <p:sldId id="303" r:id="rId7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67" autoAdjust="0"/>
    <p:restoredTop sz="94660"/>
  </p:normalViewPr>
  <p:slideViewPr>
    <p:cSldViewPr>
      <p:cViewPr varScale="1">
        <p:scale>
          <a:sx n="58" d="100"/>
          <a:sy n="58" d="100"/>
        </p:scale>
        <p:origin x="1520" y="-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21DCD-E5A1-02A0-A82C-8488168AD2C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01787643-01D5-AD3E-5F52-C03F8DDBB0F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C785A17-064A-15A4-9E24-86CEBDE2240D}"/>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EAFBC728-D77E-E582-9A3E-246BCFE8F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8F3637-4246-9551-1304-DA0A70CAD854}"/>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50313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826D9-229B-A3D6-7D1A-FB85E13528C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2758C31-C7A5-CFB1-BAA9-FC2B0DC888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5E5FFB-B2A3-8479-FED8-06B414EB64FE}"/>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5B4DE805-1CE4-805B-C921-A1033C89CB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52E165-131C-219B-6E2A-528F78955EA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10509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7FAF0-5D81-BE6E-7B2C-3CD0C72DAEB3}"/>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7A943BC-4CA6-E605-F8E7-B7348046FFF6}"/>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B3A66B-D51C-9274-58AE-37097DB67888}"/>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79B5B275-0ABF-0BCF-5D15-CF05B4D4E9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6A7CA2-F0A1-6FC1-2621-C4C5F7FA9BC4}"/>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40787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E4AE8-C6D1-07D4-B16E-C670AF7AAFD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0182F34-DEAA-EC1C-4919-073AD7764A12}"/>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C6C80DA-0CA7-1318-A890-4137D60EC2E9}"/>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37F87D1-A3D7-F665-FBCD-E474A7FBBE7A}"/>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6" name="Footer Placeholder 5">
            <a:extLst>
              <a:ext uri="{FF2B5EF4-FFF2-40B4-BE49-F238E27FC236}">
                <a16:creationId xmlns:a16="http://schemas.microsoft.com/office/drawing/2014/main" id="{79AF9105-8047-67A6-4B9B-0EC7699C63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28AA7E-B00F-0F54-89A1-2EB7068271D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58544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1F306-0AA2-146E-8F8C-213021083990}"/>
              </a:ext>
            </a:extLst>
          </p:cNvPr>
          <p:cNvSpPr>
            <a:spLocks noGrp="1"/>
          </p:cNvSpPr>
          <p:nvPr>
            <p:ph type="title"/>
          </p:nvPr>
        </p:nvSpPr>
        <p:spPr>
          <a:xfrm>
            <a:off x="629841" y="365126"/>
            <a:ext cx="78867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D2A9821-7E67-B4D2-B04F-8D7C7F291D6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A3DDEFA-81CA-1D98-81D0-552B0C3B44F0}"/>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15AB174-E698-E96B-C924-6B762B6F0A6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4E94FEC-BCA8-8323-E28B-0B08F9D3665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D2CF713-0E7D-0C5C-AD0B-7564C2E56D11}"/>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8" name="Footer Placeholder 7">
            <a:extLst>
              <a:ext uri="{FF2B5EF4-FFF2-40B4-BE49-F238E27FC236}">
                <a16:creationId xmlns:a16="http://schemas.microsoft.com/office/drawing/2014/main" id="{3B8D0473-BEF4-F87E-EA52-F1D3256223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535215-9CFF-83D1-604E-5FE962DBAC54}"/>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9513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68F1F-E583-B46A-691C-140225DD70E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4D85217-C152-B25E-784F-FF84E39E7E6D}"/>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4" name="Footer Placeholder 3">
            <a:extLst>
              <a:ext uri="{FF2B5EF4-FFF2-40B4-BE49-F238E27FC236}">
                <a16:creationId xmlns:a16="http://schemas.microsoft.com/office/drawing/2014/main" id="{F0FC252D-5635-C149-C08A-DF3AE233FB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73B28E-B5A5-C64A-48A5-A023AE82D4B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8795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B4FBED-E15F-7B83-19E8-C9469F46AC6A}"/>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3" name="Footer Placeholder 2">
            <a:extLst>
              <a:ext uri="{FF2B5EF4-FFF2-40B4-BE49-F238E27FC236}">
                <a16:creationId xmlns:a16="http://schemas.microsoft.com/office/drawing/2014/main" id="{C8CFFC0A-4BF7-4510-41A4-E30C40599C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659021-B401-C5C7-017D-B0C59253A897}"/>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77614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970C2-BC26-5AFF-A9DB-2D9265C892D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108F976-83D6-2076-B6EA-79F7AAC3BD5E}"/>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37AA0D6-FDEC-2602-0101-885EEBFB08D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170D04D-D9AB-89CC-5544-C6F8383092E4}"/>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6" name="Footer Placeholder 5">
            <a:extLst>
              <a:ext uri="{FF2B5EF4-FFF2-40B4-BE49-F238E27FC236}">
                <a16:creationId xmlns:a16="http://schemas.microsoft.com/office/drawing/2014/main" id="{B2D33191-D9C3-024E-B65A-A892649A7F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78DC50-E376-B9DA-E505-9410BBAAA82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46244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22462-0691-B34C-43CA-0BC9F1CBED2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AF5A5E8-49E8-5BB2-6AE9-9C1D2435D5A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a:extLst>
              <a:ext uri="{FF2B5EF4-FFF2-40B4-BE49-F238E27FC236}">
                <a16:creationId xmlns:a16="http://schemas.microsoft.com/office/drawing/2014/main" id="{676A0F1E-3CEC-9D6F-0D8E-46823957D77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4EB49C0-9F84-E6D1-F097-E1F51F2DEFF8}"/>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6" name="Footer Placeholder 5">
            <a:extLst>
              <a:ext uri="{FF2B5EF4-FFF2-40B4-BE49-F238E27FC236}">
                <a16:creationId xmlns:a16="http://schemas.microsoft.com/office/drawing/2014/main" id="{EE3FCFBB-5EBA-61DF-388E-0F98D33927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CB22B2-C3AC-352D-76D9-A89E206A8737}"/>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38647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29700-D030-2E4B-D88E-E87B043A64C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9F484A1-553F-16D1-9D3F-1C52A82C76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0B7DEE5-39A6-A57B-D770-83EDAE8C3C66}"/>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D3AA8AE2-263D-D091-5B82-B62A908851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CC5921-B372-A290-98E1-08951D207F8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64986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B0A56-9AF2-2297-0A82-F83E08E6EEB2}"/>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60AED3D-B5DA-B9BB-699D-ACE1F110D3A0}"/>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A2CE48-6DC8-C4DB-BF5E-A981FD4D9311}"/>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6D0B5E5A-6441-7DED-A689-0D23F5B7A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1D41DA-A4C2-8518-F491-FB00DA2ADAB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46113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89E3F2-40CE-2C58-9BCC-E16091099D4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8F4D99-1045-EA8A-C84B-7176D92DBD6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C2097E-7880-6B8E-9368-E0DD78C9A40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00F5A521-E492-6579-4001-B4CF6D40597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CB6F1D-6830-A839-8F8C-AB46192944A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1674569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52655" y="2264307"/>
            <a:ext cx="4501582" cy="1495425"/>
          </a:xfrm>
        </p:spPr>
        <p:txBody>
          <a:bodyPr>
            <a:normAutofit/>
          </a:bodyPr>
          <a:lstStyle/>
          <a:p>
            <a:r>
              <a:rPr lang="en-IN" sz="3500" dirty="0"/>
              <a:t>Ultrasound of gall bladder</a:t>
            </a:r>
          </a:p>
        </p:txBody>
      </p:sp>
      <p:sp>
        <p:nvSpPr>
          <p:cNvPr id="3" name="Content Placeholder 2"/>
          <p:cNvSpPr>
            <a:spLocks noGrp="1"/>
          </p:cNvSpPr>
          <p:nvPr>
            <p:ph idx="1"/>
          </p:nvPr>
        </p:nvSpPr>
        <p:spPr>
          <a:xfrm>
            <a:off x="762754" y="4296208"/>
            <a:ext cx="4501582" cy="538154"/>
          </a:xfrm>
        </p:spPr>
        <p:txBody>
          <a:bodyPr>
            <a:normAutofit fontScale="70000" lnSpcReduction="20000"/>
          </a:bodyPr>
          <a:lstStyle/>
          <a:p>
            <a:pPr marL="0" indent="0">
              <a:buNone/>
            </a:pPr>
            <a:r>
              <a:rPr lang="en-IN" sz="2200" dirty="0"/>
              <a:t>By </a:t>
            </a:r>
          </a:p>
          <a:p>
            <a:pPr marL="0" indent="0">
              <a:buNone/>
            </a:pPr>
            <a:r>
              <a:rPr lang="en-IN" sz="2200" dirty="0"/>
              <a:t>Faculty of MIATA</a:t>
            </a:r>
          </a:p>
          <a:p>
            <a:endParaRPr lang="en-IN" sz="1700" dirty="0"/>
          </a:p>
        </p:txBody>
      </p:sp>
      <p:pic>
        <p:nvPicPr>
          <p:cNvPr id="5" name="Picture 4">
            <a:extLst>
              <a:ext uri="{FF2B5EF4-FFF2-40B4-BE49-F238E27FC236}">
                <a16:creationId xmlns:a16="http://schemas.microsoft.com/office/drawing/2014/main" id="{4E075EF1-08FF-DF4E-74D5-7015F3D13410}"/>
              </a:ext>
            </a:extLst>
          </p:cNvPr>
          <p:cNvPicPr>
            <a:picLocks noChangeAspect="1"/>
          </p:cNvPicPr>
          <p:nvPr/>
        </p:nvPicPr>
        <p:blipFill>
          <a:blip r:embed="rId2" cstate="print">
            <a:extLst>
              <a:ext uri="{28A0092B-C50C-407E-A947-70E740481C1C}">
                <a14:useLocalDpi xmlns:a14="http://schemas.microsoft.com/office/drawing/2010/main" val="0"/>
              </a:ext>
            </a:extLst>
          </a:blip>
          <a:srcRect t="15292" r="-1" b="-1"/>
          <a:stretch>
            <a:fillRect/>
          </a:stretch>
        </p:blipFill>
        <p:spPr>
          <a:xfrm>
            <a:off x="5232203" y="483132"/>
            <a:ext cx="3628311" cy="6553200"/>
          </a:xfrm>
          <a:prstGeom prst="rect">
            <a:avLst/>
          </a:prstGeom>
          <a:effectLst/>
        </p:spPr>
      </p:pic>
    </p:spTree>
    <p:extLst>
      <p:ext uri="{BB962C8B-B14F-4D97-AF65-F5344CB8AC3E}">
        <p14:creationId xmlns:p14="http://schemas.microsoft.com/office/powerpoint/2010/main" val="3549939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7886700" cy="1325563"/>
          </a:xfrm>
        </p:spPr>
        <p:txBody>
          <a:bodyPr/>
          <a:lstStyle/>
          <a:p>
            <a:r>
              <a:rPr lang="en-IN" dirty="0"/>
              <a:t>ANATOMY AND PHYSIOLOGY</a:t>
            </a:r>
            <a:br>
              <a:rPr lang="en-IN" dirty="0"/>
            </a:br>
            <a:r>
              <a:rPr lang="en-IN" dirty="0"/>
              <a:t>OF THE GALLBLADDER</a:t>
            </a:r>
          </a:p>
        </p:txBody>
      </p:sp>
      <p:sp>
        <p:nvSpPr>
          <p:cNvPr id="3" name="Content Placeholder 2"/>
          <p:cNvSpPr>
            <a:spLocks noGrp="1"/>
          </p:cNvSpPr>
          <p:nvPr>
            <p:ph idx="1"/>
          </p:nvPr>
        </p:nvSpPr>
        <p:spPr>
          <a:xfrm>
            <a:off x="457200" y="2971800"/>
            <a:ext cx="7886700" cy="4351338"/>
          </a:xfrm>
        </p:spPr>
        <p:txBody>
          <a:bodyPr>
            <a:normAutofit/>
          </a:bodyPr>
          <a:lstStyle/>
          <a:p>
            <a:r>
              <a:rPr lang="en-IN" sz="1800" dirty="0"/>
              <a:t>The gallbladder, which is located posterior to the right lobe of the liver within the gallbladder fossa, is considered an intra-peritoneal organ. </a:t>
            </a:r>
          </a:p>
          <a:p>
            <a:r>
              <a:rPr lang="en-IN" sz="1800" dirty="0"/>
              <a:t>Although the location of the gallbladder relies on the position of the patient, a useful landmark to locate the gallbladder fossa is the main lobar fissure. </a:t>
            </a:r>
          </a:p>
          <a:p>
            <a:r>
              <a:rPr lang="en-IN" sz="1800" dirty="0"/>
              <a:t>This pear-shaped sac is used to store and concentrate bile. </a:t>
            </a:r>
          </a:p>
          <a:p>
            <a:r>
              <a:rPr lang="en-IN" sz="1800" dirty="0"/>
              <a:t>It has three distinct layers within its walls. </a:t>
            </a:r>
          </a:p>
          <a:p>
            <a:r>
              <a:rPr lang="en-IN" sz="1800" dirty="0"/>
              <a:t>The mucosal layer is the inner most layer. </a:t>
            </a:r>
          </a:p>
          <a:p>
            <a:r>
              <a:rPr lang="en-IN" sz="1800" dirty="0"/>
              <a:t>It consists of multiple folds and </a:t>
            </a:r>
            <a:r>
              <a:rPr lang="en-IN" sz="1800" dirty="0" err="1"/>
              <a:t>rugae</a:t>
            </a:r>
            <a:r>
              <a:rPr lang="en-IN" sz="1800" dirty="0"/>
              <a:t>. </a:t>
            </a:r>
          </a:p>
          <a:p>
            <a:r>
              <a:rPr lang="en-IN" sz="1800" dirty="0"/>
              <a:t>The middle layer of the wall is the </a:t>
            </a:r>
            <a:r>
              <a:rPr lang="en-IN" sz="1800" dirty="0" err="1"/>
              <a:t>fibromuscular</a:t>
            </a:r>
            <a:r>
              <a:rPr lang="en-IN" sz="1800" dirty="0"/>
              <a:t> layer, whereas the outer is the </a:t>
            </a:r>
            <a:r>
              <a:rPr lang="en-IN" sz="1800" dirty="0" err="1"/>
              <a:t>serosal</a:t>
            </a:r>
            <a:r>
              <a:rPr lang="en-IN" sz="1800" dirty="0"/>
              <a:t> layer.</a:t>
            </a:r>
          </a:p>
        </p:txBody>
      </p:sp>
      <p:pic>
        <p:nvPicPr>
          <p:cNvPr id="5" name="Picture 4">
            <a:extLst>
              <a:ext uri="{FF2B5EF4-FFF2-40B4-BE49-F238E27FC236}">
                <a16:creationId xmlns:a16="http://schemas.microsoft.com/office/drawing/2014/main" id="{955CBA69-39F2-69BC-AB71-0C37D38D83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222262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The gallbladder has a neck, body, and fundus. </a:t>
            </a:r>
          </a:p>
          <a:p>
            <a:r>
              <a:rPr lang="en-IN" dirty="0"/>
              <a:t>The neck is contiguous with the cystic duct, which connects the gallbladder to the rest of the biliary system at the level of the common hepatic duct. </a:t>
            </a:r>
          </a:p>
          <a:p>
            <a:r>
              <a:rPr lang="en-IN" dirty="0"/>
              <a:t>The portion of the biliary tree that lies distal to the union of the cystic duct with the hepatic duct is the common bile duct. </a:t>
            </a:r>
          </a:p>
          <a:p>
            <a:r>
              <a:rPr lang="en-IN" dirty="0"/>
              <a:t>The fundus is the most dependent portion of the gallbladder and therefore is a common location for gallstones to collect</a:t>
            </a:r>
          </a:p>
        </p:txBody>
      </p:sp>
      <p:pic>
        <p:nvPicPr>
          <p:cNvPr id="4" name="Picture 3">
            <a:extLst>
              <a:ext uri="{FF2B5EF4-FFF2-40B4-BE49-F238E27FC236}">
                <a16:creationId xmlns:a16="http://schemas.microsoft.com/office/drawing/2014/main" id="{35254965-4401-31AC-71CE-9694C8B4C2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696885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Blood supply to the gallbladder is via the cystic artery, a branch of the right hepatic artery. </a:t>
            </a:r>
          </a:p>
          <a:p>
            <a:r>
              <a:rPr lang="en-IN" dirty="0"/>
              <a:t>The gallbladder contracts as a result of cholecystokinin, a hormone released by the duodenum. </a:t>
            </a:r>
          </a:p>
          <a:p>
            <a:r>
              <a:rPr lang="en-IN" dirty="0"/>
              <a:t>As </a:t>
            </a:r>
            <a:r>
              <a:rPr lang="en-IN" dirty="0" err="1"/>
              <a:t>chyme</a:t>
            </a:r>
            <a:r>
              <a:rPr lang="en-IN" dirty="0"/>
              <a:t> enters the duodenum, cholecystokinin is released. </a:t>
            </a:r>
          </a:p>
          <a:p>
            <a:r>
              <a:rPr lang="en-IN" dirty="0"/>
              <a:t>Bile then flows from the gallbladder through the cystic duct and into the common bile duct. </a:t>
            </a:r>
          </a:p>
          <a:p>
            <a:r>
              <a:rPr lang="en-IN" dirty="0"/>
              <a:t>Although the most common variant in gallbladder shape is the Phrygian cap, other variants may be noted (Table 3-1).</a:t>
            </a:r>
          </a:p>
          <a:p>
            <a:r>
              <a:rPr lang="en-IN" dirty="0"/>
              <a:t>Other positional and developmental anomalies of the gallbladder include duplication, floating gallbladder, agenesis, and hypoplasia.</a:t>
            </a:r>
          </a:p>
        </p:txBody>
      </p:sp>
      <p:pic>
        <p:nvPicPr>
          <p:cNvPr id="4" name="Picture 3">
            <a:extLst>
              <a:ext uri="{FF2B5EF4-FFF2-40B4-BE49-F238E27FC236}">
                <a16:creationId xmlns:a16="http://schemas.microsoft.com/office/drawing/2014/main" id="{5B700C04-8506-94D6-567C-EE3DDDBB71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604894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Gross Anatomy</a:t>
            </a:r>
            <a:br>
              <a:rPr lang="en-IN" dirty="0"/>
            </a:br>
            <a:endParaRPr lang="en-IN" dirty="0"/>
          </a:p>
        </p:txBody>
      </p:sp>
      <p:sp>
        <p:nvSpPr>
          <p:cNvPr id="3" name="Content Placeholder 2"/>
          <p:cNvSpPr>
            <a:spLocks noGrp="1"/>
          </p:cNvSpPr>
          <p:nvPr>
            <p:ph idx="1"/>
          </p:nvPr>
        </p:nvSpPr>
        <p:spPr/>
        <p:txBody>
          <a:bodyPr>
            <a:normAutofit/>
          </a:bodyPr>
          <a:lstStyle/>
          <a:p>
            <a:r>
              <a:rPr lang="en-IN" dirty="0"/>
              <a:t>The gallbladder is mostly </a:t>
            </a:r>
            <a:r>
              <a:rPr lang="en-IN" dirty="0" err="1"/>
              <a:t>intraperitoneal</a:t>
            </a:r>
            <a:r>
              <a:rPr lang="en-IN" dirty="0"/>
              <a:t> and is located in the gallbladder fossa, which is on the visceral surface of the liver. </a:t>
            </a:r>
          </a:p>
          <a:p>
            <a:r>
              <a:rPr lang="en-IN" dirty="0"/>
              <a:t>It lies between the right and left lobes of the liver and posterior and caudal to the main lobar fissure. </a:t>
            </a:r>
          </a:p>
          <a:p>
            <a:r>
              <a:rPr lang="en-IN" dirty="0"/>
              <a:t>The gallbladder is a pear-shaped structure with a thin wall that is &lt;3 mm.</a:t>
            </a:r>
          </a:p>
          <a:p>
            <a:r>
              <a:rPr lang="en-IN" dirty="0"/>
              <a:t> It is approximately 8 cm in length, with a transverse diameter &lt;5 cm. </a:t>
            </a:r>
          </a:p>
          <a:p>
            <a:r>
              <a:rPr lang="en-IN" dirty="0"/>
              <a:t>The gallbladder is divided into three main segments: fundus, body, and neck. The fundus is the most anterior segment, while the neck has a fixed anatomic relationship to the right portal vein and main lobar fissure.</a:t>
            </a:r>
          </a:p>
          <a:p>
            <a:pPr marL="0" indent="0">
              <a:buNone/>
            </a:pPr>
            <a:endParaRPr lang="en-IN" dirty="0"/>
          </a:p>
        </p:txBody>
      </p:sp>
      <p:pic>
        <p:nvPicPr>
          <p:cNvPr id="4" name="Picture 3">
            <a:extLst>
              <a:ext uri="{FF2B5EF4-FFF2-40B4-BE49-F238E27FC236}">
                <a16:creationId xmlns:a16="http://schemas.microsoft.com/office/drawing/2014/main" id="{9239B88F-1C0F-CD1C-4796-0125DDB0DC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422733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Gross Anatomy</a:t>
            </a:r>
          </a:p>
        </p:txBody>
      </p:sp>
      <p:sp>
        <p:nvSpPr>
          <p:cNvPr id="3" name="Content Placeholder 2"/>
          <p:cNvSpPr>
            <a:spLocks noGrp="1"/>
          </p:cNvSpPr>
          <p:nvPr>
            <p:ph idx="1"/>
          </p:nvPr>
        </p:nvSpPr>
        <p:spPr/>
        <p:txBody>
          <a:bodyPr>
            <a:normAutofit/>
          </a:bodyPr>
          <a:lstStyle/>
          <a:p>
            <a:r>
              <a:rPr lang="en-IN" dirty="0"/>
              <a:t>The neck tapers to form the cystic duct.</a:t>
            </a:r>
          </a:p>
          <a:p>
            <a:r>
              <a:rPr lang="en-IN" dirty="0"/>
              <a:t> The spiral valves of Heister are located in the cystic duct, and stones may collect here.</a:t>
            </a:r>
          </a:p>
          <a:p>
            <a:r>
              <a:rPr lang="en-IN" dirty="0"/>
              <a:t>The right and left hepatic ducts join to form the common hepatic duct whose function is to transport bile to the gallbladder.</a:t>
            </a:r>
          </a:p>
          <a:p>
            <a:r>
              <a:rPr lang="en-IN" dirty="0"/>
              <a:t> Bile enters and exits the gallbladder via the cystic duct. </a:t>
            </a:r>
          </a:p>
          <a:p>
            <a:r>
              <a:rPr lang="en-IN" dirty="0"/>
              <a:t>The cystic</a:t>
            </a:r>
          </a:p>
          <a:p>
            <a:r>
              <a:rPr lang="en-IN" dirty="0"/>
              <a:t>duct unites with the common bile duct to transport concentrated bile to the second portion of the duodenum.</a:t>
            </a:r>
          </a:p>
          <a:p>
            <a:endParaRPr lang="en-IN" dirty="0"/>
          </a:p>
        </p:txBody>
      </p:sp>
      <p:pic>
        <p:nvPicPr>
          <p:cNvPr id="4" name="Picture 3">
            <a:extLst>
              <a:ext uri="{FF2B5EF4-FFF2-40B4-BE49-F238E27FC236}">
                <a16:creationId xmlns:a16="http://schemas.microsoft.com/office/drawing/2014/main" id="{C7D40D98-E11B-48A4-5288-8C569548B3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585534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Gallbladder Variants and Anomalies</a:t>
            </a:r>
            <a:br>
              <a:rPr lang="en-IN" dirty="0"/>
            </a:br>
            <a:endParaRPr lang="en-IN" dirty="0"/>
          </a:p>
        </p:txBody>
      </p:sp>
      <p:sp>
        <p:nvSpPr>
          <p:cNvPr id="3" name="Content Placeholder 2"/>
          <p:cNvSpPr>
            <a:spLocks noGrp="1"/>
          </p:cNvSpPr>
          <p:nvPr>
            <p:ph idx="1"/>
          </p:nvPr>
        </p:nvSpPr>
        <p:spPr/>
        <p:txBody>
          <a:bodyPr>
            <a:normAutofit/>
          </a:bodyPr>
          <a:lstStyle/>
          <a:p>
            <a:r>
              <a:rPr lang="en-IN" dirty="0" err="1"/>
              <a:t>Junctional</a:t>
            </a:r>
            <a:r>
              <a:rPr lang="en-IN" dirty="0"/>
              <a:t> Fold. Is the most common variant, which is a fold or kinking located on the posterior gallbladder wall between the body and neck.</a:t>
            </a:r>
          </a:p>
          <a:p>
            <a:r>
              <a:rPr lang="en-IN" dirty="0"/>
              <a:t>Phrygian Cap. A fold located in the fundal portion of the gallbladder (Fig. 4–5).</a:t>
            </a:r>
          </a:p>
          <a:p>
            <a:r>
              <a:rPr lang="en-IN" dirty="0"/>
              <a:t>Hartmann’s Pouch. A small sac located between the </a:t>
            </a:r>
            <a:r>
              <a:rPr lang="en-IN" dirty="0" err="1"/>
              <a:t>junctional</a:t>
            </a:r>
            <a:r>
              <a:rPr lang="en-IN" dirty="0"/>
              <a:t> fold and the neck of the gallbladder.</a:t>
            </a:r>
          </a:p>
          <a:p>
            <a:r>
              <a:rPr lang="en-IN" dirty="0"/>
              <a:t>It is an area where stones may collect (Fig. 4–5)</a:t>
            </a:r>
          </a:p>
          <a:p>
            <a:r>
              <a:rPr lang="en-IN" dirty="0" err="1"/>
              <a:t>Septation</a:t>
            </a:r>
            <a:r>
              <a:rPr lang="en-IN" dirty="0"/>
              <a:t>. A thin wall or partition into the lumen of the gallbladder. This is seen as a thin linear </a:t>
            </a:r>
            <a:r>
              <a:rPr lang="en-IN" dirty="0" err="1"/>
              <a:t>hyperechoic</a:t>
            </a:r>
            <a:r>
              <a:rPr lang="en-IN" dirty="0"/>
              <a:t> structure within the gallbladder.</a:t>
            </a:r>
          </a:p>
          <a:p>
            <a:r>
              <a:rPr lang="en-IN" dirty="0"/>
              <a:t>Congenital anomalies are rare; the gallbladder can have an ectopic location and be found intrahepatic.</a:t>
            </a:r>
          </a:p>
        </p:txBody>
      </p:sp>
      <p:pic>
        <p:nvPicPr>
          <p:cNvPr id="4" name="Picture 3">
            <a:extLst>
              <a:ext uri="{FF2B5EF4-FFF2-40B4-BE49-F238E27FC236}">
                <a16:creationId xmlns:a16="http://schemas.microsoft.com/office/drawing/2014/main" id="{6494C65F-4CEF-ACDD-1796-C00C8BF87F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701777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Septated</a:t>
            </a:r>
            <a:r>
              <a:rPr lang="en-IN" dirty="0"/>
              <a:t> GB</a:t>
            </a:r>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81200"/>
            <a:ext cx="43688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0197" y="3619501"/>
            <a:ext cx="4253803" cy="3190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1BA6C72D-B84E-0425-9A2F-4DC52136705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52986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9800" y="645376"/>
            <a:ext cx="4508467" cy="5374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51163928-3A86-EC18-0220-208D7632AC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761352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Function</a:t>
            </a:r>
          </a:p>
        </p:txBody>
      </p:sp>
      <p:sp>
        <p:nvSpPr>
          <p:cNvPr id="3" name="Content Placeholder 2"/>
          <p:cNvSpPr>
            <a:spLocks noGrp="1"/>
          </p:cNvSpPr>
          <p:nvPr>
            <p:ph idx="1"/>
          </p:nvPr>
        </p:nvSpPr>
        <p:spPr/>
        <p:txBody>
          <a:bodyPr>
            <a:normAutofit/>
          </a:bodyPr>
          <a:lstStyle/>
          <a:p>
            <a:r>
              <a:rPr lang="en-IN" dirty="0"/>
              <a:t>The three main functions of the gallbladder are to concentrate bile, store the concentrated bile, and transport the bile to the duodenum. </a:t>
            </a:r>
          </a:p>
          <a:p>
            <a:r>
              <a:rPr lang="en-IN" dirty="0"/>
              <a:t>The release of the hormone cholecystokinin is stimulated when food enters into the stomach, especially fatty foods and dairy products. </a:t>
            </a:r>
          </a:p>
          <a:p>
            <a:r>
              <a:rPr lang="en-IN" dirty="0"/>
              <a:t>Cholecystokinin stimulates the gallbladder to contract and the sphincter of </a:t>
            </a:r>
            <a:r>
              <a:rPr lang="en-IN" dirty="0" err="1"/>
              <a:t>Oddi</a:t>
            </a:r>
            <a:r>
              <a:rPr lang="en-IN" dirty="0"/>
              <a:t> to relax and open. </a:t>
            </a:r>
          </a:p>
          <a:p>
            <a:r>
              <a:rPr lang="en-IN" dirty="0"/>
              <a:t>The </a:t>
            </a:r>
            <a:r>
              <a:rPr lang="en-IN" dirty="0" err="1"/>
              <a:t>intraductal</a:t>
            </a:r>
            <a:r>
              <a:rPr lang="en-IN" dirty="0"/>
              <a:t> pressure decreases with the contraction of the gallbladder and the opening of the sphincter of </a:t>
            </a:r>
            <a:r>
              <a:rPr lang="en-IN" dirty="0" err="1"/>
              <a:t>Oddi</a:t>
            </a:r>
            <a:r>
              <a:rPr lang="en-IN" dirty="0"/>
              <a:t>. </a:t>
            </a:r>
          </a:p>
          <a:p>
            <a:r>
              <a:rPr lang="en-IN" dirty="0"/>
              <a:t>The bile flows to the small intestine, which aids in the digestion of food by breaking down fatty foods and dairy products.</a:t>
            </a:r>
          </a:p>
        </p:txBody>
      </p:sp>
      <p:pic>
        <p:nvPicPr>
          <p:cNvPr id="4" name="Picture 3">
            <a:extLst>
              <a:ext uri="{FF2B5EF4-FFF2-40B4-BE49-F238E27FC236}">
                <a16:creationId xmlns:a16="http://schemas.microsoft.com/office/drawing/2014/main" id="{89E9D016-F359-2507-8727-13B9C9A451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116398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63600" y="2559844"/>
            <a:ext cx="7416800" cy="288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F7EFB4F0-5920-D5A3-F99F-C51248BBF0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687543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Laboratory Values of Biliary Tract Disease</a:t>
            </a:r>
          </a:p>
        </p:txBody>
      </p:sp>
      <p:sp>
        <p:nvSpPr>
          <p:cNvPr id="3" name="Content Placeholder 2"/>
          <p:cNvSpPr>
            <a:spLocks noGrp="1"/>
          </p:cNvSpPr>
          <p:nvPr>
            <p:ph idx="1"/>
          </p:nvPr>
        </p:nvSpPr>
        <p:spPr/>
        <p:txBody>
          <a:bodyPr>
            <a:normAutofit/>
          </a:bodyPr>
          <a:lstStyle/>
          <a:p>
            <a:r>
              <a:rPr lang="en-IN" dirty="0"/>
              <a:t>White Blood Count (WBC). Increases in cases of infection, acute </a:t>
            </a:r>
            <a:r>
              <a:rPr lang="en-IN" dirty="0" err="1"/>
              <a:t>cholecystitis</a:t>
            </a:r>
            <a:r>
              <a:rPr lang="en-IN" dirty="0"/>
              <a:t>, chronic </a:t>
            </a:r>
            <a:r>
              <a:rPr lang="en-IN" dirty="0" err="1"/>
              <a:t>cholecystitis</a:t>
            </a:r>
            <a:r>
              <a:rPr lang="en-IN" dirty="0"/>
              <a:t>, cholangitis</a:t>
            </a:r>
          </a:p>
          <a:p>
            <a:r>
              <a:rPr lang="en-IN" dirty="0"/>
              <a:t>Serum Bilirubin. Increases in cases where the biliary system becomes obstructed, gallbladder carcinoma</a:t>
            </a:r>
          </a:p>
          <a:p>
            <a:r>
              <a:rPr lang="en-IN" dirty="0"/>
              <a:t>Abnormal Liver Function Tests</a:t>
            </a:r>
          </a:p>
          <a:p>
            <a:r>
              <a:rPr lang="en-IN" dirty="0"/>
              <a:t>Serum Alkaline Phosphatase (ALP). Increases in cases of </a:t>
            </a:r>
            <a:r>
              <a:rPr lang="en-IN" dirty="0" err="1"/>
              <a:t>posthepatic</a:t>
            </a:r>
            <a:r>
              <a:rPr lang="en-IN" dirty="0"/>
              <a:t> jaundice</a:t>
            </a:r>
          </a:p>
        </p:txBody>
      </p:sp>
      <p:pic>
        <p:nvPicPr>
          <p:cNvPr id="4" name="Picture 3">
            <a:extLst>
              <a:ext uri="{FF2B5EF4-FFF2-40B4-BE49-F238E27FC236}">
                <a16:creationId xmlns:a16="http://schemas.microsoft.com/office/drawing/2014/main" id="{95C54065-6078-427B-EC61-047F9D5B1E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867002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err="1"/>
              <a:t>Prothrombin</a:t>
            </a:r>
            <a:r>
              <a:rPr lang="en-IN" dirty="0"/>
              <a:t> Time (PT). The clotting time is longer in patients with acute </a:t>
            </a:r>
            <a:r>
              <a:rPr lang="en-IN" dirty="0" err="1"/>
              <a:t>cholecystitis</a:t>
            </a:r>
            <a:r>
              <a:rPr lang="en-IN" dirty="0"/>
              <a:t>, carcinoma of the gallbladder, and prolonged common bile duct obstruction.</a:t>
            </a:r>
          </a:p>
          <a:p>
            <a:r>
              <a:rPr lang="en-IN" dirty="0"/>
              <a:t>Aspartate aminotransferase (AST) and alanine aminotransferase (AST) are abnormal in cases of </a:t>
            </a:r>
            <a:r>
              <a:rPr lang="en-IN" dirty="0" err="1"/>
              <a:t>cholecystitis</a:t>
            </a:r>
            <a:r>
              <a:rPr lang="en-IN" dirty="0"/>
              <a:t>, </a:t>
            </a:r>
            <a:r>
              <a:rPr lang="en-IN" dirty="0" err="1"/>
              <a:t>choledocholithiasis</a:t>
            </a:r>
            <a:r>
              <a:rPr lang="en-IN" dirty="0"/>
              <a:t>, and any injury to the bile ducts</a:t>
            </a:r>
          </a:p>
          <a:p>
            <a:endParaRPr lang="en-IN" dirty="0"/>
          </a:p>
        </p:txBody>
      </p:sp>
      <p:pic>
        <p:nvPicPr>
          <p:cNvPr id="4" name="Picture 3">
            <a:extLst>
              <a:ext uri="{FF2B5EF4-FFF2-40B4-BE49-F238E27FC236}">
                <a16:creationId xmlns:a16="http://schemas.microsoft.com/office/drawing/2014/main" id="{9FF6000A-0BDD-04B5-5568-FD8C894E41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927912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SONOGRAPHY OF THE GALLBLADDER</a:t>
            </a:r>
          </a:p>
        </p:txBody>
      </p:sp>
      <p:sp>
        <p:nvSpPr>
          <p:cNvPr id="3" name="Content Placeholder 2"/>
          <p:cNvSpPr>
            <a:spLocks noGrp="1"/>
          </p:cNvSpPr>
          <p:nvPr>
            <p:ph idx="1"/>
          </p:nvPr>
        </p:nvSpPr>
        <p:spPr/>
        <p:txBody>
          <a:bodyPr>
            <a:normAutofit/>
          </a:bodyPr>
          <a:lstStyle/>
          <a:p>
            <a:r>
              <a:rPr lang="en-IN" dirty="0"/>
              <a:t>A gallbladder sonogram should be performed after the patient has had nothing to eat for at least 4 hours, although a period of 8 hours is optimal.</a:t>
            </a:r>
          </a:p>
          <a:p>
            <a:r>
              <a:rPr lang="en-IN" dirty="0"/>
              <a:t>The gallbladder should be evaluated in the supine, left lateral decubitus, prone, upright, and any other position needed to demonstrate the mobility, or lack of mobility, of any apparent intraluminal objects. </a:t>
            </a:r>
          </a:p>
          <a:p>
            <a:r>
              <a:rPr lang="en-IN" dirty="0"/>
              <a:t>The gallbladder neck and fundus should be examined closely, as these locations are common sites for gallstones to accumulate. </a:t>
            </a:r>
          </a:p>
        </p:txBody>
      </p:sp>
      <p:pic>
        <p:nvPicPr>
          <p:cNvPr id="4" name="Picture 3">
            <a:extLst>
              <a:ext uri="{FF2B5EF4-FFF2-40B4-BE49-F238E27FC236}">
                <a16:creationId xmlns:a16="http://schemas.microsoft.com/office/drawing/2014/main" id="{B67EBCE7-49B6-C538-1C74-7C3AE8836D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952177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Patients who have had a recent cholecystectomy may have some residual fluid located within the gallbladder fossa. </a:t>
            </a:r>
          </a:p>
          <a:p>
            <a:r>
              <a:rPr lang="en-IN" dirty="0"/>
              <a:t>Right upper quadrant </a:t>
            </a:r>
            <a:r>
              <a:rPr lang="en-IN" dirty="0" err="1"/>
              <a:t>sonography</a:t>
            </a:r>
            <a:r>
              <a:rPr lang="en-IN" dirty="0"/>
              <a:t> may be needed to further assess these patients for residual </a:t>
            </a:r>
            <a:r>
              <a:rPr lang="en-IN" dirty="0" err="1"/>
              <a:t>choledocholithiasis</a:t>
            </a:r>
            <a:r>
              <a:rPr lang="en-IN" dirty="0"/>
              <a:t> or postoperative complications.</a:t>
            </a:r>
          </a:p>
          <a:p>
            <a:endParaRPr lang="en-IN" dirty="0"/>
          </a:p>
        </p:txBody>
      </p:sp>
      <p:pic>
        <p:nvPicPr>
          <p:cNvPr id="4" name="Picture 3">
            <a:extLst>
              <a:ext uri="{FF2B5EF4-FFF2-40B4-BE49-F238E27FC236}">
                <a16:creationId xmlns:a16="http://schemas.microsoft.com/office/drawing/2014/main" id="{D18FFDEC-3354-33F7-D364-51E97C9071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920190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The normal gallbladder appears </a:t>
            </a:r>
            <a:r>
              <a:rPr lang="en-IN" dirty="0" err="1"/>
              <a:t>sonographically</a:t>
            </a:r>
            <a:r>
              <a:rPr lang="en-IN" dirty="0"/>
              <a:t> as an anechoic, pear-shaped structure. </a:t>
            </a:r>
          </a:p>
          <a:p>
            <a:r>
              <a:rPr lang="en-IN" dirty="0"/>
              <a:t>Often, it may be seen at the level of the main lobar fissure and portal vein. </a:t>
            </a:r>
          </a:p>
          <a:p>
            <a:r>
              <a:rPr lang="en-IN" dirty="0"/>
              <a:t>The size of gallbladder is variable, although the normal ranges are said to be 8–10 cm in length and no more than 5 cm in diameter.</a:t>
            </a:r>
          </a:p>
          <a:p>
            <a:r>
              <a:rPr lang="en-IN" dirty="0"/>
              <a:t>The gallbladder wall should measure no more than 3 mm in thickness.</a:t>
            </a:r>
          </a:p>
          <a:p>
            <a:r>
              <a:rPr lang="en-IN" dirty="0"/>
              <a:t>The gallbladder wall may be focally or diffusely thickened (Tables 3-2 and 3-3).</a:t>
            </a:r>
          </a:p>
        </p:txBody>
      </p:sp>
      <p:pic>
        <p:nvPicPr>
          <p:cNvPr id="4" name="Picture 3">
            <a:extLst>
              <a:ext uri="{FF2B5EF4-FFF2-40B4-BE49-F238E27FC236}">
                <a16:creationId xmlns:a16="http://schemas.microsoft.com/office/drawing/2014/main" id="{4F54038B-F8E3-2D5C-68C1-AE417CC16A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963689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1600" b="1" dirty="0"/>
              <a:t>Pathology of the Gallbladder</a:t>
            </a:r>
            <a:br>
              <a:rPr lang="en-IN" sz="1600" b="1" dirty="0"/>
            </a:br>
            <a:r>
              <a:rPr lang="en-IN" sz="1600" b="1" dirty="0"/>
              <a:t>Reasons for Gallbladder Wall Thickening &gt;3 mm (Table 4–6)</a:t>
            </a:r>
            <a:br>
              <a:rPr lang="en-IN" sz="1600" b="1" dirty="0"/>
            </a:br>
            <a:r>
              <a:rPr lang="en-IN" sz="1600" b="1" dirty="0"/>
              <a:t>TABLE 4–6 • Reasons for Gallbladder Wall Thickening &gt;3 mm</a:t>
            </a:r>
            <a:br>
              <a:rPr lang="en-IN" sz="1600" b="1" dirty="0"/>
            </a:br>
            <a:endParaRPr lang="en-IN" sz="1600" b="1" dirty="0"/>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2358" y="1066800"/>
            <a:ext cx="5032067"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F64576BC-ACEC-1B6D-761C-8312D32C15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907162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1066800"/>
            <a:ext cx="6173479" cy="437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113FEE10-5AB9-1F4D-F22E-95449C13E9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907795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1905000"/>
            <a:ext cx="6898244" cy="267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533A0603-AB86-6992-4B87-5FC77C2A67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4038185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GALLBLADDER PATHOLOGY</a:t>
            </a:r>
          </a:p>
        </p:txBody>
      </p:sp>
      <p:sp>
        <p:nvSpPr>
          <p:cNvPr id="3" name="Content Placeholder 2"/>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AF10CBB-6088-A0F1-F1A1-EBF1C1EBCB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726977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t>Cholelithiasis</a:t>
            </a:r>
            <a:br>
              <a:rPr lang="en-IN" dirty="0"/>
            </a:br>
            <a:endParaRPr lang="en-IN" dirty="0"/>
          </a:p>
        </p:txBody>
      </p:sp>
      <p:sp>
        <p:nvSpPr>
          <p:cNvPr id="3" name="Content Placeholder 2"/>
          <p:cNvSpPr>
            <a:spLocks noGrp="1"/>
          </p:cNvSpPr>
          <p:nvPr>
            <p:ph idx="1"/>
          </p:nvPr>
        </p:nvSpPr>
        <p:spPr/>
        <p:txBody>
          <a:bodyPr>
            <a:normAutofit/>
          </a:bodyPr>
          <a:lstStyle/>
          <a:p>
            <a:r>
              <a:rPr lang="en-IN" dirty="0"/>
              <a:t>Biliary stones that form within the gallbladder are called gallstones, or </a:t>
            </a:r>
            <a:r>
              <a:rPr lang="en-IN" dirty="0" err="1"/>
              <a:t>cholelithiasis</a:t>
            </a:r>
            <a:r>
              <a:rPr lang="en-IN" dirty="0"/>
              <a:t>. </a:t>
            </a:r>
          </a:p>
          <a:p>
            <a:r>
              <a:rPr lang="en-IN" dirty="0"/>
              <a:t>Gallstones typically consist of a mixture of cholesterol, calcium </a:t>
            </a:r>
            <a:r>
              <a:rPr lang="en-IN" dirty="0" err="1"/>
              <a:t>bilirubinate</a:t>
            </a:r>
            <a:r>
              <a:rPr lang="en-IN" dirty="0"/>
              <a:t>, and calcium carbonate. </a:t>
            </a:r>
          </a:p>
          <a:p>
            <a:r>
              <a:rPr lang="en-IN" dirty="0" err="1"/>
              <a:t>Cholelithiasis</a:t>
            </a:r>
            <a:r>
              <a:rPr lang="en-IN" dirty="0"/>
              <a:t> formation has been associated with many risk factors and predisposing conditions (Table 3-4).</a:t>
            </a:r>
          </a:p>
          <a:p>
            <a:r>
              <a:rPr lang="en-IN" dirty="0"/>
              <a:t>Gallstones are more commonly seen in female patients. </a:t>
            </a:r>
          </a:p>
        </p:txBody>
      </p:sp>
      <p:pic>
        <p:nvPicPr>
          <p:cNvPr id="4" name="Picture 3">
            <a:extLst>
              <a:ext uri="{FF2B5EF4-FFF2-40B4-BE49-F238E27FC236}">
                <a16:creationId xmlns:a16="http://schemas.microsoft.com/office/drawing/2014/main" id="{F2237A4D-3E8B-3EDC-CD84-492427FECD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278356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Moreover, patients who are fat, female, fertile, flatulent, fair, and forty have been shown to have higher incidence of gallstones.</a:t>
            </a:r>
          </a:p>
          <a:p>
            <a:r>
              <a:rPr lang="en-IN" dirty="0"/>
              <a:t>Gallstones have been found in children, in </a:t>
            </a:r>
            <a:r>
              <a:rPr lang="en-IN" dirty="0" err="1"/>
              <a:t>newborns</a:t>
            </a:r>
            <a:r>
              <a:rPr lang="en-IN" dirty="0"/>
              <a:t>, and in the </a:t>
            </a:r>
            <a:r>
              <a:rPr lang="en-IN" dirty="0" err="1"/>
              <a:t>fetus</a:t>
            </a:r>
            <a:r>
              <a:rPr lang="en-IN" dirty="0"/>
              <a:t>. </a:t>
            </a:r>
          </a:p>
          <a:p>
            <a:r>
              <a:rPr lang="en-IN" dirty="0" err="1"/>
              <a:t>Pediatric</a:t>
            </a:r>
            <a:r>
              <a:rPr lang="en-IN" dirty="0"/>
              <a:t> patients who have </a:t>
            </a:r>
            <a:r>
              <a:rPr lang="en-IN" dirty="0" err="1"/>
              <a:t>hemolytic</a:t>
            </a:r>
            <a:r>
              <a:rPr lang="en-IN" dirty="0"/>
              <a:t> </a:t>
            </a:r>
            <a:r>
              <a:rPr lang="en-IN" dirty="0" err="1"/>
              <a:t>anemia</a:t>
            </a:r>
            <a:r>
              <a:rPr lang="en-IN" dirty="0"/>
              <a:t>, such as sickle cell disease, and those with </a:t>
            </a:r>
            <a:r>
              <a:rPr lang="en-IN" dirty="0" err="1"/>
              <a:t>Crohn</a:t>
            </a:r>
            <a:r>
              <a:rPr lang="en-IN" dirty="0"/>
              <a:t> disease have an increased risk for developing gallstones.</a:t>
            </a:r>
          </a:p>
          <a:p>
            <a:endParaRPr lang="en-IN" dirty="0"/>
          </a:p>
        </p:txBody>
      </p:sp>
      <p:pic>
        <p:nvPicPr>
          <p:cNvPr id="4" name="Picture 3">
            <a:extLst>
              <a:ext uri="{FF2B5EF4-FFF2-40B4-BE49-F238E27FC236}">
                <a16:creationId xmlns:a16="http://schemas.microsoft.com/office/drawing/2014/main" id="{13B1B321-EA85-BBDF-AD33-F944866DA5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403678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184400" y="2394744"/>
            <a:ext cx="4775200" cy="321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121B3251-8F81-E554-DF7E-50EF7C2CBF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736004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t>Cholelithiasis</a:t>
            </a:r>
            <a:br>
              <a:rPr lang="en-IN" dirty="0"/>
            </a:br>
            <a:endParaRPr lang="en-IN" dirty="0"/>
          </a:p>
        </p:txBody>
      </p:sp>
      <p:sp>
        <p:nvSpPr>
          <p:cNvPr id="3" name="Content Placeholder 2"/>
          <p:cNvSpPr>
            <a:spLocks noGrp="1"/>
          </p:cNvSpPr>
          <p:nvPr>
            <p:ph idx="1"/>
          </p:nvPr>
        </p:nvSpPr>
        <p:spPr/>
        <p:txBody>
          <a:bodyPr>
            <a:normAutofit/>
          </a:bodyPr>
          <a:lstStyle/>
          <a:p>
            <a:r>
              <a:rPr lang="en-IN" dirty="0"/>
              <a:t>Clinically, patients who have gallstones may be asymptomatic. </a:t>
            </a:r>
          </a:p>
          <a:p>
            <a:r>
              <a:rPr lang="en-IN" dirty="0"/>
              <a:t>But biliary colic is often present. </a:t>
            </a:r>
          </a:p>
          <a:p>
            <a:r>
              <a:rPr lang="en-IN" dirty="0"/>
              <a:t>Other findings include abdominal pain after fatty meals, </a:t>
            </a:r>
            <a:r>
              <a:rPr lang="en-IN" dirty="0" err="1"/>
              <a:t>epigastric</a:t>
            </a:r>
            <a:r>
              <a:rPr lang="en-IN" dirty="0"/>
              <a:t> pain, nausea and vomiting, and pain that radiates to the shoulders. </a:t>
            </a:r>
          </a:p>
          <a:p>
            <a:r>
              <a:rPr lang="en-IN" dirty="0" err="1"/>
              <a:t>Sonographically</a:t>
            </a:r>
            <a:r>
              <a:rPr lang="en-IN" dirty="0"/>
              <a:t>, a </a:t>
            </a:r>
            <a:r>
              <a:rPr lang="en-IN" dirty="0" err="1"/>
              <a:t>cholelithiasis</a:t>
            </a:r>
            <a:r>
              <a:rPr lang="en-IN" dirty="0"/>
              <a:t> appears as a mobile, echogenic structure within the gallbladder lumen that produces an acoustic shadow (Fig. 3-1).</a:t>
            </a:r>
          </a:p>
        </p:txBody>
      </p:sp>
      <p:pic>
        <p:nvPicPr>
          <p:cNvPr id="4" name="Picture 3">
            <a:extLst>
              <a:ext uri="{FF2B5EF4-FFF2-40B4-BE49-F238E27FC236}">
                <a16:creationId xmlns:a16="http://schemas.microsoft.com/office/drawing/2014/main" id="{630733AC-3DEC-E1FF-9CCE-D3DCE0D90A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404618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t>Cholelithiasis</a:t>
            </a:r>
            <a:br>
              <a:rPr lang="en-IN" dirty="0"/>
            </a:br>
            <a:endParaRPr lang="en-IN" dirty="0"/>
          </a:p>
        </p:txBody>
      </p:sp>
      <p:sp>
        <p:nvSpPr>
          <p:cNvPr id="3" name="Content Placeholder 2"/>
          <p:cNvSpPr>
            <a:spLocks noGrp="1"/>
          </p:cNvSpPr>
          <p:nvPr>
            <p:ph idx="1"/>
          </p:nvPr>
        </p:nvSpPr>
        <p:spPr/>
        <p:txBody>
          <a:bodyPr>
            <a:normAutofit/>
          </a:bodyPr>
          <a:lstStyle/>
          <a:p>
            <a:r>
              <a:rPr lang="en-IN" dirty="0"/>
              <a:t>A gallbladder that is completely filled with gallstones may exhibit the wall-echo-shadow sign (WES sign). </a:t>
            </a:r>
          </a:p>
          <a:p>
            <a:r>
              <a:rPr lang="en-IN" dirty="0"/>
              <a:t>In this situation, only the gallbladder wall and shadowing from the gallbladder fossa are observable (Fig. 3-2).</a:t>
            </a:r>
          </a:p>
          <a:p>
            <a:r>
              <a:rPr lang="en-IN" dirty="0"/>
              <a:t>It is important to note that tiny folds within the cystic duct, the spiral valves of Heister, can also produce a posterior shadow, and therefore suggest the presence of tiny gallstones in that area. </a:t>
            </a:r>
          </a:p>
          <a:p>
            <a:r>
              <a:rPr lang="en-IN" dirty="0"/>
              <a:t>Changing the patient position and altering scanning planes often resolve this dilemma.</a:t>
            </a:r>
          </a:p>
        </p:txBody>
      </p:sp>
      <p:pic>
        <p:nvPicPr>
          <p:cNvPr id="4" name="Picture 3">
            <a:extLst>
              <a:ext uri="{FF2B5EF4-FFF2-40B4-BE49-F238E27FC236}">
                <a16:creationId xmlns:a16="http://schemas.microsoft.com/office/drawing/2014/main" id="{8133C496-543F-8ED4-4A6F-683EB12FEA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955815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99708" y="1825625"/>
            <a:ext cx="7744583"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8663B0BC-1ED4-4A4A-267D-C3B67F3884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493429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28650" y="1863686"/>
            <a:ext cx="7886700" cy="4275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FFAE7ADC-29A1-FBBA-F7A6-F3E4E8A242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25124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524000"/>
            <a:ext cx="6633535" cy="2822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A4ADF59E-EED7-F50B-557C-EEC6F74DDC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844785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Gallbladder Sludge</a:t>
            </a:r>
            <a:br>
              <a:rPr lang="en-IN" dirty="0"/>
            </a:br>
            <a:endParaRPr lang="en-IN" dirty="0"/>
          </a:p>
        </p:txBody>
      </p:sp>
      <p:sp>
        <p:nvSpPr>
          <p:cNvPr id="3" name="Content Placeholder 2"/>
          <p:cNvSpPr>
            <a:spLocks noGrp="1"/>
          </p:cNvSpPr>
          <p:nvPr>
            <p:ph idx="1"/>
          </p:nvPr>
        </p:nvSpPr>
        <p:spPr/>
        <p:txBody>
          <a:bodyPr>
            <a:normAutofit/>
          </a:bodyPr>
          <a:lstStyle/>
          <a:p>
            <a:r>
              <a:rPr lang="en-IN" dirty="0"/>
              <a:t>Sludge, or viscid bile, within the gallbladder is most often associated with biliary stasis. </a:t>
            </a:r>
          </a:p>
          <a:p>
            <a:r>
              <a:rPr lang="en-IN" dirty="0"/>
              <a:t>Sludge may be found in patients who have co-existing gallstones or gallbladder carcinoma and in those suffering from jaundice, liver disease, </a:t>
            </a:r>
            <a:r>
              <a:rPr lang="en-IN" dirty="0" err="1"/>
              <a:t>hyperalimentation</a:t>
            </a:r>
            <a:r>
              <a:rPr lang="en-IN" dirty="0"/>
              <a:t>, or sepsis.</a:t>
            </a:r>
          </a:p>
          <a:p>
            <a:r>
              <a:rPr lang="en-IN" dirty="0"/>
              <a:t>Also, patients who have been fasting or are on total parenteral nutrition may have gallbladder sludge.</a:t>
            </a:r>
          </a:p>
          <a:p>
            <a:r>
              <a:rPr lang="en-IN" dirty="0"/>
              <a:t>Sludge is typically asymptomatic.</a:t>
            </a:r>
          </a:p>
        </p:txBody>
      </p:sp>
      <p:pic>
        <p:nvPicPr>
          <p:cNvPr id="4" name="Picture 3">
            <a:extLst>
              <a:ext uri="{FF2B5EF4-FFF2-40B4-BE49-F238E27FC236}">
                <a16:creationId xmlns:a16="http://schemas.microsoft.com/office/drawing/2014/main" id="{2F72CED3-FE59-746B-2DCB-4756A6EB67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0664052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Occasionally, sludge can be thick and mimic an intraluminal gallbladder mass. </a:t>
            </a:r>
          </a:p>
          <a:p>
            <a:r>
              <a:rPr lang="en-IN" dirty="0"/>
              <a:t>This is referred to as </a:t>
            </a:r>
            <a:r>
              <a:rPr lang="en-IN" dirty="0" err="1"/>
              <a:t>tumefactive</a:t>
            </a:r>
            <a:r>
              <a:rPr lang="en-IN" dirty="0"/>
              <a:t> sludge. </a:t>
            </a:r>
          </a:p>
          <a:p>
            <a:r>
              <a:rPr lang="en-IN" dirty="0"/>
              <a:t>The mobility of this type of sludge should be observed carefully. </a:t>
            </a:r>
          </a:p>
          <a:p>
            <a:r>
              <a:rPr lang="en-IN" dirty="0" err="1"/>
              <a:t>Tumefactive</a:t>
            </a:r>
            <a:r>
              <a:rPr lang="en-IN" dirty="0"/>
              <a:t> sludge may also form into sludge balls, which will be mobile and will not produce an acoustic shadow. </a:t>
            </a:r>
          </a:p>
          <a:p>
            <a:r>
              <a:rPr lang="en-IN" dirty="0" err="1"/>
              <a:t>Sonographically</a:t>
            </a:r>
            <a:r>
              <a:rPr lang="en-IN" dirty="0"/>
              <a:t>, sludge appears as a collection of low-level, </a:t>
            </a:r>
            <a:r>
              <a:rPr lang="en-IN" dirty="0" err="1"/>
              <a:t>nonshadowing</a:t>
            </a:r>
            <a:r>
              <a:rPr lang="en-IN" dirty="0"/>
              <a:t>, dependent echoes within the gallbladder lumen (Fig. 3-3).</a:t>
            </a:r>
          </a:p>
        </p:txBody>
      </p:sp>
      <p:pic>
        <p:nvPicPr>
          <p:cNvPr id="4" name="Picture 3">
            <a:extLst>
              <a:ext uri="{FF2B5EF4-FFF2-40B4-BE49-F238E27FC236}">
                <a16:creationId xmlns:a16="http://schemas.microsoft.com/office/drawing/2014/main" id="{C4B8AE7B-7D74-06D7-982A-C751C0792B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435203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057399" y="990600"/>
            <a:ext cx="4541449"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FE4F0955-2F2A-FC1A-81E3-55355B4CC4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770726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828800"/>
            <a:ext cx="72390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3C9B5E5D-B061-54B7-E37B-0B5C60F84A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443957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524000"/>
            <a:ext cx="7132431" cy="193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3962400"/>
            <a:ext cx="6442710" cy="137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4ED440BB-83B8-A08D-6960-5F556C0DB5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680984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Gallbladder Polyps</a:t>
            </a:r>
            <a:br>
              <a:rPr lang="en-IN" dirty="0"/>
            </a:br>
            <a:endParaRPr lang="en-IN" dirty="0"/>
          </a:p>
        </p:txBody>
      </p:sp>
      <p:sp>
        <p:nvSpPr>
          <p:cNvPr id="3" name="Content Placeholder 2"/>
          <p:cNvSpPr>
            <a:spLocks noGrp="1"/>
          </p:cNvSpPr>
          <p:nvPr>
            <p:ph idx="1"/>
          </p:nvPr>
        </p:nvSpPr>
        <p:spPr/>
        <p:txBody>
          <a:bodyPr>
            <a:normAutofit/>
          </a:bodyPr>
          <a:lstStyle/>
          <a:p>
            <a:r>
              <a:rPr lang="en-IN" dirty="0"/>
              <a:t>A gallbladder polyp or cholesterol polyp is a projection of tissue from the gallbladder wall that protrudes into the lumen of the gallbladder. </a:t>
            </a:r>
          </a:p>
          <a:p>
            <a:r>
              <a:rPr lang="en-IN" dirty="0"/>
              <a:t>On varying the patient’s position, polyps will neither shadow nor move (Fig. 3-4).</a:t>
            </a:r>
          </a:p>
          <a:p>
            <a:r>
              <a:rPr lang="en-IN" dirty="0"/>
              <a:t>Cholesterol polyps are the most common type of polyps. </a:t>
            </a:r>
          </a:p>
          <a:p>
            <a:r>
              <a:rPr lang="en-IN" dirty="0"/>
              <a:t>They are caused by </a:t>
            </a:r>
            <a:r>
              <a:rPr lang="en-IN" dirty="0" err="1"/>
              <a:t>cholesterolosis</a:t>
            </a:r>
            <a:r>
              <a:rPr lang="en-IN" dirty="0"/>
              <a:t>, which result from the disturbance in cholesterol metabolism and accumulation of cholesterol within the wall of the gallbladder.</a:t>
            </a:r>
          </a:p>
        </p:txBody>
      </p:sp>
      <p:pic>
        <p:nvPicPr>
          <p:cNvPr id="4" name="Picture 3">
            <a:extLst>
              <a:ext uri="{FF2B5EF4-FFF2-40B4-BE49-F238E27FC236}">
                <a16:creationId xmlns:a16="http://schemas.microsoft.com/office/drawing/2014/main" id="{F59BCC8D-BE2A-5E7B-C458-996F3C418B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3283552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Polyps may be solitary or multiple and will appear </a:t>
            </a:r>
            <a:r>
              <a:rPr lang="en-IN" dirty="0" err="1"/>
              <a:t>sonographically</a:t>
            </a:r>
            <a:r>
              <a:rPr lang="en-IN" dirty="0"/>
              <a:t> as echogenic, </a:t>
            </a:r>
            <a:r>
              <a:rPr lang="en-IN" dirty="0" err="1"/>
              <a:t>nonshadowing</a:t>
            </a:r>
            <a:r>
              <a:rPr lang="en-IN" dirty="0"/>
              <a:t>, and </a:t>
            </a:r>
            <a:r>
              <a:rPr lang="en-IN" dirty="0" err="1"/>
              <a:t>nonmobile</a:t>
            </a:r>
            <a:r>
              <a:rPr lang="en-IN" dirty="0"/>
              <a:t> projections of tissue. </a:t>
            </a:r>
          </a:p>
          <a:p>
            <a:r>
              <a:rPr lang="en-IN" dirty="0"/>
              <a:t>Most polyps are benign, incidentally discovered, and measure less than 5 mm.</a:t>
            </a:r>
          </a:p>
          <a:p>
            <a:r>
              <a:rPr lang="en-IN" dirty="0"/>
              <a:t>However, a rapidly growing polyp or large polyp is worrisome for gallbladder carcinoma.</a:t>
            </a:r>
          </a:p>
          <a:p>
            <a:endParaRPr lang="en-IN" dirty="0"/>
          </a:p>
        </p:txBody>
      </p:sp>
      <p:pic>
        <p:nvPicPr>
          <p:cNvPr id="4" name="Picture 3">
            <a:extLst>
              <a:ext uri="{FF2B5EF4-FFF2-40B4-BE49-F238E27FC236}">
                <a16:creationId xmlns:a16="http://schemas.microsoft.com/office/drawing/2014/main" id="{57E22BF1-BCFA-97E3-E76E-51E173FD4E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7275234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4650" y="762000"/>
            <a:ext cx="4944421"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D402C6F5-E5BB-7E18-C771-8DE87E411A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8387488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1752600"/>
            <a:ext cx="5899845" cy="2670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2E3E19AA-3559-12BB-A892-CA68AB9FBC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7200371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t>Adenomyomatosis</a:t>
            </a:r>
            <a:br>
              <a:rPr lang="en-IN" dirty="0"/>
            </a:br>
            <a:endParaRPr lang="en-IN" dirty="0"/>
          </a:p>
        </p:txBody>
      </p:sp>
      <p:sp>
        <p:nvSpPr>
          <p:cNvPr id="3" name="Content Placeholder 2"/>
          <p:cNvSpPr>
            <a:spLocks noGrp="1"/>
          </p:cNvSpPr>
          <p:nvPr>
            <p:ph idx="1"/>
          </p:nvPr>
        </p:nvSpPr>
        <p:spPr/>
        <p:txBody>
          <a:bodyPr>
            <a:normAutofit/>
          </a:bodyPr>
          <a:lstStyle/>
          <a:p>
            <a:r>
              <a:rPr lang="en-IN" dirty="0"/>
              <a:t>Benign hyperplasia of the gallbladder will result in </a:t>
            </a:r>
            <a:r>
              <a:rPr lang="en-IN" dirty="0" err="1"/>
              <a:t>adenomyomatosis</a:t>
            </a:r>
            <a:r>
              <a:rPr lang="en-IN" dirty="0"/>
              <a:t>.</a:t>
            </a:r>
          </a:p>
          <a:p>
            <a:r>
              <a:rPr lang="en-IN" dirty="0"/>
              <a:t>With </a:t>
            </a:r>
            <a:r>
              <a:rPr lang="en-IN" dirty="0" err="1"/>
              <a:t>adenomyomatosis</a:t>
            </a:r>
            <a:r>
              <a:rPr lang="en-IN" dirty="0"/>
              <a:t>, the epithelium and muscular layers of the gallbladder wall have tiny pockets called </a:t>
            </a:r>
            <a:r>
              <a:rPr lang="en-IN" dirty="0" err="1"/>
              <a:t>Rokitansky</a:t>
            </a:r>
            <a:r>
              <a:rPr lang="en-IN" dirty="0"/>
              <a:t>–</a:t>
            </a:r>
            <a:r>
              <a:rPr lang="en-IN" dirty="0" err="1"/>
              <a:t>Aschoff</a:t>
            </a:r>
            <a:r>
              <a:rPr lang="en-IN" dirty="0"/>
              <a:t> sinuses.</a:t>
            </a:r>
          </a:p>
          <a:p>
            <a:r>
              <a:rPr lang="en-IN" dirty="0"/>
              <a:t>These sinuses contain cholesterol crystals that produce comet tail </a:t>
            </a:r>
            <a:r>
              <a:rPr lang="en-IN" dirty="0" err="1"/>
              <a:t>artifact</a:t>
            </a:r>
            <a:r>
              <a:rPr lang="en-IN" dirty="0"/>
              <a:t> (Fig. 3-5).</a:t>
            </a:r>
          </a:p>
          <a:p>
            <a:r>
              <a:rPr lang="en-IN" dirty="0" err="1"/>
              <a:t>Adenomyomatosis</a:t>
            </a:r>
            <a:r>
              <a:rPr lang="en-IN" dirty="0"/>
              <a:t> may be focal or diffuse and is clinically silent and insignificant.</a:t>
            </a:r>
          </a:p>
        </p:txBody>
      </p:sp>
      <p:pic>
        <p:nvPicPr>
          <p:cNvPr id="4" name="Picture 3">
            <a:extLst>
              <a:ext uri="{FF2B5EF4-FFF2-40B4-BE49-F238E27FC236}">
                <a16:creationId xmlns:a16="http://schemas.microsoft.com/office/drawing/2014/main" id="{C9B09C83-91C6-B30B-1453-A4323FA7B0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3983758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7400" y="515725"/>
            <a:ext cx="4243425" cy="582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AC5A5261-78E0-85EB-D109-8C198FDBE2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1419717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1828800"/>
            <a:ext cx="5596591" cy="2619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07B60C63-1B87-E7F0-079E-E75167CD07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9725160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Acute </a:t>
            </a:r>
            <a:r>
              <a:rPr lang="en-IN" dirty="0" err="1"/>
              <a:t>Cholecystitis</a:t>
            </a:r>
            <a:br>
              <a:rPr lang="en-IN" dirty="0"/>
            </a:br>
            <a:endParaRPr lang="en-IN" dirty="0"/>
          </a:p>
        </p:txBody>
      </p:sp>
      <p:sp>
        <p:nvSpPr>
          <p:cNvPr id="3" name="Content Placeholder 2"/>
          <p:cNvSpPr>
            <a:spLocks noGrp="1"/>
          </p:cNvSpPr>
          <p:nvPr>
            <p:ph idx="1"/>
          </p:nvPr>
        </p:nvSpPr>
        <p:spPr/>
        <p:txBody>
          <a:bodyPr>
            <a:normAutofit/>
          </a:bodyPr>
          <a:lstStyle/>
          <a:p>
            <a:r>
              <a:rPr lang="en-IN" dirty="0"/>
              <a:t>The sudden onset of gallbladder inflammation is referred to as acute </a:t>
            </a:r>
            <a:r>
              <a:rPr lang="en-IN" dirty="0" err="1"/>
              <a:t>cholecystitis</a:t>
            </a:r>
            <a:r>
              <a:rPr lang="en-IN" dirty="0"/>
              <a:t>. </a:t>
            </a:r>
          </a:p>
          <a:p>
            <a:r>
              <a:rPr lang="en-IN" dirty="0"/>
              <a:t>The most common cause of acute </a:t>
            </a:r>
            <a:r>
              <a:rPr lang="en-IN" dirty="0" err="1"/>
              <a:t>cholecystitis</a:t>
            </a:r>
            <a:r>
              <a:rPr lang="en-IN" dirty="0"/>
              <a:t> is a gallstone that has become lodged in the cystic duct or neck of the gallbladder.</a:t>
            </a:r>
          </a:p>
          <a:p>
            <a:r>
              <a:rPr lang="en-IN" dirty="0"/>
              <a:t>Right upper quadrant pain and </a:t>
            </a:r>
            <a:r>
              <a:rPr lang="en-IN" dirty="0" err="1"/>
              <a:t>leukocytosis</a:t>
            </a:r>
            <a:r>
              <a:rPr lang="en-IN" dirty="0"/>
              <a:t> are often associated with acute </a:t>
            </a:r>
            <a:r>
              <a:rPr lang="en-IN" dirty="0" err="1"/>
              <a:t>cholecystitis</a:t>
            </a:r>
            <a:r>
              <a:rPr lang="en-IN" dirty="0"/>
              <a:t>. </a:t>
            </a:r>
          </a:p>
          <a:p>
            <a:r>
              <a:rPr lang="en-IN" dirty="0"/>
              <a:t>Other laboratory findings may include an elevation in alkaline phosphatase and aminotransferase.</a:t>
            </a:r>
          </a:p>
          <a:p>
            <a:r>
              <a:rPr lang="en-IN" dirty="0"/>
              <a:t>Bilirubin may also be elevated if obstruction to the ducts occurs. </a:t>
            </a:r>
          </a:p>
        </p:txBody>
      </p:sp>
      <p:pic>
        <p:nvPicPr>
          <p:cNvPr id="4" name="Picture 3">
            <a:extLst>
              <a:ext uri="{FF2B5EF4-FFF2-40B4-BE49-F238E27FC236}">
                <a16:creationId xmlns:a16="http://schemas.microsoft.com/office/drawing/2014/main" id="{F4630014-739D-17B8-B644-BC3C885902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116054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Patients will complain of focal tenderness over the gallbladder with transducer pressure when the gallbladder is inflamed. </a:t>
            </a:r>
          </a:p>
          <a:p>
            <a:r>
              <a:rPr lang="en-IN" dirty="0"/>
              <a:t>This is termed a positive </a:t>
            </a:r>
            <a:r>
              <a:rPr lang="en-IN" dirty="0" err="1"/>
              <a:t>sonographic</a:t>
            </a:r>
            <a:r>
              <a:rPr lang="en-IN" dirty="0"/>
              <a:t> Murphy’s sign. </a:t>
            </a:r>
          </a:p>
          <a:p>
            <a:r>
              <a:rPr lang="en-IN" dirty="0"/>
              <a:t>Other </a:t>
            </a:r>
            <a:r>
              <a:rPr lang="en-IN" dirty="0" err="1"/>
              <a:t>sonographic</a:t>
            </a:r>
            <a:r>
              <a:rPr lang="en-IN" dirty="0"/>
              <a:t> findings include gallstones, </a:t>
            </a:r>
            <a:r>
              <a:rPr lang="en-IN" dirty="0" err="1"/>
              <a:t>pericholecystic</a:t>
            </a:r>
            <a:r>
              <a:rPr lang="en-IN" dirty="0"/>
              <a:t> fluid, wall thickening, and sludge (Fig. 3-6). </a:t>
            </a:r>
          </a:p>
          <a:p>
            <a:r>
              <a:rPr lang="en-IN" dirty="0"/>
              <a:t>Acute </a:t>
            </a:r>
            <a:r>
              <a:rPr lang="en-IN" dirty="0" err="1"/>
              <a:t>cholecystitis</a:t>
            </a:r>
            <a:r>
              <a:rPr lang="en-IN" dirty="0"/>
              <a:t> has several </a:t>
            </a:r>
            <a:r>
              <a:rPr lang="en-IN" dirty="0" err="1"/>
              <a:t>sequelae</a:t>
            </a:r>
            <a:r>
              <a:rPr lang="en-IN" dirty="0"/>
              <a:t>, many of which are life-threatening conditions (Table 3-5).</a:t>
            </a:r>
          </a:p>
          <a:p>
            <a:pPr marL="0" indent="0">
              <a:buNone/>
            </a:pPr>
            <a:endParaRPr lang="en-IN" dirty="0"/>
          </a:p>
        </p:txBody>
      </p:sp>
      <p:pic>
        <p:nvPicPr>
          <p:cNvPr id="4" name="Picture 3">
            <a:extLst>
              <a:ext uri="{FF2B5EF4-FFF2-40B4-BE49-F238E27FC236}">
                <a16:creationId xmlns:a16="http://schemas.microsoft.com/office/drawing/2014/main" id="{BF1D0242-06C3-CBBB-FB11-EB71A952CA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6334224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86762" y="457200"/>
            <a:ext cx="4623638" cy="5831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F935A0B7-409E-7CFA-6CB6-F7425F3334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4422604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Acute </a:t>
            </a:r>
            <a:r>
              <a:rPr lang="en-IN" dirty="0" err="1"/>
              <a:t>Cholecystitis</a:t>
            </a:r>
            <a:endParaRPr lang="en-IN" dirty="0"/>
          </a:p>
        </p:txBody>
      </p:sp>
      <p:sp>
        <p:nvSpPr>
          <p:cNvPr id="3" name="Content Placeholder 2"/>
          <p:cNvSpPr>
            <a:spLocks noGrp="1"/>
          </p:cNvSpPr>
          <p:nvPr>
            <p:ph idx="1"/>
          </p:nvPr>
        </p:nvSpPr>
        <p:spPr/>
        <p:txBody>
          <a:bodyPr>
            <a:normAutofit/>
          </a:bodyPr>
          <a:lstStyle/>
          <a:p>
            <a:r>
              <a:rPr lang="en-IN" dirty="0"/>
              <a:t>Chronic </a:t>
            </a:r>
            <a:r>
              <a:rPr lang="en-IN" dirty="0" err="1"/>
              <a:t>cholecystitis</a:t>
            </a:r>
            <a:r>
              <a:rPr lang="en-IN" dirty="0"/>
              <a:t> results from the intermittent obstruction of the cystic duct by gallstones.</a:t>
            </a:r>
          </a:p>
          <a:p>
            <a:r>
              <a:rPr lang="en-IN" dirty="0"/>
              <a:t>With gangrenous </a:t>
            </a:r>
            <a:r>
              <a:rPr lang="en-IN" dirty="0" err="1"/>
              <a:t>cholecystitis</a:t>
            </a:r>
            <a:r>
              <a:rPr lang="en-IN" dirty="0"/>
              <a:t>, the gallbladder becomes necrotic and develops abscesses within its walls. </a:t>
            </a:r>
          </a:p>
          <a:p>
            <a:r>
              <a:rPr lang="en-IN" dirty="0"/>
              <a:t>Bacterial invasion within the gallbladder wall describes emphysematous </a:t>
            </a:r>
            <a:r>
              <a:rPr lang="en-IN" dirty="0" err="1"/>
              <a:t>cholecystitis</a:t>
            </a:r>
            <a:r>
              <a:rPr lang="en-IN" dirty="0"/>
              <a:t>. </a:t>
            </a:r>
          </a:p>
          <a:p>
            <a:r>
              <a:rPr lang="en-IN" dirty="0" err="1"/>
              <a:t>Cholecystitis</a:t>
            </a:r>
            <a:r>
              <a:rPr lang="en-IN" dirty="0"/>
              <a:t> and its complications can lead to perforation of the gallbladder.</a:t>
            </a:r>
          </a:p>
          <a:p>
            <a:r>
              <a:rPr lang="en-IN" dirty="0"/>
              <a:t>Whenever perforation occurs, the patient has an increased risk of death as a result of peritonitis. </a:t>
            </a:r>
          </a:p>
          <a:p>
            <a:r>
              <a:rPr lang="en-IN" dirty="0"/>
              <a:t>When medical treatment is not appropriate, a cholecystectomy is typically performed to relieve the symptoms of acute </a:t>
            </a:r>
            <a:r>
              <a:rPr lang="en-IN" dirty="0" err="1"/>
              <a:t>cholecystitis</a:t>
            </a:r>
            <a:r>
              <a:rPr lang="en-IN" dirty="0"/>
              <a:t>.</a:t>
            </a:r>
          </a:p>
        </p:txBody>
      </p:sp>
      <p:pic>
        <p:nvPicPr>
          <p:cNvPr id="4" name="Picture 3">
            <a:extLst>
              <a:ext uri="{FF2B5EF4-FFF2-40B4-BE49-F238E27FC236}">
                <a16:creationId xmlns:a16="http://schemas.microsoft.com/office/drawing/2014/main" id="{7D9C3F46-4781-734D-7AA4-766265A0E2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0736013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171262" y="1066800"/>
            <a:ext cx="4801476"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4BB0E124-062F-F606-22F2-A6941AD687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6288659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t>Acalculous</a:t>
            </a:r>
            <a:r>
              <a:rPr lang="en-IN" dirty="0"/>
              <a:t> </a:t>
            </a:r>
            <a:r>
              <a:rPr lang="en-IN" dirty="0" err="1"/>
              <a:t>Cholecystitis</a:t>
            </a:r>
            <a:br>
              <a:rPr lang="en-IN" dirty="0"/>
            </a:br>
            <a:endParaRPr lang="en-IN" dirty="0"/>
          </a:p>
        </p:txBody>
      </p:sp>
      <p:sp>
        <p:nvSpPr>
          <p:cNvPr id="3" name="Content Placeholder 2"/>
          <p:cNvSpPr>
            <a:spLocks noGrp="1"/>
          </p:cNvSpPr>
          <p:nvPr>
            <p:ph idx="1"/>
          </p:nvPr>
        </p:nvSpPr>
        <p:spPr/>
        <p:txBody>
          <a:bodyPr>
            <a:normAutofit/>
          </a:bodyPr>
          <a:lstStyle/>
          <a:p>
            <a:r>
              <a:rPr lang="en-IN" dirty="0" err="1"/>
              <a:t>Acalculous</a:t>
            </a:r>
            <a:r>
              <a:rPr lang="en-IN" dirty="0"/>
              <a:t> </a:t>
            </a:r>
            <a:r>
              <a:rPr lang="en-IN" dirty="0" err="1"/>
              <a:t>cholecystitis</a:t>
            </a:r>
            <a:r>
              <a:rPr lang="en-IN" dirty="0"/>
              <a:t> presents with all of the symptoms and </a:t>
            </a:r>
            <a:r>
              <a:rPr lang="en-IN" dirty="0" err="1"/>
              <a:t>sonographic</a:t>
            </a:r>
            <a:r>
              <a:rPr lang="en-IN" dirty="0"/>
              <a:t> findings of </a:t>
            </a:r>
            <a:r>
              <a:rPr lang="en-IN" dirty="0" err="1"/>
              <a:t>cholecystitis</a:t>
            </a:r>
            <a:r>
              <a:rPr lang="en-IN" dirty="0"/>
              <a:t> except no gallstones are present (Fig. 3-7). </a:t>
            </a:r>
          </a:p>
          <a:p>
            <a:r>
              <a:rPr lang="en-IN" dirty="0"/>
              <a:t>This form of acute </a:t>
            </a:r>
            <a:r>
              <a:rPr lang="en-IN" dirty="0" err="1"/>
              <a:t>cholecystitis</a:t>
            </a:r>
            <a:r>
              <a:rPr lang="en-IN" dirty="0"/>
              <a:t> is more commonly found in children, recently hospitalized patients, or those who are </a:t>
            </a:r>
            <a:r>
              <a:rPr lang="en-IN" dirty="0" err="1"/>
              <a:t>immunocompromised</a:t>
            </a:r>
            <a:r>
              <a:rPr lang="en-IN" dirty="0"/>
              <a:t>.</a:t>
            </a:r>
          </a:p>
          <a:p>
            <a:endParaRPr lang="en-IN" dirty="0"/>
          </a:p>
        </p:txBody>
      </p:sp>
      <p:pic>
        <p:nvPicPr>
          <p:cNvPr id="4" name="Picture 3">
            <a:extLst>
              <a:ext uri="{FF2B5EF4-FFF2-40B4-BE49-F238E27FC236}">
                <a16:creationId xmlns:a16="http://schemas.microsoft.com/office/drawing/2014/main" id="{070625A3-01F8-E018-685B-79BF2765CD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0209527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2209800"/>
            <a:ext cx="6958115" cy="205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65756C3F-94E8-F090-2923-0DF9AD4F2A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40123274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2200" y="226158"/>
            <a:ext cx="4020929" cy="6405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DF0F986F-6EB0-5057-C8DA-A9769FDA28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0481009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28650" y="1814440"/>
            <a:ext cx="7886700" cy="3229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B43BD33B-7C1A-D451-1674-5229B96A99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4318664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Gallbladder Enlargement</a:t>
            </a:r>
            <a:br>
              <a:rPr lang="en-IN" dirty="0"/>
            </a:br>
            <a:endParaRPr lang="en-IN" dirty="0"/>
          </a:p>
        </p:txBody>
      </p:sp>
      <p:sp>
        <p:nvSpPr>
          <p:cNvPr id="3" name="Content Placeholder 2"/>
          <p:cNvSpPr>
            <a:spLocks noGrp="1"/>
          </p:cNvSpPr>
          <p:nvPr>
            <p:ph idx="1"/>
          </p:nvPr>
        </p:nvSpPr>
        <p:spPr/>
        <p:txBody>
          <a:bodyPr>
            <a:normAutofit/>
          </a:bodyPr>
          <a:lstStyle/>
          <a:p>
            <a:r>
              <a:rPr lang="en-IN" dirty="0"/>
              <a:t>The gallbladder should not exceed 5 cm in width and 8–10 cm in length. </a:t>
            </a:r>
          </a:p>
          <a:p>
            <a:r>
              <a:rPr lang="en-IN" dirty="0"/>
              <a:t>The transverse measurement is more indicative of gallbladder enlargement. </a:t>
            </a:r>
          </a:p>
          <a:p>
            <a:r>
              <a:rPr lang="en-IN" dirty="0"/>
              <a:t>An enlarged gallbladder can be caused by a blockage of the cystic duct. </a:t>
            </a:r>
          </a:p>
          <a:p>
            <a:r>
              <a:rPr lang="en-IN" dirty="0"/>
              <a:t>This is referred to as a </a:t>
            </a:r>
            <a:r>
              <a:rPr lang="en-IN" dirty="0" err="1"/>
              <a:t>hydropic</a:t>
            </a:r>
            <a:r>
              <a:rPr lang="en-IN" dirty="0"/>
              <a:t> gallbladder. </a:t>
            </a:r>
          </a:p>
          <a:p>
            <a:r>
              <a:rPr lang="en-IN" dirty="0"/>
              <a:t>Patients with a </a:t>
            </a:r>
            <a:r>
              <a:rPr lang="en-IN" dirty="0" err="1"/>
              <a:t>hydropic</a:t>
            </a:r>
            <a:r>
              <a:rPr lang="en-IN" dirty="0"/>
              <a:t> gallbladder may be asymptomatic or may complain of </a:t>
            </a:r>
            <a:r>
              <a:rPr lang="en-IN" dirty="0" err="1"/>
              <a:t>epigastric</a:t>
            </a:r>
            <a:r>
              <a:rPr lang="en-IN" dirty="0"/>
              <a:t> pain, nausea, and/or vomiting.</a:t>
            </a:r>
          </a:p>
          <a:p>
            <a:pPr marL="0" indent="0">
              <a:buNone/>
            </a:pPr>
            <a:endParaRPr lang="en-IN" dirty="0"/>
          </a:p>
        </p:txBody>
      </p:sp>
      <p:pic>
        <p:nvPicPr>
          <p:cNvPr id="4" name="Picture 3">
            <a:extLst>
              <a:ext uri="{FF2B5EF4-FFF2-40B4-BE49-F238E27FC236}">
                <a16:creationId xmlns:a16="http://schemas.microsoft.com/office/drawing/2014/main" id="{CDBC59C0-C1C5-65DC-3A88-248B40FB9C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6877619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An enlarged gallbladder is often palpable on physical examination. </a:t>
            </a:r>
          </a:p>
          <a:p>
            <a:r>
              <a:rPr lang="en-IN" dirty="0"/>
              <a:t>Courvoisier gallbladder describes the clinical detection of an enlarged, palpable gallbladder caused by a pancreatic head mass. </a:t>
            </a:r>
          </a:p>
          <a:p>
            <a:r>
              <a:rPr lang="en-IN" dirty="0"/>
              <a:t>Patients with Courvoisier gallbladder will have painless jaundice</a:t>
            </a:r>
          </a:p>
        </p:txBody>
      </p:sp>
      <p:pic>
        <p:nvPicPr>
          <p:cNvPr id="4" name="Picture 3">
            <a:extLst>
              <a:ext uri="{FF2B5EF4-FFF2-40B4-BE49-F238E27FC236}">
                <a16:creationId xmlns:a16="http://schemas.microsoft.com/office/drawing/2014/main" id="{3D1798DA-ED58-84FC-3728-3A608052EB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7230218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843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1981200"/>
            <a:ext cx="6710534" cy="24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1338C95B-116A-8C80-6C52-4C67F3E0A3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5376290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945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082800" y="2216944"/>
            <a:ext cx="4978400" cy="356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DAF464AF-6A2A-2FEE-16DA-7DB779DB52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8168490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00200"/>
            <a:ext cx="5791199"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9D02C64E-0458-FF87-10FF-221B3A3EBE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2202160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Gallbladder Carcinoma</a:t>
            </a:r>
            <a:br>
              <a:rPr lang="en-IN" dirty="0"/>
            </a:br>
            <a:endParaRPr lang="en-IN" dirty="0"/>
          </a:p>
        </p:txBody>
      </p:sp>
      <p:sp>
        <p:nvSpPr>
          <p:cNvPr id="3" name="Content Placeholder 2"/>
          <p:cNvSpPr>
            <a:spLocks noGrp="1"/>
          </p:cNvSpPr>
          <p:nvPr>
            <p:ph idx="1"/>
          </p:nvPr>
        </p:nvSpPr>
        <p:spPr/>
        <p:txBody>
          <a:bodyPr>
            <a:normAutofit/>
          </a:bodyPr>
          <a:lstStyle/>
          <a:p>
            <a:r>
              <a:rPr lang="en-IN" dirty="0"/>
              <a:t>Gallbladder carcinoma is rare, although it is the most common cancer of the biliary tract.</a:t>
            </a:r>
          </a:p>
          <a:p>
            <a:r>
              <a:rPr lang="en-IN" dirty="0"/>
              <a:t>It is thought to be caused by chronic irritation of the gallbladder wall by gallstones.</a:t>
            </a:r>
          </a:p>
          <a:p>
            <a:r>
              <a:rPr lang="en-IN" dirty="0"/>
              <a:t>Therefore, gallbladder carcinoma is almost always associated with gallstones and the mass may actually contain gallstones. </a:t>
            </a:r>
          </a:p>
          <a:p>
            <a:r>
              <a:rPr lang="en-IN" dirty="0"/>
              <a:t>Furthermore, there appears to be an increased risk for developing gallbladder carcinoma in patients who have porcelain gallbladders and in those who suffer from chronic </a:t>
            </a:r>
            <a:r>
              <a:rPr lang="en-IN" dirty="0" err="1"/>
              <a:t>cholecystitis</a:t>
            </a:r>
            <a:r>
              <a:rPr lang="en-IN" dirty="0"/>
              <a:t>.</a:t>
            </a:r>
          </a:p>
          <a:p>
            <a:r>
              <a:rPr lang="en-IN" dirty="0"/>
              <a:t>Patients may be asymptomatic at the time of detection, or they may suffer from nausea, vomiting, unexplained weight loss, right upper quadrant pain, jaundice, or hepatomegaly.</a:t>
            </a:r>
          </a:p>
          <a:p>
            <a:endParaRPr lang="en-IN" dirty="0"/>
          </a:p>
        </p:txBody>
      </p:sp>
      <p:pic>
        <p:nvPicPr>
          <p:cNvPr id="4" name="Picture 3">
            <a:extLst>
              <a:ext uri="{FF2B5EF4-FFF2-40B4-BE49-F238E27FC236}">
                <a16:creationId xmlns:a16="http://schemas.microsoft.com/office/drawing/2014/main" id="{D1EFA0FD-EDC7-9524-8EBA-6A75B6AA29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8562940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Gallbladder carcinoma may appear </a:t>
            </a:r>
            <a:r>
              <a:rPr lang="en-IN" dirty="0" err="1"/>
              <a:t>sonographically</a:t>
            </a:r>
            <a:r>
              <a:rPr lang="en-IN" dirty="0"/>
              <a:t> as a distinct, </a:t>
            </a:r>
            <a:r>
              <a:rPr lang="en-IN" dirty="0" err="1"/>
              <a:t>nonmobile</a:t>
            </a:r>
            <a:r>
              <a:rPr lang="en-IN" dirty="0"/>
              <a:t>, </a:t>
            </a:r>
            <a:r>
              <a:rPr lang="en-IN" dirty="0" err="1"/>
              <a:t>hypoechoic</a:t>
            </a:r>
            <a:r>
              <a:rPr lang="en-IN" dirty="0"/>
              <a:t> mass within the lumen of gallbladder or as diffuse gallbladder wall thickening. </a:t>
            </a:r>
          </a:p>
          <a:p>
            <a:r>
              <a:rPr lang="en-IN" dirty="0"/>
              <a:t>An irregular </a:t>
            </a:r>
            <a:r>
              <a:rPr lang="en-IN" dirty="0" err="1"/>
              <a:t>polypoid</a:t>
            </a:r>
            <a:r>
              <a:rPr lang="en-IN" dirty="0"/>
              <a:t> mass may also completely fill the gallbladder fossa at the time of diagnosis.</a:t>
            </a:r>
          </a:p>
          <a:p>
            <a:r>
              <a:rPr lang="en-IN" dirty="0"/>
              <a:t>Whenever a mass is visualized within the gallbladder lumen it should be measured. </a:t>
            </a:r>
          </a:p>
          <a:p>
            <a:r>
              <a:rPr lang="en-IN" dirty="0"/>
              <a:t>Gallbladder carcinoma is highly suspected if a polyp or mass within the gallbladder measures greater than2 cm.</a:t>
            </a:r>
          </a:p>
        </p:txBody>
      </p:sp>
      <p:pic>
        <p:nvPicPr>
          <p:cNvPr id="4" name="Picture 3">
            <a:extLst>
              <a:ext uri="{FF2B5EF4-FFF2-40B4-BE49-F238E27FC236}">
                <a16:creationId xmlns:a16="http://schemas.microsoft.com/office/drawing/2014/main" id="{E619B177-B32D-B7A0-3472-E2F484B043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6817310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When confused with </a:t>
            </a:r>
            <a:r>
              <a:rPr lang="en-IN" dirty="0" err="1"/>
              <a:t>tumefactive</a:t>
            </a:r>
            <a:r>
              <a:rPr lang="en-IN" dirty="0"/>
              <a:t> sludge, </a:t>
            </a:r>
            <a:r>
              <a:rPr lang="en-IN" dirty="0" err="1"/>
              <a:t>color</a:t>
            </a:r>
            <a:r>
              <a:rPr lang="en-IN" dirty="0"/>
              <a:t> Doppler can reveal vessels within the malignancy (Fig. 3-8). </a:t>
            </a:r>
          </a:p>
          <a:p>
            <a:r>
              <a:rPr lang="en-IN" dirty="0"/>
              <a:t>The most common metastatic disease of the gallbladder is malignant melanoma.</a:t>
            </a:r>
          </a:p>
          <a:p>
            <a:r>
              <a:rPr lang="en-IN" dirty="0"/>
              <a:t>It may appear </a:t>
            </a:r>
            <a:r>
              <a:rPr lang="en-IN" dirty="0" err="1"/>
              <a:t>sonographically</a:t>
            </a:r>
            <a:r>
              <a:rPr lang="en-IN" dirty="0"/>
              <a:t> similar to primary gallbladder cancer.</a:t>
            </a:r>
          </a:p>
        </p:txBody>
      </p:sp>
      <p:pic>
        <p:nvPicPr>
          <p:cNvPr id="4" name="Picture 3">
            <a:extLst>
              <a:ext uri="{FF2B5EF4-FFF2-40B4-BE49-F238E27FC236}">
                <a16:creationId xmlns:a16="http://schemas.microsoft.com/office/drawing/2014/main" id="{A2388346-12E6-BD5C-F5D7-9594DF3DDC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5206855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5119" y="685800"/>
            <a:ext cx="7727091"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77F3C993-AB2D-3406-CE3D-84A6F744DD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5681662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809625"/>
            <a:ext cx="3754153"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581400"/>
            <a:ext cx="3854252" cy="2747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4CA73F04-5629-FBF5-C18D-7857424E90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7420215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285875"/>
            <a:ext cx="5715000" cy="428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8FB2DFC9-C477-06C7-F546-CBB6C3711C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4427716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676400"/>
            <a:ext cx="5380045" cy="2289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BB8A00CD-8A87-E496-ED43-1E6ED99B41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529893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2531642"/>
            <a:ext cx="8977884" cy="2114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B74AA47B-1056-6CE7-F650-3858587A6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3370224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700" dirty="0"/>
              <a:t>Causes of Low Level Echoes in the Gallbladder Lumen/with Mobility</a:t>
            </a:r>
            <a:br>
              <a:rPr lang="en-IN" dirty="0"/>
            </a:br>
            <a:endParaRPr lang="en-IN" dirty="0"/>
          </a:p>
        </p:txBody>
      </p:sp>
      <p:sp>
        <p:nvSpPr>
          <p:cNvPr id="3" name="Content Placeholder 2"/>
          <p:cNvSpPr>
            <a:spLocks noGrp="1"/>
          </p:cNvSpPr>
          <p:nvPr>
            <p:ph idx="1"/>
          </p:nvPr>
        </p:nvSpPr>
        <p:spPr/>
        <p:txBody>
          <a:bodyPr>
            <a:normAutofit/>
          </a:bodyPr>
          <a:lstStyle/>
          <a:p>
            <a:r>
              <a:rPr lang="en-IN" dirty="0"/>
              <a:t>Biliary Sludge. The most common cause of sludge is stasis of bile attributable to </a:t>
            </a:r>
            <a:r>
              <a:rPr lang="en-IN" dirty="0" err="1"/>
              <a:t>cholecystitis</a:t>
            </a:r>
            <a:r>
              <a:rPr lang="en-IN" dirty="0"/>
              <a:t>, </a:t>
            </a:r>
            <a:r>
              <a:rPr lang="en-IN" dirty="0" err="1"/>
              <a:t>extrahepatic</a:t>
            </a:r>
            <a:r>
              <a:rPr lang="en-IN" dirty="0"/>
              <a:t> obstruction, </a:t>
            </a:r>
            <a:r>
              <a:rPr lang="en-IN" dirty="0" err="1"/>
              <a:t>hyperalimentation</a:t>
            </a:r>
            <a:r>
              <a:rPr lang="en-IN" dirty="0"/>
              <a:t>, or in patients who have been NPO for a long period of time. </a:t>
            </a:r>
          </a:p>
          <a:p>
            <a:r>
              <a:rPr lang="en-IN" dirty="0"/>
              <a:t>Sludge is a common precursor to gallstones. </a:t>
            </a:r>
          </a:p>
          <a:p>
            <a:r>
              <a:rPr lang="en-IN" dirty="0"/>
              <a:t>Sludge appears as low-level </a:t>
            </a:r>
            <a:r>
              <a:rPr lang="en-IN" dirty="0" err="1"/>
              <a:t>nonshadowing</a:t>
            </a:r>
            <a:r>
              <a:rPr lang="en-IN" dirty="0"/>
              <a:t> echoes in the dependent portion of the gallbladder that moves with a change in the patient position. </a:t>
            </a:r>
          </a:p>
          <a:p>
            <a:r>
              <a:rPr lang="en-IN" dirty="0"/>
              <a:t>Other causes of mobile low level echoes within the gallbladder lumen include; blood, pus and viscous bile.</a:t>
            </a:r>
          </a:p>
          <a:p>
            <a:r>
              <a:rPr lang="en-IN" dirty="0"/>
              <a:t>Intraluminal echoes that do not shadow or are </a:t>
            </a:r>
            <a:r>
              <a:rPr lang="en-IN" dirty="0" err="1"/>
              <a:t>nonmobile</a:t>
            </a:r>
            <a:r>
              <a:rPr lang="en-IN" dirty="0"/>
              <a:t> include: polyps, </a:t>
            </a:r>
            <a:r>
              <a:rPr lang="en-IN" dirty="0" err="1"/>
              <a:t>cholesterosis</a:t>
            </a:r>
            <a:r>
              <a:rPr lang="en-IN" dirty="0"/>
              <a:t>, </a:t>
            </a:r>
            <a:r>
              <a:rPr lang="en-IN" dirty="0" err="1"/>
              <a:t>artifacts</a:t>
            </a:r>
            <a:r>
              <a:rPr lang="en-IN" dirty="0"/>
              <a:t>, </a:t>
            </a:r>
            <a:r>
              <a:rPr lang="en-IN" dirty="0" err="1"/>
              <a:t>septi</a:t>
            </a:r>
            <a:r>
              <a:rPr lang="en-IN" dirty="0"/>
              <a:t> (</a:t>
            </a:r>
            <a:r>
              <a:rPr lang="en-IN" dirty="0" err="1"/>
              <a:t>junctional</a:t>
            </a:r>
            <a:r>
              <a:rPr lang="en-IN" dirty="0"/>
              <a:t> fold), and gallbladder carcinoma.</a:t>
            </a:r>
          </a:p>
        </p:txBody>
      </p:sp>
      <p:pic>
        <p:nvPicPr>
          <p:cNvPr id="4" name="Picture 3">
            <a:extLst>
              <a:ext uri="{FF2B5EF4-FFF2-40B4-BE49-F238E27FC236}">
                <a16:creationId xmlns:a16="http://schemas.microsoft.com/office/drawing/2014/main" id="{62A55E61-2485-3D6D-3EDF-BFBCFDE4C0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42805987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Cholelithiasis</a:t>
            </a:r>
            <a:r>
              <a:rPr lang="en-IN" dirty="0"/>
              <a:t> (Gallstones). </a:t>
            </a:r>
          </a:p>
        </p:txBody>
      </p:sp>
      <p:sp>
        <p:nvSpPr>
          <p:cNvPr id="3" name="Content Placeholder 2"/>
          <p:cNvSpPr>
            <a:spLocks noGrp="1"/>
          </p:cNvSpPr>
          <p:nvPr>
            <p:ph idx="1"/>
          </p:nvPr>
        </p:nvSpPr>
        <p:spPr/>
        <p:txBody>
          <a:bodyPr>
            <a:normAutofit/>
          </a:bodyPr>
          <a:lstStyle/>
          <a:p>
            <a:r>
              <a:rPr lang="en-IN" dirty="0"/>
              <a:t>Patients may present asymptomatic or with right upper quadrant (RUQ) pain and a history of nausea and vomiting after eating. </a:t>
            </a:r>
          </a:p>
          <a:p>
            <a:r>
              <a:rPr lang="en-IN" dirty="0" err="1"/>
              <a:t>Cholecystitis</a:t>
            </a:r>
            <a:r>
              <a:rPr lang="en-IN" dirty="0"/>
              <a:t> is sometimes present.</a:t>
            </a:r>
          </a:p>
          <a:p>
            <a:r>
              <a:rPr lang="en-IN" dirty="0"/>
              <a:t> The following </a:t>
            </a:r>
            <a:r>
              <a:rPr lang="en-IN" dirty="0" err="1"/>
              <a:t>sonographic</a:t>
            </a:r>
            <a:r>
              <a:rPr lang="en-IN" dirty="0"/>
              <a:t> characteristics need to be present in order to diagnose gallstones:</a:t>
            </a:r>
          </a:p>
          <a:p>
            <a:r>
              <a:rPr lang="en-IN" dirty="0"/>
              <a:t>1. Echogenic foci—Echogenic due to the acoustic mismatch between the stones and bile</a:t>
            </a:r>
          </a:p>
          <a:p>
            <a:r>
              <a:rPr lang="en-IN" dirty="0"/>
              <a:t>2. Posterior acoustic shadowing—Most of the sound is absorbed (attenuated), producing a shadow.</a:t>
            </a:r>
          </a:p>
          <a:p>
            <a:r>
              <a:rPr lang="en-IN" dirty="0"/>
              <a:t>3. Gravity dependent—Stones are gravity dependent and move to the most dependent portion of the</a:t>
            </a:r>
          </a:p>
          <a:p>
            <a:r>
              <a:rPr lang="en-IN" dirty="0"/>
              <a:t>GB when the patient position is changed.</a:t>
            </a:r>
          </a:p>
        </p:txBody>
      </p:sp>
      <p:pic>
        <p:nvPicPr>
          <p:cNvPr id="6" name="Picture 5">
            <a:extLst>
              <a:ext uri="{FF2B5EF4-FFF2-40B4-BE49-F238E27FC236}">
                <a16:creationId xmlns:a16="http://schemas.microsoft.com/office/drawing/2014/main" id="{325264A7-49C0-DE24-061E-85426D04F72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3951528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Structures That Can Mimic Gallstones</a:t>
            </a:r>
            <a:br>
              <a:rPr lang="en-IN" dirty="0"/>
            </a:br>
            <a:endParaRPr lang="en-IN" dirty="0"/>
          </a:p>
        </p:txBody>
      </p:sp>
      <p:sp>
        <p:nvSpPr>
          <p:cNvPr id="3" name="Content Placeholder 2"/>
          <p:cNvSpPr>
            <a:spLocks noGrp="1"/>
          </p:cNvSpPr>
          <p:nvPr>
            <p:ph idx="1"/>
          </p:nvPr>
        </p:nvSpPr>
        <p:spPr/>
        <p:txBody>
          <a:bodyPr>
            <a:normAutofit/>
          </a:bodyPr>
          <a:lstStyle/>
          <a:p>
            <a:r>
              <a:rPr lang="en-IN" dirty="0"/>
              <a:t>• Gas in the duodenum</a:t>
            </a:r>
          </a:p>
          <a:p>
            <a:r>
              <a:rPr lang="en-IN" dirty="0"/>
              <a:t>• Surgical clips from post-cholecystectomy</a:t>
            </a:r>
          </a:p>
          <a:p>
            <a:r>
              <a:rPr lang="en-IN" dirty="0"/>
              <a:t>• Valves of Heister and folds in gallbladder</a:t>
            </a:r>
          </a:p>
          <a:p>
            <a:r>
              <a:rPr lang="en-IN" dirty="0"/>
              <a:t>Shadowing from the spiral valves of Heister—refraction </a:t>
            </a:r>
            <a:r>
              <a:rPr lang="en-IN" dirty="0" err="1"/>
              <a:t>artifact</a:t>
            </a:r>
            <a:r>
              <a:rPr lang="en-IN" dirty="0"/>
              <a:t> from the cystic duct</a:t>
            </a:r>
          </a:p>
          <a:p>
            <a:r>
              <a:rPr lang="en-IN" dirty="0"/>
              <a:t>Bowel—usually not a clean shadow</a:t>
            </a:r>
          </a:p>
          <a:p>
            <a:r>
              <a:rPr lang="en-IN" dirty="0"/>
              <a:t>Air in the biliary tree—from previous surgery or GB fistula</a:t>
            </a:r>
          </a:p>
          <a:p>
            <a:r>
              <a:rPr lang="en-IN" dirty="0"/>
              <a:t>Low-level echoes in the gallbladder lumen—no shadowing</a:t>
            </a:r>
          </a:p>
        </p:txBody>
      </p:sp>
      <p:pic>
        <p:nvPicPr>
          <p:cNvPr id="4" name="Picture 3">
            <a:extLst>
              <a:ext uri="{FF2B5EF4-FFF2-40B4-BE49-F238E27FC236}">
                <a16:creationId xmlns:a16="http://schemas.microsoft.com/office/drawing/2014/main" id="{0A3C3A45-A46A-BED0-DDBD-EB8D919BF4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6577497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Polyps. Polyps are not gravity dependent and do not move with changing patient position.</a:t>
            </a:r>
          </a:p>
          <a:p>
            <a:r>
              <a:rPr lang="en-IN" dirty="0" err="1"/>
              <a:t>Adenomyomatosis</a:t>
            </a:r>
            <a:r>
              <a:rPr lang="en-IN" dirty="0"/>
              <a:t>. Hyperplastic change in the gallbladder wall (Table 4–6).</a:t>
            </a:r>
          </a:p>
          <a:p>
            <a:r>
              <a:rPr lang="en-IN" dirty="0"/>
              <a:t>Causes of gallstones in children include </a:t>
            </a:r>
            <a:r>
              <a:rPr lang="en-IN" dirty="0" err="1"/>
              <a:t>hemolysis</a:t>
            </a:r>
            <a:r>
              <a:rPr lang="en-IN" dirty="0"/>
              <a:t>; for example, sickle cell disease, cystic fibrosis, </a:t>
            </a:r>
            <a:r>
              <a:rPr lang="en-IN" dirty="0" err="1"/>
              <a:t>malabsorption</a:t>
            </a:r>
            <a:r>
              <a:rPr lang="en-IN" dirty="0"/>
              <a:t> syndrome (</a:t>
            </a:r>
            <a:r>
              <a:rPr lang="en-IN" dirty="0" err="1"/>
              <a:t>Crohn’s</a:t>
            </a:r>
            <a:r>
              <a:rPr lang="en-IN" dirty="0"/>
              <a:t> disease), hepatitis, and congenital biliary anomalies (</a:t>
            </a:r>
            <a:r>
              <a:rPr lang="en-IN" dirty="0" err="1"/>
              <a:t>choledochal</a:t>
            </a:r>
            <a:r>
              <a:rPr lang="en-IN" dirty="0"/>
              <a:t> cyst, biliary atresia).</a:t>
            </a:r>
          </a:p>
          <a:p>
            <a:r>
              <a:rPr lang="en-IN" dirty="0" err="1"/>
              <a:t>Mirizzi</a:t>
            </a:r>
            <a:r>
              <a:rPr lang="en-IN" dirty="0"/>
              <a:t> Syndrome. Refers to a common hepatic duct obstruction caused by a stone in the cystic duct with a normal common bile duct. </a:t>
            </a:r>
          </a:p>
          <a:p>
            <a:r>
              <a:rPr lang="en-IN" dirty="0"/>
              <a:t>Most patients present with clinical findings of RUQ pain, jaundice and fever.</a:t>
            </a:r>
          </a:p>
        </p:txBody>
      </p:sp>
      <p:pic>
        <p:nvPicPr>
          <p:cNvPr id="2" name="Picture 1">
            <a:extLst>
              <a:ext uri="{FF2B5EF4-FFF2-40B4-BE49-F238E27FC236}">
                <a16:creationId xmlns:a16="http://schemas.microsoft.com/office/drawing/2014/main" id="{4FE1B434-B9B6-48A6-6627-34AF72DEB6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2731256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Acute </a:t>
            </a:r>
            <a:r>
              <a:rPr lang="en-IN" dirty="0" err="1"/>
              <a:t>Cholecystitis</a:t>
            </a:r>
            <a:r>
              <a:rPr lang="en-IN" dirty="0"/>
              <a:t>. </a:t>
            </a:r>
          </a:p>
        </p:txBody>
      </p:sp>
      <p:sp>
        <p:nvSpPr>
          <p:cNvPr id="3" name="Content Placeholder 2"/>
          <p:cNvSpPr>
            <a:spLocks noGrp="1"/>
          </p:cNvSpPr>
          <p:nvPr>
            <p:ph idx="1"/>
          </p:nvPr>
        </p:nvSpPr>
        <p:spPr/>
        <p:txBody>
          <a:bodyPr>
            <a:normAutofit/>
          </a:bodyPr>
          <a:lstStyle/>
          <a:p>
            <a:r>
              <a:rPr lang="en-IN" dirty="0"/>
              <a:t>Acute </a:t>
            </a:r>
            <a:r>
              <a:rPr lang="en-IN" dirty="0" err="1"/>
              <a:t>cholecystitis</a:t>
            </a:r>
            <a:r>
              <a:rPr lang="en-IN" dirty="0"/>
              <a:t> is inflammation of the gallbladder wall with decreased gallbladder function. </a:t>
            </a:r>
          </a:p>
          <a:p>
            <a:r>
              <a:rPr lang="en-IN" dirty="0"/>
              <a:t>Acute </a:t>
            </a:r>
            <a:r>
              <a:rPr lang="en-IN" dirty="0" err="1"/>
              <a:t>cholecystitis</a:t>
            </a:r>
            <a:r>
              <a:rPr lang="en-IN" dirty="0"/>
              <a:t> is usually caused by an obstruction at the level of the cystic duct, bacterial infection in the biliary system, or pancreatic enzyme reflux. </a:t>
            </a:r>
          </a:p>
          <a:p>
            <a:r>
              <a:rPr lang="en-IN" dirty="0"/>
              <a:t>Clinically, the patient may present with acute RUQ pain that may radiate to the right scapular area.</a:t>
            </a:r>
          </a:p>
          <a:p>
            <a:r>
              <a:rPr lang="en-IN" dirty="0"/>
              <a:t>Patient may have a </a:t>
            </a:r>
            <a:r>
              <a:rPr lang="en-IN" dirty="0" err="1"/>
              <a:t>sonographic</a:t>
            </a:r>
            <a:r>
              <a:rPr lang="en-IN" dirty="0"/>
              <a:t> Murphy’s sign which is a focal pain over the gallbladder when compressed by the transducer, this should not be confused with clinical Murphy’s sign in which tenderness occur with a sudden stop in inspiratory effort when pressure is applied to the RUQ. </a:t>
            </a:r>
          </a:p>
          <a:p>
            <a:endParaRPr lang="en-IN" dirty="0"/>
          </a:p>
        </p:txBody>
      </p:sp>
      <p:pic>
        <p:nvPicPr>
          <p:cNvPr id="5" name="Picture 4">
            <a:extLst>
              <a:ext uri="{FF2B5EF4-FFF2-40B4-BE49-F238E27FC236}">
                <a16:creationId xmlns:a16="http://schemas.microsoft.com/office/drawing/2014/main" id="{C94A6909-CBCC-1BCE-5C5C-B9A384E911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6113416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err="1"/>
              <a:t>Sonographic</a:t>
            </a:r>
            <a:r>
              <a:rPr lang="en-IN" dirty="0"/>
              <a:t> findings may include diffuse gallbladder wall thickening &gt;3 mm; gallstones; “halo” sign suggestive of </a:t>
            </a:r>
            <a:r>
              <a:rPr lang="en-IN" dirty="0" err="1"/>
              <a:t>subserosal</a:t>
            </a:r>
            <a:r>
              <a:rPr lang="en-IN" dirty="0"/>
              <a:t> </a:t>
            </a:r>
            <a:r>
              <a:rPr lang="en-IN" dirty="0" err="1"/>
              <a:t>edema</a:t>
            </a:r>
            <a:r>
              <a:rPr lang="en-IN" dirty="0"/>
              <a:t>; cystic artery along the anterior gallbladder wall; transverse diameter &gt;5 cm; sludge; and </a:t>
            </a:r>
            <a:r>
              <a:rPr lang="en-IN" dirty="0" err="1"/>
              <a:t>pericholecystic</a:t>
            </a:r>
            <a:r>
              <a:rPr lang="en-IN" dirty="0"/>
              <a:t> fluid. </a:t>
            </a:r>
          </a:p>
          <a:p>
            <a:r>
              <a:rPr lang="en-IN" dirty="0"/>
              <a:t>The laboratory findings in acute </a:t>
            </a:r>
            <a:r>
              <a:rPr lang="en-IN" dirty="0" err="1"/>
              <a:t>cholecystitis</a:t>
            </a:r>
            <a:r>
              <a:rPr lang="en-IN" dirty="0"/>
              <a:t> may include elevated serum bilirubin and abnormal liver function test results.</a:t>
            </a:r>
          </a:p>
          <a:p>
            <a:endParaRPr lang="en-IN" dirty="0"/>
          </a:p>
        </p:txBody>
      </p:sp>
      <p:pic>
        <p:nvPicPr>
          <p:cNvPr id="2" name="Picture 1">
            <a:extLst>
              <a:ext uri="{FF2B5EF4-FFF2-40B4-BE49-F238E27FC236}">
                <a16:creationId xmlns:a16="http://schemas.microsoft.com/office/drawing/2014/main" id="{8C15E19F-8B76-2CF8-21B8-C559E3FA34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0791513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Benign </a:t>
            </a:r>
            <a:r>
              <a:rPr lang="en-IN" dirty="0" err="1"/>
              <a:t>Tumors</a:t>
            </a:r>
            <a:r>
              <a:rPr lang="en-IN" dirty="0"/>
              <a:t> of the Gallbladder—Benign </a:t>
            </a:r>
            <a:r>
              <a:rPr lang="en-IN" dirty="0" err="1"/>
              <a:t>tumors</a:t>
            </a:r>
            <a:r>
              <a:rPr lang="en-IN" dirty="0"/>
              <a:t> of the gallbladder are rare. </a:t>
            </a:r>
          </a:p>
          <a:p>
            <a:r>
              <a:rPr lang="en-IN" dirty="0"/>
              <a:t>They represent overgrowth of the epithelial lining. Patients are usually asymptomatic.</a:t>
            </a:r>
          </a:p>
          <a:p>
            <a:r>
              <a:rPr lang="en-IN" dirty="0"/>
              <a:t>Adenoma—The most common of the benign gallbladder </a:t>
            </a:r>
            <a:r>
              <a:rPr lang="en-IN" dirty="0" err="1"/>
              <a:t>tumors</a:t>
            </a:r>
            <a:r>
              <a:rPr lang="en-IN" dirty="0"/>
              <a:t>. They are frequently located in the fundus portion of the gallbladder and &lt;1 cm in size. </a:t>
            </a:r>
          </a:p>
          <a:p>
            <a:r>
              <a:rPr lang="en-IN" dirty="0" err="1"/>
              <a:t>Sonographically</a:t>
            </a:r>
            <a:r>
              <a:rPr lang="en-IN" dirty="0"/>
              <a:t>, they appear as low-level echo masses that do not shadow or move to the dependent portion of the gallbladder.</a:t>
            </a:r>
          </a:p>
        </p:txBody>
      </p:sp>
      <p:pic>
        <p:nvPicPr>
          <p:cNvPr id="2" name="Picture 1">
            <a:extLst>
              <a:ext uri="{FF2B5EF4-FFF2-40B4-BE49-F238E27FC236}">
                <a16:creationId xmlns:a16="http://schemas.microsoft.com/office/drawing/2014/main" id="{D80A72BC-42CB-BD4E-928D-ECA050F13A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6333190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err="1"/>
              <a:t>Adenomyomatosis</a:t>
            </a:r>
            <a:r>
              <a:rPr lang="en-IN" dirty="0"/>
              <a:t> (a form of hyperplastic </a:t>
            </a:r>
            <a:r>
              <a:rPr lang="en-IN" dirty="0" err="1"/>
              <a:t>cholecystosis</a:t>
            </a:r>
            <a:r>
              <a:rPr lang="en-IN" dirty="0"/>
              <a:t>)—</a:t>
            </a:r>
          </a:p>
          <a:p>
            <a:r>
              <a:rPr lang="en-IN" dirty="0"/>
              <a:t>Characterized by:</a:t>
            </a:r>
          </a:p>
          <a:p>
            <a:r>
              <a:rPr lang="en-IN" dirty="0"/>
              <a:t>• Hyperplasia of the epithelial and muscular surfaces of the gallbladder wall</a:t>
            </a:r>
          </a:p>
          <a:p>
            <a:r>
              <a:rPr lang="en-IN" dirty="0"/>
              <a:t>• Epithelial and intramural diverticula (</a:t>
            </a:r>
            <a:r>
              <a:rPr lang="en-IN" dirty="0" err="1"/>
              <a:t>Rokitansky-Aschoff</a:t>
            </a:r>
            <a:r>
              <a:rPr lang="en-IN" dirty="0"/>
              <a:t> sinuses)</a:t>
            </a:r>
          </a:p>
          <a:p>
            <a:pPr marL="0" indent="0">
              <a:buNone/>
            </a:pPr>
            <a:endParaRPr lang="en-IN" dirty="0"/>
          </a:p>
        </p:txBody>
      </p:sp>
      <p:pic>
        <p:nvPicPr>
          <p:cNvPr id="2" name="Picture 1">
            <a:extLst>
              <a:ext uri="{FF2B5EF4-FFF2-40B4-BE49-F238E27FC236}">
                <a16:creationId xmlns:a16="http://schemas.microsoft.com/office/drawing/2014/main" id="{2AB3FCA7-6D7B-513B-6FCD-89E9D623FB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0446528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There are various types and the most common type is usually located at the fundus. </a:t>
            </a:r>
          </a:p>
          <a:p>
            <a:r>
              <a:rPr lang="en-IN" dirty="0"/>
              <a:t>They may also be annular or they can be either diffuse or segmental</a:t>
            </a:r>
          </a:p>
          <a:p>
            <a:r>
              <a:rPr lang="en-IN" dirty="0" err="1"/>
              <a:t>Sonographic</a:t>
            </a:r>
            <a:r>
              <a:rPr lang="en-IN" dirty="0"/>
              <a:t> appearance:</a:t>
            </a:r>
          </a:p>
          <a:p>
            <a:r>
              <a:rPr lang="en-IN" dirty="0"/>
              <a:t>Diffuse or segmental wall thickening</a:t>
            </a:r>
          </a:p>
          <a:p>
            <a:r>
              <a:rPr lang="en-IN" dirty="0"/>
              <a:t>Intraluminal diverticula (RS sinuses) may be filled with bile, sludge or stones and appear either as anechoic or echogenic with distal shadowing or comet tail </a:t>
            </a:r>
            <a:r>
              <a:rPr lang="en-IN" dirty="0" err="1"/>
              <a:t>artifact</a:t>
            </a:r>
            <a:r>
              <a:rPr lang="en-IN" dirty="0"/>
              <a:t>. </a:t>
            </a:r>
          </a:p>
        </p:txBody>
      </p:sp>
      <p:pic>
        <p:nvPicPr>
          <p:cNvPr id="5" name="Picture 4">
            <a:extLst>
              <a:ext uri="{FF2B5EF4-FFF2-40B4-BE49-F238E27FC236}">
                <a16:creationId xmlns:a16="http://schemas.microsoft.com/office/drawing/2014/main" id="{9CECDEA1-91FB-4E73-F9D7-31257E9420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26729035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The reverberations are the </a:t>
            </a:r>
            <a:r>
              <a:rPr lang="en-IN" dirty="0" err="1"/>
              <a:t>sonographic</a:t>
            </a:r>
            <a:r>
              <a:rPr lang="en-IN" dirty="0"/>
              <a:t> appearance that differentiates this disease from an adenoma.</a:t>
            </a:r>
          </a:p>
          <a:p>
            <a:r>
              <a:rPr lang="en-IN" dirty="0" err="1"/>
              <a:t>Cholesterolosis</a:t>
            </a:r>
            <a:r>
              <a:rPr lang="en-IN" dirty="0"/>
              <a:t> (strawberry gallbladder)—A form of hyperplastic </a:t>
            </a:r>
            <a:r>
              <a:rPr lang="en-IN" dirty="0" err="1"/>
              <a:t>cholecystosis</a:t>
            </a:r>
            <a:r>
              <a:rPr lang="en-IN" dirty="0"/>
              <a:t>. </a:t>
            </a:r>
          </a:p>
          <a:p>
            <a:r>
              <a:rPr lang="en-IN" dirty="0"/>
              <a:t>The gallbladder usually appears normal on ultrasound.</a:t>
            </a:r>
          </a:p>
          <a:p>
            <a:r>
              <a:rPr lang="en-IN" dirty="0"/>
              <a:t>Polyps—Small echo-densities attached to the gallbladder wall by a stalk; they do not shadow or move to the dependent portion of the gallbladder</a:t>
            </a:r>
          </a:p>
          <a:p>
            <a:endParaRPr lang="en-IN" dirty="0"/>
          </a:p>
        </p:txBody>
      </p:sp>
      <p:pic>
        <p:nvPicPr>
          <p:cNvPr id="2" name="Picture 1">
            <a:extLst>
              <a:ext uri="{FF2B5EF4-FFF2-40B4-BE49-F238E27FC236}">
                <a16:creationId xmlns:a16="http://schemas.microsoft.com/office/drawing/2014/main" id="{ACF59B2D-B1B6-D89A-5E83-0D35263921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3382736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Carcinoma of the Gallbladder—The most common biliary malignancy. </a:t>
            </a:r>
          </a:p>
          <a:p>
            <a:r>
              <a:rPr lang="en-IN" dirty="0"/>
              <a:t>Pancreatic cancer is the most common malignant cause to obstruct the biliary tree. </a:t>
            </a:r>
          </a:p>
          <a:p>
            <a:r>
              <a:rPr lang="en-IN" dirty="0"/>
              <a:t>Most carcinomas of the gallbladder are adenomas. </a:t>
            </a:r>
          </a:p>
          <a:p>
            <a:r>
              <a:rPr lang="en-IN" dirty="0"/>
              <a:t>They usually do not occur until the sixth or seventh decade and are more common in women than men. </a:t>
            </a:r>
          </a:p>
          <a:p>
            <a:r>
              <a:rPr lang="en-IN" dirty="0"/>
              <a:t>Previous gallbladder disease; for example, inflammatory disease or gallstones are often precursors. </a:t>
            </a:r>
          </a:p>
        </p:txBody>
      </p:sp>
      <p:pic>
        <p:nvPicPr>
          <p:cNvPr id="2" name="Picture 1">
            <a:extLst>
              <a:ext uri="{FF2B5EF4-FFF2-40B4-BE49-F238E27FC236}">
                <a16:creationId xmlns:a16="http://schemas.microsoft.com/office/drawing/2014/main" id="{4CF698D5-C8D1-EBDA-E00F-EC73E03B53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5030510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Gallstones are usually present. </a:t>
            </a:r>
          </a:p>
          <a:p>
            <a:r>
              <a:rPr lang="en-IN" dirty="0"/>
              <a:t>Most patients have direct extension into the liver and surrounding structures (lymphatic). </a:t>
            </a:r>
          </a:p>
          <a:p>
            <a:r>
              <a:rPr lang="en-IN" dirty="0"/>
              <a:t>Signs and symptoms are similar to chronic </a:t>
            </a:r>
            <a:r>
              <a:rPr lang="en-IN" dirty="0" err="1"/>
              <a:t>cholecystitis</a:t>
            </a:r>
            <a:r>
              <a:rPr lang="en-IN" dirty="0"/>
              <a:t> (may be asymptomatic, loss of appetite, nausea, vomiting, intolerance to fatty foods and dairy products.)</a:t>
            </a:r>
          </a:p>
          <a:p>
            <a:endParaRPr lang="en-IN" dirty="0"/>
          </a:p>
        </p:txBody>
      </p:sp>
      <p:pic>
        <p:nvPicPr>
          <p:cNvPr id="2" name="Picture 1">
            <a:extLst>
              <a:ext uri="{FF2B5EF4-FFF2-40B4-BE49-F238E27FC236}">
                <a16:creationId xmlns:a16="http://schemas.microsoft.com/office/drawing/2014/main" id="{DC2C2786-C06C-1533-6548-51E406710D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7353447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err="1"/>
              <a:t>Sonographic</a:t>
            </a:r>
            <a:r>
              <a:rPr lang="en-IN" dirty="0"/>
              <a:t> appearance usually includes gallstones in addition to:</a:t>
            </a:r>
          </a:p>
          <a:p>
            <a:r>
              <a:rPr lang="en-IN" dirty="0"/>
              <a:t>Solid mass filling the gallbladder lumen (most common type)</a:t>
            </a:r>
          </a:p>
          <a:p>
            <a:r>
              <a:rPr lang="en-IN" dirty="0"/>
              <a:t>Localized thickened gallbladder wall with a small gallbladder lumen</a:t>
            </a:r>
          </a:p>
          <a:p>
            <a:r>
              <a:rPr lang="en-IN" dirty="0" err="1"/>
              <a:t>Fungating</a:t>
            </a:r>
            <a:r>
              <a:rPr lang="en-IN" dirty="0"/>
              <a:t> mass projecting from the gallbladder wall into the lumen</a:t>
            </a:r>
          </a:p>
          <a:p>
            <a:r>
              <a:rPr lang="en-IN" dirty="0"/>
              <a:t>Secondary findings:</a:t>
            </a:r>
          </a:p>
          <a:p>
            <a:r>
              <a:rPr lang="en-IN" dirty="0"/>
              <a:t>Liver metastasis</a:t>
            </a:r>
          </a:p>
          <a:p>
            <a:r>
              <a:rPr lang="en-IN" dirty="0"/>
              <a:t>Regional lymphadenopathy</a:t>
            </a:r>
          </a:p>
          <a:p>
            <a:endParaRPr lang="en-IN" dirty="0"/>
          </a:p>
        </p:txBody>
      </p:sp>
      <p:pic>
        <p:nvPicPr>
          <p:cNvPr id="2" name="Picture 1">
            <a:extLst>
              <a:ext uri="{FF2B5EF4-FFF2-40B4-BE49-F238E27FC236}">
                <a16:creationId xmlns:a16="http://schemas.microsoft.com/office/drawing/2014/main" id="{BC3AABA1-963D-80A7-6846-B8D2162012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3694461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762000"/>
            <a:ext cx="3657600" cy="5652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a:extLst>
              <a:ext uri="{FF2B5EF4-FFF2-40B4-BE49-F238E27FC236}">
                <a16:creationId xmlns:a16="http://schemas.microsoft.com/office/drawing/2014/main" id="{B8E7FF9A-C1B9-36CB-1BFC-060050CD2C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4325884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81000" y="381000"/>
            <a:ext cx="4648200" cy="6399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a:extLst>
              <a:ext uri="{FF2B5EF4-FFF2-40B4-BE49-F238E27FC236}">
                <a16:creationId xmlns:a16="http://schemas.microsoft.com/office/drawing/2014/main" id="{F9EC1146-4970-D9A2-4218-F7C491420B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18145534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Thank you</a:t>
            </a:r>
          </a:p>
        </p:txBody>
      </p:sp>
      <p:sp>
        <p:nvSpPr>
          <p:cNvPr id="3" name="Content Placeholder 2"/>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6D10532E-C462-78CD-3FD1-5FB5DE02D6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9915" y="-535770"/>
            <a:ext cx="1267969" cy="2747939"/>
          </a:xfrm>
          <a:prstGeom prst="rect">
            <a:avLst/>
          </a:prstGeom>
        </p:spPr>
      </p:pic>
    </p:spTree>
    <p:extLst>
      <p:ext uri="{BB962C8B-B14F-4D97-AF65-F5344CB8AC3E}">
        <p14:creationId xmlns:p14="http://schemas.microsoft.com/office/powerpoint/2010/main" val="3204908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628</TotalTime>
  <Words>3332</Words>
  <Application>Microsoft Office PowerPoint</Application>
  <PresentationFormat>On-screen Show (4:3)</PresentationFormat>
  <Paragraphs>218</Paragraphs>
  <Slides>78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78</vt:i4>
      </vt:variant>
    </vt:vector>
  </HeadingPairs>
  <TitlesOfParts>
    <vt:vector size="82" baseType="lpstr">
      <vt:lpstr>Aptos</vt:lpstr>
      <vt:lpstr>Aptos Display</vt:lpstr>
      <vt:lpstr>Arial</vt:lpstr>
      <vt:lpstr>Office Theme</vt:lpstr>
      <vt:lpstr>Ultrasound of gall bladder</vt:lpstr>
      <vt:lpstr>ANATOMY AND PHYSIOLOGY OF THE GALLBLADDER</vt:lpstr>
      <vt:lpstr>PowerPoint Presentation</vt:lpstr>
      <vt:lpstr>PowerPoint Presentation</vt:lpstr>
      <vt:lpstr>Gross Anatomy </vt:lpstr>
      <vt:lpstr>Gross Anatomy</vt:lpstr>
      <vt:lpstr>Gallbladder Variants and Anomalies </vt:lpstr>
      <vt:lpstr>Septated GB</vt:lpstr>
      <vt:lpstr>PowerPoint Presentation</vt:lpstr>
      <vt:lpstr>Function</vt:lpstr>
      <vt:lpstr>PowerPoint Presentation</vt:lpstr>
      <vt:lpstr>Laboratory Values of Biliary Tract Disease</vt:lpstr>
      <vt:lpstr>PowerPoint Presentation</vt:lpstr>
      <vt:lpstr>SONOGRAPHY OF THE GALLBLADDER</vt:lpstr>
      <vt:lpstr>PowerPoint Presentation</vt:lpstr>
      <vt:lpstr>PowerPoint Presentation</vt:lpstr>
      <vt:lpstr>Pathology of the Gallbladder Reasons for Gallbladder Wall Thickening &gt;3 mm (Table 4–6) TABLE 4–6 • Reasons for Gallbladder Wall Thickening &gt;3 mm </vt:lpstr>
      <vt:lpstr>PowerPoint Presentation</vt:lpstr>
      <vt:lpstr>PowerPoint Presentation</vt:lpstr>
      <vt:lpstr>GALLBLADDER PATHOLOGY</vt:lpstr>
      <vt:lpstr>Cholelithiasis </vt:lpstr>
      <vt:lpstr>PowerPoint Presentation</vt:lpstr>
      <vt:lpstr>PowerPoint Presentation</vt:lpstr>
      <vt:lpstr>Cholelithiasis </vt:lpstr>
      <vt:lpstr>Cholelithiasis </vt:lpstr>
      <vt:lpstr>PowerPoint Presentation</vt:lpstr>
      <vt:lpstr>PowerPoint Presentation</vt:lpstr>
      <vt:lpstr>PowerPoint Presentation</vt:lpstr>
      <vt:lpstr>Gallbladder Sludge </vt:lpstr>
      <vt:lpstr>PowerPoint Presentation</vt:lpstr>
      <vt:lpstr>PowerPoint Presentation</vt:lpstr>
      <vt:lpstr>PowerPoint Presentation</vt:lpstr>
      <vt:lpstr>PowerPoint Presentation</vt:lpstr>
      <vt:lpstr>Gallbladder Polyps </vt:lpstr>
      <vt:lpstr>PowerPoint Presentation</vt:lpstr>
      <vt:lpstr>PowerPoint Presentation</vt:lpstr>
      <vt:lpstr>PowerPoint Presentation</vt:lpstr>
      <vt:lpstr>Adenomyomatosis </vt:lpstr>
      <vt:lpstr>PowerPoint Presentation</vt:lpstr>
      <vt:lpstr>PowerPoint Presentation</vt:lpstr>
      <vt:lpstr>Acute Cholecystitis </vt:lpstr>
      <vt:lpstr>PowerPoint Presentation</vt:lpstr>
      <vt:lpstr>PowerPoint Presentation</vt:lpstr>
      <vt:lpstr>Acute Cholecystitis</vt:lpstr>
      <vt:lpstr>PowerPoint Presentation</vt:lpstr>
      <vt:lpstr>Acalculous Cholecystitis </vt:lpstr>
      <vt:lpstr>PowerPoint Presentation</vt:lpstr>
      <vt:lpstr>PowerPoint Presentation</vt:lpstr>
      <vt:lpstr>PowerPoint Presentation</vt:lpstr>
      <vt:lpstr>Gallbladder Enlargement </vt:lpstr>
      <vt:lpstr>PowerPoint Presentation</vt:lpstr>
      <vt:lpstr>PowerPoint Presentation</vt:lpstr>
      <vt:lpstr>PowerPoint Presentation</vt:lpstr>
      <vt:lpstr>PowerPoint Presentation</vt:lpstr>
      <vt:lpstr>Gallbladder Carcinoma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Causes of Low Level Echoes in the Gallbladder Lumen/with Mobility </vt:lpstr>
      <vt:lpstr>Cholelithiasis (Gallstones). </vt:lpstr>
      <vt:lpstr>Structures That Can Mimic Gallstones </vt:lpstr>
      <vt:lpstr>PowerPoint Presentation</vt:lpstr>
      <vt:lpstr>Acute Cholecystitis.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Arivudainambi G. Govindan</dc:creator>
  <cp:lastModifiedBy>Gunanathan RP</cp:lastModifiedBy>
  <cp:revision>33</cp:revision>
  <dcterms:created xsi:type="dcterms:W3CDTF">2006-08-16T00:00:00Z</dcterms:created>
  <dcterms:modified xsi:type="dcterms:W3CDTF">2026-03-07T15:00:34Z</dcterms:modified>
</cp:coreProperties>
</file>