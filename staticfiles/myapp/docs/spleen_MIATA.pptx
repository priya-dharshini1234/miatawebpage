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301" r:id="rId2"/>
    <p:sldId id="257" r:id="rId3"/>
    <p:sldId id="259" r:id="rId4"/>
    <p:sldId id="263" r:id="rId5"/>
    <p:sldId id="260" r:id="rId6"/>
    <p:sldId id="261" r:id="rId7"/>
    <p:sldId id="262" r:id="rId8"/>
    <p:sldId id="291" r:id="rId9"/>
    <p:sldId id="292" r:id="rId10"/>
    <p:sldId id="294" r:id="rId11"/>
    <p:sldId id="295" r:id="rId12"/>
    <p:sldId id="264" r:id="rId13"/>
    <p:sldId id="265" r:id="rId14"/>
    <p:sldId id="293" r:id="rId15"/>
    <p:sldId id="266" r:id="rId16"/>
    <p:sldId id="267" r:id="rId17"/>
    <p:sldId id="268" r:id="rId18"/>
    <p:sldId id="296" r:id="rId19"/>
    <p:sldId id="269" r:id="rId20"/>
    <p:sldId id="302" r:id="rId21"/>
    <p:sldId id="303" r:id="rId22"/>
    <p:sldId id="304" r:id="rId23"/>
    <p:sldId id="305"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309" r:id="rId37"/>
    <p:sldId id="283" r:id="rId38"/>
    <p:sldId id="284" r:id="rId39"/>
    <p:sldId id="307" r:id="rId40"/>
    <p:sldId id="285" r:id="rId41"/>
    <p:sldId id="286" r:id="rId42"/>
    <p:sldId id="308" r:id="rId43"/>
    <p:sldId id="287" r:id="rId44"/>
    <p:sldId id="288" r:id="rId45"/>
    <p:sldId id="289" r:id="rId46"/>
    <p:sldId id="290" r:id="rId47"/>
    <p:sldId id="297" r:id="rId48"/>
    <p:sldId id="298" r:id="rId49"/>
    <p:sldId id="299" r:id="rId50"/>
    <p:sldId id="300"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660"/>
  </p:normalViewPr>
  <p:slideViewPr>
    <p:cSldViewPr>
      <p:cViewPr varScale="1">
        <p:scale>
          <a:sx n="58" d="100"/>
          <a:sy n="58" d="100"/>
        </p:scale>
        <p:origin x="145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62F17-8DDB-289A-16C3-DB4817B8F69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A5604A44-2360-BFF5-7932-1F9386BFAEA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047C7DC-F533-7DAE-809C-881135F19B91}"/>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5" name="Footer Placeholder 4">
            <a:extLst>
              <a:ext uri="{FF2B5EF4-FFF2-40B4-BE49-F238E27FC236}">
                <a16:creationId xmlns:a16="http://schemas.microsoft.com/office/drawing/2014/main" id="{E31642EF-42C0-2FF5-B69D-8E7255D7B91E}"/>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6" name="Slide Number Placeholder 5">
            <a:extLst>
              <a:ext uri="{FF2B5EF4-FFF2-40B4-BE49-F238E27FC236}">
                <a16:creationId xmlns:a16="http://schemas.microsoft.com/office/drawing/2014/main" id="{2C44670A-6B9A-C50C-71F5-8C53433088E6}"/>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673119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53FE-C596-42E1-C026-688CF95A667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F438-C43C-1E8C-B599-73E2F44AD1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F96054-30D3-2E4E-8A5A-47F91B6EFADF}"/>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5" name="Footer Placeholder 4">
            <a:extLst>
              <a:ext uri="{FF2B5EF4-FFF2-40B4-BE49-F238E27FC236}">
                <a16:creationId xmlns:a16="http://schemas.microsoft.com/office/drawing/2014/main" id="{C79BA157-0834-DA80-A75B-019607CB2DA8}"/>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6" name="Slide Number Placeholder 5">
            <a:extLst>
              <a:ext uri="{FF2B5EF4-FFF2-40B4-BE49-F238E27FC236}">
                <a16:creationId xmlns:a16="http://schemas.microsoft.com/office/drawing/2014/main" id="{268E0EFC-1B4A-E4EF-676B-8860CEC619BE}"/>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2148087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99C1E-9C23-5538-BA0B-DA30935E692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DB29D16-4D70-0333-E9E5-9B7CC7825324}"/>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E149E-A093-D4C0-B8A9-ECDE28B63F45}"/>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5" name="Footer Placeholder 4">
            <a:extLst>
              <a:ext uri="{FF2B5EF4-FFF2-40B4-BE49-F238E27FC236}">
                <a16:creationId xmlns:a16="http://schemas.microsoft.com/office/drawing/2014/main" id="{B3367FB8-C148-6344-45F6-0E89ACD440A4}"/>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6" name="Slide Number Placeholder 5">
            <a:extLst>
              <a:ext uri="{FF2B5EF4-FFF2-40B4-BE49-F238E27FC236}">
                <a16:creationId xmlns:a16="http://schemas.microsoft.com/office/drawing/2014/main" id="{C9B5DF40-7BAE-6A12-99E5-F89F42EF22D6}"/>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2416649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9818B-AF2D-EE0D-FF86-1D48090A60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39DE5D-39B4-98A3-99C9-F11E9D4B08B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DD1B03E-8C5C-CE3A-AF53-DB08F21A7A1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C6E6E27-2B12-2994-21C1-BCD0EB7A49AC}"/>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6" name="Footer Placeholder 5">
            <a:extLst>
              <a:ext uri="{FF2B5EF4-FFF2-40B4-BE49-F238E27FC236}">
                <a16:creationId xmlns:a16="http://schemas.microsoft.com/office/drawing/2014/main" id="{38F29A2F-0FC8-84DA-6962-606A7C2C0877}"/>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7" name="Slide Number Placeholder 6">
            <a:extLst>
              <a:ext uri="{FF2B5EF4-FFF2-40B4-BE49-F238E27FC236}">
                <a16:creationId xmlns:a16="http://schemas.microsoft.com/office/drawing/2014/main" id="{549A4B8C-66EB-2BAB-0129-5BF26FAF406B}"/>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1215339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E3AB-A2CA-28A3-E606-7A0C8717E12B}"/>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A6182CF-389C-FDC1-2325-8E961C12350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947BFFB-8B1A-F668-57AE-841F53942E2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4CF06C4-DEEA-607C-EE7C-D771F48C1D4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B74EF86-FC12-D6F2-7129-EDA477E6521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A6CE3A9-95A2-A478-F528-84F4E2CDCF20}"/>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8" name="Footer Placeholder 7">
            <a:extLst>
              <a:ext uri="{FF2B5EF4-FFF2-40B4-BE49-F238E27FC236}">
                <a16:creationId xmlns:a16="http://schemas.microsoft.com/office/drawing/2014/main" id="{28AD30DC-3DD4-C55B-A3F4-957C0EFF6DA2}"/>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9" name="Slide Number Placeholder 8">
            <a:extLst>
              <a:ext uri="{FF2B5EF4-FFF2-40B4-BE49-F238E27FC236}">
                <a16:creationId xmlns:a16="http://schemas.microsoft.com/office/drawing/2014/main" id="{53B8768B-1C33-12B8-A108-4F56AC537CA5}"/>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28847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BB2B5-43EF-AD08-87C5-59FC8CA42C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11216EE-04F6-1DCA-7AC9-82F0D851E9C3}"/>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4" name="Footer Placeholder 3">
            <a:extLst>
              <a:ext uri="{FF2B5EF4-FFF2-40B4-BE49-F238E27FC236}">
                <a16:creationId xmlns:a16="http://schemas.microsoft.com/office/drawing/2014/main" id="{1133F735-E7BC-AF8B-AE16-67FED35638D6}"/>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5" name="Slide Number Placeholder 4">
            <a:extLst>
              <a:ext uri="{FF2B5EF4-FFF2-40B4-BE49-F238E27FC236}">
                <a16:creationId xmlns:a16="http://schemas.microsoft.com/office/drawing/2014/main" id="{53F6ACB9-61AE-36EE-727A-80433B30B958}"/>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176282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9DBE92-F6E3-827E-CE29-C976514BCA1F}"/>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3" name="Footer Placeholder 2">
            <a:extLst>
              <a:ext uri="{FF2B5EF4-FFF2-40B4-BE49-F238E27FC236}">
                <a16:creationId xmlns:a16="http://schemas.microsoft.com/office/drawing/2014/main" id="{DE048080-A253-FF2E-9C8D-AFAF3C8C2FBF}"/>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4" name="Slide Number Placeholder 3">
            <a:extLst>
              <a:ext uri="{FF2B5EF4-FFF2-40B4-BE49-F238E27FC236}">
                <a16:creationId xmlns:a16="http://schemas.microsoft.com/office/drawing/2014/main" id="{F71074D3-3789-BDC5-17B1-F3A313471109}"/>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2978971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2B746-0E8B-A6E6-60E0-07A756C3AF6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BCEAB00-9A41-6E9E-79C9-99095E83EC7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0C1D7C5-E4E2-B9C5-D6A5-A38D4C4B744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90A3E16-9F93-C463-2BC3-1445438ADAE4}"/>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6" name="Footer Placeholder 5">
            <a:extLst>
              <a:ext uri="{FF2B5EF4-FFF2-40B4-BE49-F238E27FC236}">
                <a16:creationId xmlns:a16="http://schemas.microsoft.com/office/drawing/2014/main" id="{1E5F4D0A-3BED-4AF7-D5A8-E28A70EAE687}"/>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7" name="Slide Number Placeholder 6">
            <a:extLst>
              <a:ext uri="{FF2B5EF4-FFF2-40B4-BE49-F238E27FC236}">
                <a16:creationId xmlns:a16="http://schemas.microsoft.com/office/drawing/2014/main" id="{A57F2AAA-6040-D7DE-A971-6E1B934FD937}"/>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178645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74E0A-05B8-D4B9-3BE4-8C82FEA6F39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63BB567-F465-A024-6C64-A840FBDD1A1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a:extLst>
              <a:ext uri="{FF2B5EF4-FFF2-40B4-BE49-F238E27FC236}">
                <a16:creationId xmlns:a16="http://schemas.microsoft.com/office/drawing/2014/main" id="{04E23991-0265-FAD9-18E5-F5AF8092E0D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3170ABF-DBCE-C264-F640-481A363FCB0F}"/>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6" name="Footer Placeholder 5">
            <a:extLst>
              <a:ext uri="{FF2B5EF4-FFF2-40B4-BE49-F238E27FC236}">
                <a16:creationId xmlns:a16="http://schemas.microsoft.com/office/drawing/2014/main" id="{CD8C4728-8BD0-1EE0-5DDF-AC42D52531CF}"/>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7" name="Slide Number Placeholder 6">
            <a:extLst>
              <a:ext uri="{FF2B5EF4-FFF2-40B4-BE49-F238E27FC236}">
                <a16:creationId xmlns:a16="http://schemas.microsoft.com/office/drawing/2014/main" id="{20884900-F9FF-F002-F97F-09855B51E9F3}"/>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1793202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690D5-5799-A75A-B5E1-DBC0D174C10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EDC3E2-CD61-CE94-4271-6E3BF6FD5B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CC48E62-4A8E-AC81-99FB-2010712E6006}"/>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5" name="Footer Placeholder 4">
            <a:extLst>
              <a:ext uri="{FF2B5EF4-FFF2-40B4-BE49-F238E27FC236}">
                <a16:creationId xmlns:a16="http://schemas.microsoft.com/office/drawing/2014/main" id="{1E1A6AF9-A2B8-5271-988E-2118F42C53A1}"/>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6" name="Slide Number Placeholder 5">
            <a:extLst>
              <a:ext uri="{FF2B5EF4-FFF2-40B4-BE49-F238E27FC236}">
                <a16:creationId xmlns:a16="http://schemas.microsoft.com/office/drawing/2014/main" id="{CABDD81C-1FD7-A977-52A4-DE63FF8015C8}"/>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2650557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53F61B-99F7-31A8-EE29-126498BBE643}"/>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2C6A85F-B8B2-77AD-3A73-C24EDA47DA2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893679-4784-B196-50C5-32CC5E98E6DC}"/>
              </a:ext>
            </a:extLst>
          </p:cNvPr>
          <p:cNvSpPr>
            <a:spLocks noGrp="1"/>
          </p:cNvSpPr>
          <p:nvPr>
            <p:ph type="dt" sz="half" idx="10"/>
          </p:nvPr>
        </p:nvSpPr>
        <p:spPr/>
        <p:txBody>
          <a:bodyPr/>
          <a:lstStyle/>
          <a:p>
            <a:fld id="{1D8BD707-D9CF-40AE-B4C6-C98DA3205C09}" type="datetimeFigureOut">
              <a:rPr lang="en-US" smtClean="0">
                <a:solidFill>
                  <a:srgbClr val="676A55">
                    <a:tint val="60000"/>
                    <a:satMod val="155000"/>
                  </a:srgbClr>
                </a:solidFill>
              </a:rPr>
              <a:pPr/>
              <a:t>3/7/2026</a:t>
            </a:fld>
            <a:endParaRPr lang="en-US">
              <a:solidFill>
                <a:srgbClr val="676A55">
                  <a:tint val="60000"/>
                  <a:satMod val="155000"/>
                </a:srgbClr>
              </a:solidFill>
            </a:endParaRPr>
          </a:p>
        </p:txBody>
      </p:sp>
      <p:sp>
        <p:nvSpPr>
          <p:cNvPr id="5" name="Footer Placeholder 4">
            <a:extLst>
              <a:ext uri="{FF2B5EF4-FFF2-40B4-BE49-F238E27FC236}">
                <a16:creationId xmlns:a16="http://schemas.microsoft.com/office/drawing/2014/main" id="{5A0ECBCD-CAF7-E64A-46D5-AF47E46E7F9C}"/>
              </a:ext>
            </a:extLst>
          </p:cNvPr>
          <p:cNvSpPr>
            <a:spLocks noGrp="1"/>
          </p:cNvSpPr>
          <p:nvPr>
            <p:ph type="ftr" sz="quarter" idx="11"/>
          </p:nvPr>
        </p:nvSpPr>
        <p:spPr/>
        <p:txBody>
          <a:bodyPr/>
          <a:lstStyle/>
          <a:p>
            <a:endParaRPr lang="en-US">
              <a:solidFill>
                <a:srgbClr val="676A55">
                  <a:tint val="60000"/>
                  <a:satMod val="155000"/>
                </a:srgbClr>
              </a:solidFill>
            </a:endParaRPr>
          </a:p>
        </p:txBody>
      </p:sp>
      <p:sp>
        <p:nvSpPr>
          <p:cNvPr id="6" name="Slide Number Placeholder 5">
            <a:extLst>
              <a:ext uri="{FF2B5EF4-FFF2-40B4-BE49-F238E27FC236}">
                <a16:creationId xmlns:a16="http://schemas.microsoft.com/office/drawing/2014/main" id="{2DD57233-5D01-2110-A2AE-62473B0499F4}"/>
              </a:ext>
            </a:extLst>
          </p:cNvPr>
          <p:cNvSpPr>
            <a:spLocks noGrp="1"/>
          </p:cNvSpPr>
          <p:nvPr>
            <p:ph type="sldNum" sz="quarter" idx="12"/>
          </p:nvPr>
        </p:nvSpPr>
        <p:spPr/>
        <p:txBody>
          <a:bodyPr/>
          <a:lstStyle/>
          <a:p>
            <a:fld id="{B6F15528-21DE-4FAA-801E-634DDDAF4B2B}" type="slidenum">
              <a:rPr lang="en-US" smtClean="0">
                <a:solidFill>
                  <a:srgbClr val="EAEBDE">
                    <a:shade val="90000"/>
                  </a:srgbClr>
                </a:solidFill>
              </a:rPr>
              <a:pPr/>
              <a:t>‹#›</a:t>
            </a:fld>
            <a:endParaRPr lang="en-US">
              <a:solidFill>
                <a:srgbClr val="EAEBDE">
                  <a:shade val="90000"/>
                </a:srgbClr>
              </a:solidFill>
            </a:endParaRPr>
          </a:p>
        </p:txBody>
      </p:sp>
    </p:spTree>
    <p:extLst>
      <p:ext uri="{BB962C8B-B14F-4D97-AF65-F5344CB8AC3E}">
        <p14:creationId xmlns:p14="http://schemas.microsoft.com/office/powerpoint/2010/main" val="754778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84497F-E027-C390-6DAE-9B08AA2E1A7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5C7BDA5-96FA-A76F-66F9-0E1AB1FE05E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0C169D-E754-D814-F6C7-75A9F6EF542D}"/>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F1DBD26C-B3F4-26D2-3F20-4325472D254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58C85B-706A-F9CA-3AFB-9D4FDF93D84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954671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80816F2-EFB0-44E7-94C9-B65CB34DFA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25195"/>
            <a:ext cx="4498532" cy="2806506"/>
          </a:xfrm>
        </p:spPr>
        <p:txBody>
          <a:bodyPr anchor="b">
            <a:normAutofit/>
          </a:bodyPr>
          <a:lstStyle/>
          <a:p>
            <a:r>
              <a:rPr lang="en-IN" sz="3500"/>
              <a:t>Sonography of spleen </a:t>
            </a:r>
          </a:p>
        </p:txBody>
      </p:sp>
      <p:sp>
        <p:nvSpPr>
          <p:cNvPr id="3" name="Content Placeholder 2"/>
          <p:cNvSpPr>
            <a:spLocks noGrp="1"/>
          </p:cNvSpPr>
          <p:nvPr>
            <p:ph idx="1"/>
          </p:nvPr>
        </p:nvSpPr>
        <p:spPr>
          <a:xfrm>
            <a:off x="628650" y="3526300"/>
            <a:ext cx="4498532" cy="2588458"/>
          </a:xfrm>
        </p:spPr>
        <p:txBody>
          <a:bodyPr>
            <a:normAutofit/>
          </a:bodyPr>
          <a:lstStyle/>
          <a:p>
            <a:r>
              <a:rPr lang="en-IN" sz="1700" dirty="0"/>
              <a:t>By </a:t>
            </a:r>
          </a:p>
          <a:p>
            <a:pPr marL="0" indent="0">
              <a:buNone/>
            </a:pPr>
            <a:r>
              <a:rPr lang="en-IN" sz="1700" dirty="0"/>
              <a:t>    Faculty of MIATA</a:t>
            </a:r>
          </a:p>
          <a:p>
            <a:endParaRPr lang="en-IN" sz="1700" dirty="0"/>
          </a:p>
        </p:txBody>
      </p:sp>
      <p:pic>
        <p:nvPicPr>
          <p:cNvPr id="5" name="Picture 4">
            <a:extLst>
              <a:ext uri="{FF2B5EF4-FFF2-40B4-BE49-F238E27FC236}">
                <a16:creationId xmlns:a16="http://schemas.microsoft.com/office/drawing/2014/main" id="{67DCB72E-9E67-8F8E-A6FE-7923C8FB69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70259" y="557189"/>
            <a:ext cx="2658152" cy="5747358"/>
          </a:xfrm>
          <a:prstGeom prst="rect">
            <a:avLst/>
          </a:prstGeom>
        </p:spPr>
      </p:pic>
    </p:spTree>
    <p:extLst>
      <p:ext uri="{BB962C8B-B14F-4D97-AF65-F5344CB8AC3E}">
        <p14:creationId xmlns:p14="http://schemas.microsoft.com/office/powerpoint/2010/main" val="1804721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28650" y="3281403"/>
            <a:ext cx="7886700" cy="143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1A285AA6-1DCC-CEF3-FCFC-1356989907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03579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SPLEEN</a:t>
            </a:r>
          </a:p>
        </p:txBody>
      </p:sp>
      <p:sp>
        <p:nvSpPr>
          <p:cNvPr id="3" name="Content Placeholder 2"/>
          <p:cNvSpPr>
            <a:spLocks noGrp="1"/>
          </p:cNvSpPr>
          <p:nvPr>
            <p:ph idx="1"/>
          </p:nvPr>
        </p:nvSpPr>
        <p:spPr/>
        <p:txBody>
          <a:bodyPr>
            <a:normAutofit/>
          </a:bodyPr>
          <a:lstStyle/>
          <a:p>
            <a:r>
              <a:rPr lang="en-IN" dirty="0"/>
              <a:t>The spleen, the largest structure of the </a:t>
            </a:r>
            <a:r>
              <a:rPr lang="en-IN" dirty="0" err="1"/>
              <a:t>reticuloendothelial</a:t>
            </a:r>
            <a:r>
              <a:rPr lang="en-IN" dirty="0"/>
              <a:t> system, is an </a:t>
            </a:r>
            <a:r>
              <a:rPr lang="en-IN" dirty="0" err="1"/>
              <a:t>intraperitoneal</a:t>
            </a:r>
            <a:r>
              <a:rPr lang="en-IN" dirty="0"/>
              <a:t> organ located within the left upper quadrant of the abdomen just below the diaphragm whose primary objective is to filter the peripheral blood (Table 6-1). </a:t>
            </a:r>
          </a:p>
          <a:p>
            <a:r>
              <a:rPr lang="en-IN" dirty="0"/>
              <a:t>The spleen is also considered the largest lymphatic organ. </a:t>
            </a:r>
          </a:p>
          <a:p>
            <a:r>
              <a:rPr lang="en-IN" dirty="0"/>
              <a:t>It begins to develop around the fifth week of gestation. </a:t>
            </a:r>
          </a:p>
          <a:p>
            <a:r>
              <a:rPr lang="en-IN" dirty="0"/>
              <a:t>In the </a:t>
            </a:r>
            <a:r>
              <a:rPr lang="en-IN" dirty="0" err="1"/>
              <a:t>fetus</a:t>
            </a:r>
            <a:r>
              <a:rPr lang="en-IN" dirty="0"/>
              <a:t>, it is responsible for erythropoiesis</a:t>
            </a:r>
          </a:p>
        </p:txBody>
      </p:sp>
      <p:pic>
        <p:nvPicPr>
          <p:cNvPr id="4" name="Picture 3">
            <a:extLst>
              <a:ext uri="{FF2B5EF4-FFF2-40B4-BE49-F238E27FC236}">
                <a16:creationId xmlns:a16="http://schemas.microsoft.com/office/drawing/2014/main" id="{62678121-6A33-2A40-F9F7-D4C7E28293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12175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7833" y="2057401"/>
            <a:ext cx="6755167" cy="329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0E596E7E-E683-C429-003C-06A0AA2A94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92811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SPLEEN</a:t>
            </a:r>
          </a:p>
        </p:txBody>
      </p:sp>
      <p:sp>
        <p:nvSpPr>
          <p:cNvPr id="3" name="Content Placeholder 2"/>
          <p:cNvSpPr>
            <a:spLocks noGrp="1"/>
          </p:cNvSpPr>
          <p:nvPr>
            <p:ph idx="1"/>
          </p:nvPr>
        </p:nvSpPr>
        <p:spPr/>
        <p:txBody>
          <a:bodyPr>
            <a:normAutofit/>
          </a:bodyPr>
          <a:lstStyle/>
          <a:p>
            <a:r>
              <a:rPr lang="en-IN" dirty="0"/>
              <a:t>In childhood, it plays an important role in the </a:t>
            </a:r>
            <a:r>
              <a:rPr lang="en-IN" dirty="0" err="1"/>
              <a:t>defense</a:t>
            </a:r>
            <a:r>
              <a:rPr lang="en-IN" dirty="0"/>
              <a:t> against infection, while in adults it produces lymphocytes and monocytes.</a:t>
            </a:r>
          </a:p>
          <a:p>
            <a:r>
              <a:rPr lang="en-IN" dirty="0"/>
              <a:t>Although red blood cell production in the adult is primarily performed by the red bone marrow, the spleen’s hematopoietic function can return in cases of severe </a:t>
            </a:r>
            <a:r>
              <a:rPr lang="en-IN" dirty="0" err="1"/>
              <a:t>anemia</a:t>
            </a:r>
            <a:r>
              <a:rPr lang="en-IN" dirty="0"/>
              <a:t>. </a:t>
            </a:r>
          </a:p>
          <a:p>
            <a:r>
              <a:rPr lang="en-IN" dirty="0"/>
              <a:t>This is referred to as </a:t>
            </a:r>
            <a:r>
              <a:rPr lang="en-IN" dirty="0" err="1"/>
              <a:t>extramedullary</a:t>
            </a:r>
            <a:r>
              <a:rPr lang="en-IN" dirty="0"/>
              <a:t> </a:t>
            </a:r>
            <a:r>
              <a:rPr lang="en-IN" dirty="0" err="1"/>
              <a:t>hematopoiesis</a:t>
            </a:r>
            <a:endParaRPr lang="en-IN" dirty="0"/>
          </a:p>
        </p:txBody>
      </p:sp>
      <p:pic>
        <p:nvPicPr>
          <p:cNvPr id="4" name="Picture 3">
            <a:extLst>
              <a:ext uri="{FF2B5EF4-FFF2-40B4-BE49-F238E27FC236}">
                <a16:creationId xmlns:a16="http://schemas.microsoft.com/office/drawing/2014/main" id="{7BE5749B-8908-4B0F-DACA-CBAC59C22C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0723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SPLEEN</a:t>
            </a:r>
          </a:p>
        </p:txBody>
      </p:sp>
      <p:sp>
        <p:nvSpPr>
          <p:cNvPr id="3" name="Content Placeholder 2"/>
          <p:cNvSpPr>
            <a:spLocks noGrp="1"/>
          </p:cNvSpPr>
          <p:nvPr>
            <p:ph idx="1"/>
          </p:nvPr>
        </p:nvSpPr>
        <p:spPr/>
        <p:txBody>
          <a:bodyPr>
            <a:normAutofit/>
          </a:bodyPr>
          <a:lstStyle/>
          <a:p>
            <a:r>
              <a:rPr lang="en-IN" dirty="0"/>
              <a:t>The spleen is composed of specialized tissues called white pulp and red pulp. </a:t>
            </a:r>
          </a:p>
          <a:p>
            <a:r>
              <a:rPr lang="en-IN" dirty="0"/>
              <a:t>The lymphatic function of the spleen is performed by the white pulp, which produces lymphocytes to aid in the immune response.</a:t>
            </a:r>
          </a:p>
          <a:p>
            <a:r>
              <a:rPr lang="en-IN" dirty="0"/>
              <a:t>The </a:t>
            </a:r>
            <a:r>
              <a:rPr lang="en-IN" dirty="0" err="1"/>
              <a:t>redpulp</a:t>
            </a:r>
            <a:r>
              <a:rPr lang="en-IN" dirty="0"/>
              <a:t> performs the phagocytic function of the spleen.</a:t>
            </a:r>
          </a:p>
          <a:p>
            <a:r>
              <a:rPr lang="en-IN" dirty="0"/>
              <a:t>Phagocytes engulf and destroy pathogens.</a:t>
            </a:r>
          </a:p>
        </p:txBody>
      </p:sp>
      <p:pic>
        <p:nvPicPr>
          <p:cNvPr id="4" name="Picture 3">
            <a:extLst>
              <a:ext uri="{FF2B5EF4-FFF2-40B4-BE49-F238E27FC236}">
                <a16:creationId xmlns:a16="http://schemas.microsoft.com/office/drawing/2014/main" id="{965A5167-1DAB-5EB4-C60D-CF6D03460E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845474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SPLEEN</a:t>
            </a:r>
          </a:p>
        </p:txBody>
      </p:sp>
      <p:sp>
        <p:nvSpPr>
          <p:cNvPr id="3" name="Content Placeholder 2"/>
          <p:cNvSpPr>
            <a:spLocks noGrp="1"/>
          </p:cNvSpPr>
          <p:nvPr>
            <p:ph idx="1"/>
          </p:nvPr>
        </p:nvSpPr>
        <p:spPr/>
        <p:txBody>
          <a:bodyPr/>
          <a:lstStyle/>
          <a:p>
            <a:r>
              <a:rPr lang="en-IN" dirty="0"/>
              <a:t>The spleen also removes irregular cells from the bloodstream and retains them through a process called culling. </a:t>
            </a:r>
          </a:p>
          <a:p>
            <a:r>
              <a:rPr lang="en-IN" dirty="0"/>
              <a:t>It can also clean red blood cells of unwanted material, a process called pitting.</a:t>
            </a:r>
          </a:p>
        </p:txBody>
      </p:sp>
      <p:pic>
        <p:nvPicPr>
          <p:cNvPr id="4" name="Picture 3">
            <a:extLst>
              <a:ext uri="{FF2B5EF4-FFF2-40B4-BE49-F238E27FC236}">
                <a16:creationId xmlns:a16="http://schemas.microsoft.com/office/drawing/2014/main" id="{A186A99B-8B3B-B350-F32A-BDD2D40C02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40452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Gross Anatomy</a:t>
            </a:r>
            <a:br>
              <a:rPr lang="en-IN" dirty="0"/>
            </a:br>
            <a:endParaRPr lang="en-IN" dirty="0"/>
          </a:p>
        </p:txBody>
      </p:sp>
      <p:sp>
        <p:nvSpPr>
          <p:cNvPr id="3" name="Content Placeholder 2"/>
          <p:cNvSpPr>
            <a:spLocks noGrp="1"/>
          </p:cNvSpPr>
          <p:nvPr>
            <p:ph idx="1"/>
          </p:nvPr>
        </p:nvSpPr>
        <p:spPr/>
        <p:txBody>
          <a:bodyPr>
            <a:normAutofit/>
          </a:bodyPr>
          <a:lstStyle/>
          <a:p>
            <a:r>
              <a:rPr lang="en-IN" dirty="0"/>
              <a:t>The spleen is the largest mass of </a:t>
            </a:r>
            <a:r>
              <a:rPr lang="en-IN" dirty="0" err="1"/>
              <a:t>reticuloendothelial</a:t>
            </a:r>
            <a:r>
              <a:rPr lang="en-IN" dirty="0"/>
              <a:t> tissue in the body. </a:t>
            </a:r>
          </a:p>
          <a:p>
            <a:r>
              <a:rPr lang="en-IN" dirty="0"/>
              <a:t>It normally measures approximately 12–14 cm in length, 7 cm in width, and 3 cm in </a:t>
            </a:r>
            <a:r>
              <a:rPr lang="en-IN" dirty="0" err="1"/>
              <a:t>anteroposterior</a:t>
            </a:r>
            <a:r>
              <a:rPr lang="en-IN" dirty="0"/>
              <a:t> dimension. </a:t>
            </a:r>
          </a:p>
          <a:p>
            <a:r>
              <a:rPr lang="en-IN" dirty="0"/>
              <a:t>It is located in the left upper quadrant, left hypochondriac region, inferior to the diaphragm, and </a:t>
            </a:r>
            <a:r>
              <a:rPr lang="en-IN" dirty="0" err="1"/>
              <a:t>posterolateral</a:t>
            </a:r>
            <a:r>
              <a:rPr lang="en-IN" dirty="0"/>
              <a:t> to the stomach. </a:t>
            </a:r>
          </a:p>
          <a:p>
            <a:r>
              <a:rPr lang="en-IN" dirty="0"/>
              <a:t>The tail of the pancreas is medial to the splenic hilum. The left kidney is medial and posterior to the spleen; the stomach and left colic flexure are both medial to the spleen.</a:t>
            </a:r>
          </a:p>
        </p:txBody>
      </p:sp>
      <p:pic>
        <p:nvPicPr>
          <p:cNvPr id="4" name="Picture 3">
            <a:extLst>
              <a:ext uri="{FF2B5EF4-FFF2-40B4-BE49-F238E27FC236}">
                <a16:creationId xmlns:a16="http://schemas.microsoft.com/office/drawing/2014/main" id="{F44CD2EA-125C-FB63-C902-93BE2469F1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623865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spleen is an </a:t>
            </a:r>
            <a:r>
              <a:rPr lang="en-IN" dirty="0" err="1"/>
              <a:t>intraperitoneal</a:t>
            </a:r>
            <a:r>
              <a:rPr lang="en-IN" dirty="0"/>
              <a:t> organ except for the hilum area. </a:t>
            </a:r>
          </a:p>
          <a:p>
            <a:r>
              <a:rPr lang="en-IN" dirty="0"/>
              <a:t>The capsule is </a:t>
            </a:r>
            <a:r>
              <a:rPr lang="en-IN" dirty="0" err="1"/>
              <a:t>fibroelastic</a:t>
            </a:r>
            <a:r>
              <a:rPr lang="en-IN" dirty="0"/>
              <a:t> and is composed of small fibrous bands that give the spleen its framework and permit it to expand in size.</a:t>
            </a:r>
          </a:p>
        </p:txBody>
      </p:sp>
      <p:pic>
        <p:nvPicPr>
          <p:cNvPr id="4" name="Picture 3">
            <a:extLst>
              <a:ext uri="{FF2B5EF4-FFF2-40B4-BE49-F238E27FC236}">
                <a16:creationId xmlns:a16="http://schemas.microsoft.com/office/drawing/2014/main" id="{CDDE578C-ED29-4039-993B-FC2D6DDF52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84927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spleen is not essential to life, but it has important functions, especially during the </a:t>
            </a:r>
            <a:r>
              <a:rPr lang="en-IN" dirty="0" err="1"/>
              <a:t>fetal</a:t>
            </a:r>
            <a:r>
              <a:rPr lang="en-IN" dirty="0"/>
              <a:t> period. </a:t>
            </a:r>
          </a:p>
          <a:p>
            <a:r>
              <a:rPr lang="en-IN" dirty="0"/>
              <a:t>It is the main component of the </a:t>
            </a:r>
            <a:r>
              <a:rPr lang="en-IN" dirty="0" err="1"/>
              <a:t>reticuloendothelial</a:t>
            </a:r>
            <a:r>
              <a:rPr lang="en-IN" dirty="0"/>
              <a:t> system and its functions include the breakdown of </a:t>
            </a:r>
            <a:r>
              <a:rPr lang="en-IN" dirty="0" err="1"/>
              <a:t>hemoglobin</a:t>
            </a:r>
            <a:r>
              <a:rPr lang="en-IN" dirty="0"/>
              <a:t> and the formation of bile pigment; formation of antibodies, production of lymphocytes and plasma cells; a reservoir for blood; and blood formation in the </a:t>
            </a:r>
            <a:r>
              <a:rPr lang="en-IN" dirty="0" err="1"/>
              <a:t>fetus</a:t>
            </a:r>
            <a:r>
              <a:rPr lang="en-IN" dirty="0"/>
              <a:t> (erythrocytes) or when there is severe </a:t>
            </a:r>
            <a:r>
              <a:rPr lang="en-IN" dirty="0" err="1"/>
              <a:t>anemia</a:t>
            </a:r>
            <a:endParaRPr lang="en-IN" dirty="0"/>
          </a:p>
        </p:txBody>
      </p:sp>
      <p:pic>
        <p:nvPicPr>
          <p:cNvPr id="4" name="Picture 3">
            <a:extLst>
              <a:ext uri="{FF2B5EF4-FFF2-40B4-BE49-F238E27FC236}">
                <a16:creationId xmlns:a16="http://schemas.microsoft.com/office/drawing/2014/main" id="{70D96DF5-7EC3-4F29-D665-4317F927B0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681244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spleen is a homogeneous organ and is either slightly less echogenic or </a:t>
            </a:r>
            <a:r>
              <a:rPr lang="en-IN" dirty="0" err="1"/>
              <a:t>isoechoic</a:t>
            </a:r>
            <a:r>
              <a:rPr lang="en-IN" dirty="0"/>
              <a:t> to the normal liver. </a:t>
            </a:r>
          </a:p>
          <a:p>
            <a:r>
              <a:rPr lang="en-IN" dirty="0"/>
              <a:t>The spleen is crescent shaped with a convex superior lateral border and concave medially. The inferior portion is tapered.</a:t>
            </a:r>
          </a:p>
        </p:txBody>
      </p:sp>
      <p:pic>
        <p:nvPicPr>
          <p:cNvPr id="4" name="Picture 3">
            <a:extLst>
              <a:ext uri="{FF2B5EF4-FFF2-40B4-BE49-F238E27FC236}">
                <a16:creationId xmlns:a16="http://schemas.microsoft.com/office/drawing/2014/main" id="{3C41EE61-6BED-8D33-773A-10CE62711E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958291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Vascular Anatomy of the Spleen</a:t>
            </a:r>
            <a:br>
              <a:rPr lang="en-IN" dirty="0"/>
            </a:br>
            <a:endParaRPr lang="en-IN" dirty="0"/>
          </a:p>
        </p:txBody>
      </p:sp>
      <p:sp>
        <p:nvSpPr>
          <p:cNvPr id="3" name="Content Placeholder 2"/>
          <p:cNvSpPr>
            <a:spLocks noGrp="1"/>
          </p:cNvSpPr>
          <p:nvPr>
            <p:ph idx="1"/>
          </p:nvPr>
        </p:nvSpPr>
        <p:spPr/>
        <p:txBody>
          <a:bodyPr>
            <a:normAutofit/>
          </a:bodyPr>
          <a:lstStyle/>
          <a:p>
            <a:r>
              <a:rPr lang="en-IN" dirty="0"/>
              <a:t>The splenic artery is a branch of the celiac trunk.</a:t>
            </a:r>
          </a:p>
          <a:p>
            <a:r>
              <a:rPr lang="en-IN" dirty="0"/>
              <a:t>From the trunk, the splenic artery courses laterally toward the spleen. </a:t>
            </a:r>
          </a:p>
          <a:p>
            <a:r>
              <a:rPr lang="en-IN" dirty="0"/>
              <a:t>It marks the superior border of the pancreatic body and tail. </a:t>
            </a:r>
          </a:p>
          <a:p>
            <a:r>
              <a:rPr lang="en-IN" dirty="0"/>
              <a:t>This is why the splenic artery can be confused for the main pancreatic duct in some patients. </a:t>
            </a:r>
          </a:p>
          <a:p>
            <a:r>
              <a:rPr lang="en-IN" dirty="0"/>
              <a:t>The splenic artery enters the spleen at the splenic hilum superior and anterior to the splenic vein. </a:t>
            </a:r>
          </a:p>
        </p:txBody>
      </p:sp>
      <p:pic>
        <p:nvPicPr>
          <p:cNvPr id="4" name="Picture 3">
            <a:extLst>
              <a:ext uri="{FF2B5EF4-FFF2-40B4-BE49-F238E27FC236}">
                <a16:creationId xmlns:a16="http://schemas.microsoft.com/office/drawing/2014/main" id="{C171A1C3-2F7D-9281-257A-B18DE5D2C3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26596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splenic vein exits the spleen and travels along the posterior border of the pancreatic tail and body. </a:t>
            </a:r>
          </a:p>
          <a:p>
            <a:r>
              <a:rPr lang="en-IN" dirty="0"/>
              <a:t>It joins with the superior mesenteric vein posterior to the pancreatic neck to form the portal vein (Fig. 6-1).</a:t>
            </a:r>
          </a:p>
          <a:p>
            <a:endParaRPr lang="en-IN" dirty="0"/>
          </a:p>
        </p:txBody>
      </p:sp>
      <p:pic>
        <p:nvPicPr>
          <p:cNvPr id="4" name="Picture 3">
            <a:extLst>
              <a:ext uri="{FF2B5EF4-FFF2-40B4-BE49-F238E27FC236}">
                <a16:creationId xmlns:a16="http://schemas.microsoft.com/office/drawing/2014/main" id="{803C413D-C94D-25E3-3556-674167689B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66472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splenic artery, which is a branch of the celiac axis, courses along the anterior superior border of the pancreas and enters into the spleen at the splenic hilum. </a:t>
            </a:r>
          </a:p>
          <a:p>
            <a:r>
              <a:rPr lang="en-IN" dirty="0"/>
              <a:t>The splenic artery divides into six branches once it enters into the spleen. </a:t>
            </a:r>
          </a:p>
          <a:p>
            <a:r>
              <a:rPr lang="en-IN" dirty="0"/>
              <a:t>The splenic vein exits at the splenic hilum and courses transversely across along the posterior aspect of the pancreas and joins with the superior mesenteric vein to form the portal vein.</a:t>
            </a:r>
          </a:p>
          <a:p>
            <a:endParaRPr lang="en-IN" dirty="0"/>
          </a:p>
        </p:txBody>
      </p:sp>
      <p:pic>
        <p:nvPicPr>
          <p:cNvPr id="4" name="Picture 3">
            <a:extLst>
              <a:ext uri="{FF2B5EF4-FFF2-40B4-BE49-F238E27FC236}">
                <a16:creationId xmlns:a16="http://schemas.microsoft.com/office/drawing/2014/main" id="{F40021EF-43F2-1511-E25F-1B58CCA80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158643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76343" y="1825625"/>
            <a:ext cx="7391313"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67A3F78B-078A-1DFC-500C-4C7711C3FD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557463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SONOGRAPHY OF THE SPLEEN</a:t>
            </a:r>
            <a:br>
              <a:rPr lang="en-IN" dirty="0"/>
            </a:br>
            <a:endParaRPr lang="en-IN" dirty="0"/>
          </a:p>
        </p:txBody>
      </p:sp>
      <p:sp>
        <p:nvSpPr>
          <p:cNvPr id="3" name="Content Placeholder 2"/>
          <p:cNvSpPr>
            <a:spLocks noGrp="1"/>
          </p:cNvSpPr>
          <p:nvPr>
            <p:ph idx="1"/>
          </p:nvPr>
        </p:nvSpPr>
        <p:spPr/>
        <p:txBody>
          <a:bodyPr>
            <a:normAutofit/>
          </a:bodyPr>
          <a:lstStyle/>
          <a:p>
            <a:r>
              <a:rPr lang="en-IN" dirty="0"/>
              <a:t>Most often, the spleen is best visualized with deep inspiration, with the patient lying on his or her right side.</a:t>
            </a:r>
          </a:p>
          <a:p>
            <a:r>
              <a:rPr lang="en-IN" dirty="0"/>
              <a:t>The </a:t>
            </a:r>
            <a:r>
              <a:rPr lang="en-IN" dirty="0" err="1"/>
              <a:t>sonographic</a:t>
            </a:r>
            <a:r>
              <a:rPr lang="en-IN" dirty="0"/>
              <a:t> appearance of the normal spleen is frequently </a:t>
            </a:r>
            <a:r>
              <a:rPr lang="en-IN" dirty="0" err="1"/>
              <a:t>isoechoic</a:t>
            </a:r>
            <a:r>
              <a:rPr lang="en-IN" dirty="0"/>
              <a:t> to the liver, although it may be slightly less echogenic. </a:t>
            </a:r>
          </a:p>
          <a:p>
            <a:r>
              <a:rPr lang="en-IN" dirty="0"/>
              <a:t>The adult spleen has a concave, pointed inferior margin and a convex superior border.</a:t>
            </a:r>
          </a:p>
        </p:txBody>
      </p:sp>
      <p:pic>
        <p:nvPicPr>
          <p:cNvPr id="4" name="Picture 3">
            <a:extLst>
              <a:ext uri="{FF2B5EF4-FFF2-40B4-BE49-F238E27FC236}">
                <a16:creationId xmlns:a16="http://schemas.microsoft.com/office/drawing/2014/main" id="{74ECA87F-123C-2950-C828-E9D8ECF97D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726832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The size of the spleen in the adult varies with age and sex. </a:t>
            </a:r>
          </a:p>
          <a:p>
            <a:r>
              <a:rPr lang="en-IN" dirty="0"/>
              <a:t>The spleen decreases in size with advancing age and may enlarge when pathology is present. </a:t>
            </a:r>
          </a:p>
          <a:p>
            <a:r>
              <a:rPr lang="en-IN" dirty="0"/>
              <a:t>The splenic hilum, located along the medial surface of the spleen, is the location of the splenic vessels. Some persons may have an accessory spleen. </a:t>
            </a:r>
          </a:p>
          <a:p>
            <a:r>
              <a:rPr lang="en-IN" dirty="0"/>
              <a:t>This small, round island of splenic tissue is located near the splenic hilum or possibly near the tail of the pancreas. </a:t>
            </a:r>
          </a:p>
          <a:p>
            <a:r>
              <a:rPr lang="en-IN" dirty="0"/>
              <a:t>An accessory spleen will appear </a:t>
            </a:r>
            <a:r>
              <a:rPr lang="en-IN" dirty="0" err="1"/>
              <a:t>isoechoic</a:t>
            </a:r>
            <a:r>
              <a:rPr lang="en-IN" dirty="0"/>
              <a:t> to the spleen (Fig. 6-2).</a:t>
            </a:r>
          </a:p>
        </p:txBody>
      </p:sp>
      <p:pic>
        <p:nvPicPr>
          <p:cNvPr id="4" name="Picture 3">
            <a:extLst>
              <a:ext uri="{FF2B5EF4-FFF2-40B4-BE49-F238E27FC236}">
                <a16:creationId xmlns:a16="http://schemas.microsoft.com/office/drawing/2014/main" id="{2CA7DD8F-0475-A02D-5CE7-9DD4B94EA5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82313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Congenital Anomalies</a:t>
            </a:r>
          </a:p>
        </p:txBody>
      </p:sp>
      <p:sp>
        <p:nvSpPr>
          <p:cNvPr id="3" name="Content Placeholder 2"/>
          <p:cNvSpPr>
            <a:spLocks noGrp="1"/>
          </p:cNvSpPr>
          <p:nvPr>
            <p:ph idx="1"/>
          </p:nvPr>
        </p:nvSpPr>
        <p:spPr/>
        <p:txBody>
          <a:bodyPr>
            <a:normAutofit fontScale="85000" lnSpcReduction="20000"/>
          </a:bodyPr>
          <a:lstStyle/>
          <a:p>
            <a:r>
              <a:rPr lang="en-IN" dirty="0"/>
              <a:t>The most common congenital anomaly is the accessory spleen. </a:t>
            </a:r>
          </a:p>
          <a:p>
            <a:r>
              <a:rPr lang="en-IN" dirty="0"/>
              <a:t>Splenic tissue separate from the spleen is usually found near the splenic hilum or adjacent to the tail of the pancreas. </a:t>
            </a:r>
          </a:p>
          <a:p>
            <a:r>
              <a:rPr lang="en-IN" b="1" dirty="0"/>
              <a:t>Accessory spleens </a:t>
            </a:r>
            <a:r>
              <a:rPr lang="en-IN" dirty="0"/>
              <a:t>are typically small and round and have the same echogenicity as the spleen. </a:t>
            </a:r>
          </a:p>
          <a:p>
            <a:r>
              <a:rPr lang="en-IN" dirty="0"/>
              <a:t>They are difficult to demonstrate on ultrasound and must be differentiated from lymphadenopathy.</a:t>
            </a:r>
          </a:p>
          <a:p>
            <a:r>
              <a:rPr lang="en-IN" dirty="0"/>
              <a:t>A </a:t>
            </a:r>
            <a:r>
              <a:rPr lang="en-IN" b="1" dirty="0"/>
              <a:t>wandering spleen </a:t>
            </a:r>
            <a:r>
              <a:rPr lang="en-IN" dirty="0"/>
              <a:t>is a spleen in an ectopic location usually found in the pelvis. </a:t>
            </a:r>
          </a:p>
          <a:p>
            <a:r>
              <a:rPr lang="en-IN" dirty="0"/>
              <a:t>The patient usually presents with an abdominal or pelvic mass and intermittent pain. </a:t>
            </a:r>
          </a:p>
          <a:p>
            <a:r>
              <a:rPr lang="en-IN" b="1" dirty="0"/>
              <a:t>Splenic torsion </a:t>
            </a:r>
            <a:r>
              <a:rPr lang="en-IN" dirty="0"/>
              <a:t>may occur and </a:t>
            </a:r>
            <a:r>
              <a:rPr lang="en-IN" dirty="0" err="1"/>
              <a:t>color</a:t>
            </a:r>
            <a:r>
              <a:rPr lang="en-IN" dirty="0"/>
              <a:t> Doppler is used to document the vascularity.</a:t>
            </a:r>
          </a:p>
          <a:p>
            <a:r>
              <a:rPr lang="en-IN" b="1" dirty="0" err="1"/>
              <a:t>Asplenia</a:t>
            </a:r>
            <a:r>
              <a:rPr lang="en-IN" dirty="0"/>
              <a:t> is rare and often associated with </a:t>
            </a:r>
            <a:r>
              <a:rPr lang="en-IN" b="1" dirty="0">
                <a:solidFill>
                  <a:srgbClr val="FF0000"/>
                </a:solidFill>
              </a:rPr>
              <a:t>congenital heart disease </a:t>
            </a:r>
            <a:r>
              <a:rPr lang="en-IN" dirty="0"/>
              <a:t>and other anomalies.</a:t>
            </a:r>
          </a:p>
          <a:p>
            <a:r>
              <a:rPr lang="en-IN" dirty="0"/>
              <a:t>Aplasia is failure of the spleen to develop.</a:t>
            </a:r>
          </a:p>
        </p:txBody>
      </p:sp>
      <p:pic>
        <p:nvPicPr>
          <p:cNvPr id="4" name="Picture 3">
            <a:extLst>
              <a:ext uri="{FF2B5EF4-FFF2-40B4-BE49-F238E27FC236}">
                <a16:creationId xmlns:a16="http://schemas.microsoft.com/office/drawing/2014/main" id="{A01F5551-3A3C-DAF6-463E-684699CB9C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981124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1" y="184828"/>
            <a:ext cx="4677018" cy="5941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878AE54F-55D0-BB2B-0FEE-E083218C37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076872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Wandering spleen</a:t>
            </a:r>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84854"/>
            <a:ext cx="4943098" cy="3114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5266" y="4419600"/>
            <a:ext cx="4182534" cy="240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1D12E8E7-58EE-2D3A-AB66-405911E880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367283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Splenic torsion </a:t>
            </a:r>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682" y="1690689"/>
            <a:ext cx="3693749" cy="264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3848" y="3792816"/>
            <a:ext cx="3693749" cy="2384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E0D1D604-FD77-D388-7A63-6BF2CFE96C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4191376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asplenia</a:t>
            </a:r>
            <a:endParaRPr lang="en-IN" dirty="0"/>
          </a:p>
        </p:txBody>
      </p:sp>
      <p:sp>
        <p:nvSpPr>
          <p:cNvPr id="3" name="Content Placeholder 2"/>
          <p:cNvSpPr>
            <a:spLocks noGrp="1"/>
          </p:cNvSpPr>
          <p:nvPr>
            <p:ph idx="1"/>
          </p:nvPr>
        </p:nvSpPr>
        <p:spPr/>
        <p:txBody>
          <a:bodyPr/>
          <a:lstStyle/>
          <a:p>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62786"/>
            <a:ext cx="4743450" cy="4077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8229E6F-F5FA-69F7-EB42-898A7E7C97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956129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polysplenia</a:t>
            </a:r>
            <a:endParaRPr lang="en-IN" dirty="0"/>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133600"/>
            <a:ext cx="3600450" cy="320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8796" y="2971801"/>
            <a:ext cx="3707004" cy="303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A9A43684-A79D-BE47-F9AF-FC49C47B57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648078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PATHOLOGY OF THE SPLEEN</a:t>
            </a:r>
            <a:br>
              <a:rPr lang="en-IN" dirty="0"/>
            </a:br>
            <a:endParaRPr lang="en-IN" dirty="0"/>
          </a:p>
        </p:txBody>
      </p:sp>
      <p:sp>
        <p:nvSpPr>
          <p:cNvPr id="3" name="Content Placeholder 2"/>
          <p:cNvSpPr>
            <a:spLocks noGrp="1"/>
          </p:cNvSpPr>
          <p:nvPr>
            <p:ph idx="1"/>
          </p:nvPr>
        </p:nvSpPr>
        <p:spPr/>
        <p:txBody>
          <a:bodyPr>
            <a:normAutofit/>
          </a:bodyPr>
          <a:lstStyle/>
          <a:p>
            <a:r>
              <a:rPr lang="en-IN" dirty="0"/>
              <a:t>Splenomegaly </a:t>
            </a:r>
          </a:p>
          <a:p>
            <a:r>
              <a:rPr lang="en-IN" dirty="0"/>
              <a:t>The most common abnormality of the spleen is splenomegaly. </a:t>
            </a:r>
          </a:p>
          <a:p>
            <a:r>
              <a:rPr lang="en-IN" dirty="0"/>
              <a:t>Enlargement of the spleen can be manually suspected on physical examination and subsequently confirmed using </a:t>
            </a:r>
            <a:r>
              <a:rPr lang="en-IN" dirty="0" err="1"/>
              <a:t>sonography</a:t>
            </a:r>
            <a:r>
              <a:rPr lang="en-IN" dirty="0"/>
              <a:t>. </a:t>
            </a:r>
          </a:p>
          <a:p>
            <a:r>
              <a:rPr lang="en-IN" dirty="0"/>
              <a:t>Although the splenic size varies with age and sex, the spleen should never measure more than 12 cm in length and 5 cm in thickness.</a:t>
            </a:r>
          </a:p>
        </p:txBody>
      </p:sp>
      <p:pic>
        <p:nvPicPr>
          <p:cNvPr id="4" name="Picture 3">
            <a:extLst>
              <a:ext uri="{FF2B5EF4-FFF2-40B4-BE49-F238E27FC236}">
                <a16:creationId xmlns:a16="http://schemas.microsoft.com/office/drawing/2014/main" id="{9AA291F2-BF03-0AB3-4E84-71A0A683F6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518902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most common cause of splenomegaly is portal hypertension.</a:t>
            </a:r>
          </a:p>
          <a:p>
            <a:r>
              <a:rPr lang="en-IN" dirty="0"/>
              <a:t>Other causes of splenomegaly include acquired immunodeficiency syndrome (AIDS), mononucleosis, </a:t>
            </a:r>
            <a:r>
              <a:rPr lang="en-IN" dirty="0" err="1"/>
              <a:t>leukemia</a:t>
            </a:r>
            <a:r>
              <a:rPr lang="en-IN" dirty="0"/>
              <a:t>, lymphoma, infection, a </a:t>
            </a:r>
            <a:r>
              <a:rPr lang="en-IN" dirty="0" err="1"/>
              <a:t>pediatric</a:t>
            </a:r>
            <a:r>
              <a:rPr lang="en-IN" dirty="0"/>
              <a:t> sickle cell </a:t>
            </a:r>
            <a:r>
              <a:rPr lang="en-IN" dirty="0" err="1"/>
              <a:t>anemia</a:t>
            </a:r>
            <a:r>
              <a:rPr lang="en-IN" dirty="0"/>
              <a:t> crisis, and trauma</a:t>
            </a:r>
          </a:p>
        </p:txBody>
      </p:sp>
      <p:pic>
        <p:nvPicPr>
          <p:cNvPr id="4" name="Picture 3">
            <a:extLst>
              <a:ext uri="{FF2B5EF4-FFF2-40B4-BE49-F238E27FC236}">
                <a16:creationId xmlns:a16="http://schemas.microsoft.com/office/drawing/2014/main" id="{850EA697-3E89-7836-63B6-91C283BB7B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171676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When portal hypertension is suspected, the sonographer should evaluate the splenic hilum closely for the associated abdominal </a:t>
            </a:r>
            <a:r>
              <a:rPr lang="en-IN" dirty="0" err="1"/>
              <a:t>varices</a:t>
            </a:r>
            <a:r>
              <a:rPr lang="en-IN" dirty="0"/>
              <a:t> seen in this condition. </a:t>
            </a:r>
          </a:p>
          <a:p>
            <a:r>
              <a:rPr lang="en-IN" dirty="0"/>
              <a:t>It is important to note that massive splenomegaly can lead to spontaneous splenic rupture.</a:t>
            </a:r>
          </a:p>
        </p:txBody>
      </p:sp>
      <p:pic>
        <p:nvPicPr>
          <p:cNvPr id="4" name="Picture 3">
            <a:extLst>
              <a:ext uri="{FF2B5EF4-FFF2-40B4-BE49-F238E27FC236}">
                <a16:creationId xmlns:a16="http://schemas.microsoft.com/office/drawing/2014/main" id="{E19604A1-408A-EC71-C64E-09A7D71C25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315484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219200"/>
            <a:ext cx="6203700" cy="414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4F7D37F0-F65D-D185-356C-4445CD44E1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05586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Splenic Cysts</a:t>
            </a:r>
            <a:br>
              <a:rPr lang="en-IN" dirty="0"/>
            </a:br>
            <a:endParaRPr lang="en-IN" dirty="0"/>
          </a:p>
        </p:txBody>
      </p:sp>
      <p:sp>
        <p:nvSpPr>
          <p:cNvPr id="3" name="Content Placeholder 2"/>
          <p:cNvSpPr>
            <a:spLocks noGrp="1"/>
          </p:cNvSpPr>
          <p:nvPr>
            <p:ph idx="1"/>
          </p:nvPr>
        </p:nvSpPr>
        <p:spPr/>
        <p:txBody>
          <a:bodyPr>
            <a:normAutofit/>
          </a:bodyPr>
          <a:lstStyle/>
          <a:p>
            <a:r>
              <a:rPr lang="en-IN" dirty="0"/>
              <a:t>Most often, true splenic cysts will have thin walls, an anechoic </a:t>
            </a:r>
            <a:r>
              <a:rPr lang="en-IN" dirty="0" err="1"/>
              <a:t>center</a:t>
            </a:r>
            <a:r>
              <a:rPr lang="en-IN" dirty="0"/>
              <a:t>, and posterior enhancement. </a:t>
            </a:r>
          </a:p>
          <a:p>
            <a:r>
              <a:rPr lang="en-IN" dirty="0"/>
              <a:t>However, cysts found in the spleen can appear complex, particularly those associated with trauma (see section “Splenic Trauma”). </a:t>
            </a:r>
          </a:p>
          <a:p>
            <a:r>
              <a:rPr lang="en-IN" dirty="0"/>
              <a:t>Other complex appearance cysts could be displaced pancreatic </a:t>
            </a:r>
            <a:r>
              <a:rPr lang="en-IN" dirty="0" err="1"/>
              <a:t>pseudocysts</a:t>
            </a:r>
            <a:r>
              <a:rPr lang="en-IN" dirty="0"/>
              <a:t>, congenital cysts, </a:t>
            </a:r>
            <a:r>
              <a:rPr lang="en-IN" dirty="0" err="1"/>
              <a:t>hydatid</a:t>
            </a:r>
            <a:r>
              <a:rPr lang="en-IN" dirty="0"/>
              <a:t> cysts, or cystic metastasis.</a:t>
            </a:r>
          </a:p>
        </p:txBody>
      </p:sp>
      <p:pic>
        <p:nvPicPr>
          <p:cNvPr id="4" name="Picture 3">
            <a:extLst>
              <a:ext uri="{FF2B5EF4-FFF2-40B4-BE49-F238E27FC236}">
                <a16:creationId xmlns:a16="http://schemas.microsoft.com/office/drawing/2014/main" id="{00BE7AA9-E727-9C6E-FD24-A3EAF55568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47678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8800" y="1676400"/>
            <a:ext cx="7039500" cy="3725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DD4C37EF-4AD0-EA2F-3385-48AE60F1BF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506776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Splenic Infarct</a:t>
            </a:r>
            <a:br>
              <a:rPr lang="en-IN" dirty="0"/>
            </a:br>
            <a:endParaRPr lang="en-IN" dirty="0"/>
          </a:p>
        </p:txBody>
      </p:sp>
      <p:sp>
        <p:nvSpPr>
          <p:cNvPr id="3" name="Content Placeholder 2"/>
          <p:cNvSpPr>
            <a:spLocks noGrp="1"/>
          </p:cNvSpPr>
          <p:nvPr>
            <p:ph idx="1"/>
          </p:nvPr>
        </p:nvSpPr>
        <p:spPr/>
        <p:txBody>
          <a:bodyPr>
            <a:normAutofit/>
          </a:bodyPr>
          <a:lstStyle/>
          <a:p>
            <a:r>
              <a:rPr lang="en-IN" dirty="0"/>
              <a:t>Tissue that has been deprived of oxygen will eventually die. </a:t>
            </a:r>
          </a:p>
          <a:p>
            <a:r>
              <a:rPr lang="en-IN" dirty="0"/>
              <a:t>This is referred to as an infarct. </a:t>
            </a:r>
          </a:p>
          <a:p>
            <a:r>
              <a:rPr lang="en-IN" dirty="0"/>
              <a:t>A splenic infarct may be caused by bacterial endocarditis, </a:t>
            </a:r>
            <a:r>
              <a:rPr lang="en-IN" dirty="0" err="1"/>
              <a:t>tumor</a:t>
            </a:r>
            <a:r>
              <a:rPr lang="en-IN" dirty="0"/>
              <a:t> embolization, </a:t>
            </a:r>
            <a:r>
              <a:rPr lang="en-IN" dirty="0" err="1"/>
              <a:t>vasculitis</a:t>
            </a:r>
            <a:r>
              <a:rPr lang="en-IN" dirty="0"/>
              <a:t>, and lymphoma. </a:t>
            </a:r>
          </a:p>
          <a:p>
            <a:r>
              <a:rPr lang="en-IN" dirty="0"/>
              <a:t>It will appear as a </a:t>
            </a:r>
            <a:r>
              <a:rPr lang="en-IN" dirty="0" err="1"/>
              <a:t>hypoechoic</a:t>
            </a:r>
            <a:r>
              <a:rPr lang="en-IN" dirty="0"/>
              <a:t>, wedge-shaped mass within the spleen in the acute stage (Fig. 6-3). </a:t>
            </a:r>
          </a:p>
          <a:p>
            <a:r>
              <a:rPr lang="en-IN" dirty="0"/>
              <a:t>In the chronic stage, splenic infarcts tend to appear more echogenic compared to adjacent normal splenic tissue.</a:t>
            </a:r>
          </a:p>
        </p:txBody>
      </p:sp>
      <p:pic>
        <p:nvPicPr>
          <p:cNvPr id="4" name="Picture 3">
            <a:extLst>
              <a:ext uri="{FF2B5EF4-FFF2-40B4-BE49-F238E27FC236}">
                <a16:creationId xmlns:a16="http://schemas.microsoft.com/office/drawing/2014/main" id="{1D110A44-BE4E-EFD9-8C1B-A27C59E736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528188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803" y="365126"/>
            <a:ext cx="4656182" cy="57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BA9A427-05AA-BF2E-ADCD-995643DD07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371582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6051150" cy="30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B914C259-5712-5FEA-C097-E1C050102A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715346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Splenic Trauma</a:t>
            </a:r>
            <a:br>
              <a:rPr lang="en-IN" dirty="0"/>
            </a:br>
            <a:endParaRPr lang="en-IN" dirty="0"/>
          </a:p>
        </p:txBody>
      </p:sp>
      <p:sp>
        <p:nvSpPr>
          <p:cNvPr id="3" name="Content Placeholder 2"/>
          <p:cNvSpPr>
            <a:spLocks noGrp="1"/>
          </p:cNvSpPr>
          <p:nvPr>
            <p:ph idx="1"/>
          </p:nvPr>
        </p:nvSpPr>
        <p:spPr/>
        <p:txBody>
          <a:bodyPr>
            <a:normAutofit/>
          </a:bodyPr>
          <a:lstStyle/>
          <a:p>
            <a:r>
              <a:rPr lang="en-IN" dirty="0"/>
              <a:t>The spleen is often injured in cases of blunt trauma. Patients complain of left upper quadrant pain and will have decreased </a:t>
            </a:r>
            <a:r>
              <a:rPr lang="en-IN" dirty="0" err="1"/>
              <a:t>hematocrit</a:t>
            </a:r>
            <a:r>
              <a:rPr lang="en-IN" dirty="0"/>
              <a:t> with splenic trauma. </a:t>
            </a:r>
          </a:p>
          <a:p>
            <a:r>
              <a:rPr lang="en-IN" dirty="0"/>
              <a:t>Fresh bleeds within the spleen can be difficult to identify with </a:t>
            </a:r>
            <a:r>
              <a:rPr lang="en-IN" dirty="0" err="1"/>
              <a:t>sonography</a:t>
            </a:r>
            <a:r>
              <a:rPr lang="en-IN" dirty="0"/>
              <a:t>, as they may appear </a:t>
            </a:r>
            <a:r>
              <a:rPr lang="en-IN" dirty="0" err="1"/>
              <a:t>isoechoic</a:t>
            </a:r>
            <a:r>
              <a:rPr lang="en-IN" dirty="0"/>
              <a:t> to the splenic tissue and can be located either </a:t>
            </a:r>
            <a:r>
              <a:rPr lang="en-IN" dirty="0" err="1"/>
              <a:t>subcapsular</a:t>
            </a:r>
            <a:r>
              <a:rPr lang="en-IN" dirty="0"/>
              <a:t> to or within the splenic parenchyma</a:t>
            </a:r>
          </a:p>
        </p:txBody>
      </p:sp>
      <p:pic>
        <p:nvPicPr>
          <p:cNvPr id="4" name="Picture 3">
            <a:extLst>
              <a:ext uri="{FF2B5EF4-FFF2-40B4-BE49-F238E27FC236}">
                <a16:creationId xmlns:a16="http://schemas.microsoft.com/office/drawing/2014/main" id="{F471C223-C93D-193C-2F03-875D294CB9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927132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As the hematoma undergoes </a:t>
            </a:r>
            <a:r>
              <a:rPr lang="en-IN" dirty="0" err="1"/>
              <a:t>lysis</a:t>
            </a:r>
            <a:r>
              <a:rPr lang="en-IN" dirty="0"/>
              <a:t>, the </a:t>
            </a:r>
            <a:r>
              <a:rPr lang="en-IN" dirty="0" err="1"/>
              <a:t>sonographic</a:t>
            </a:r>
            <a:r>
              <a:rPr lang="en-IN" dirty="0"/>
              <a:t> appearance may range from anechoic to echogenic or possibly complex (Fig. 6-4).</a:t>
            </a:r>
          </a:p>
          <a:p>
            <a:r>
              <a:rPr lang="en-IN" dirty="0"/>
              <a:t>Occasionally, a laceration may be noted as an echogenic line within the spleen immediately following trauma.</a:t>
            </a:r>
          </a:p>
          <a:p>
            <a:r>
              <a:rPr lang="en-IN" dirty="0"/>
              <a:t>In time, </a:t>
            </a:r>
            <a:r>
              <a:rPr lang="en-IN" dirty="0" err="1"/>
              <a:t>hemorrhagic</a:t>
            </a:r>
            <a:r>
              <a:rPr lang="en-IN" dirty="0"/>
              <a:t> cysts that result from trauma may have calcified walls</a:t>
            </a:r>
          </a:p>
        </p:txBody>
      </p:sp>
      <p:pic>
        <p:nvPicPr>
          <p:cNvPr id="4" name="Picture 3">
            <a:extLst>
              <a:ext uri="{FF2B5EF4-FFF2-40B4-BE49-F238E27FC236}">
                <a16:creationId xmlns:a16="http://schemas.microsoft.com/office/drawing/2014/main" id="{94E03D2D-C233-97BE-554E-5D0C8464CB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524768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1906" y="457200"/>
            <a:ext cx="5842250" cy="566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B8197C1-7F89-3953-EBCC-92D85A3576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366117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130" y="1749743"/>
            <a:ext cx="7183070" cy="435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EB951E2B-639B-9DE4-EBC6-923AA8F069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4111828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371600"/>
            <a:ext cx="6102000" cy="413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FE1DAF4-0CEA-38A2-15B9-E9824AC873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758110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Splenic </a:t>
            </a:r>
            <a:r>
              <a:rPr lang="en-IN" dirty="0" err="1"/>
              <a:t>Hemangioma</a:t>
            </a:r>
            <a:br>
              <a:rPr lang="en-IN" dirty="0"/>
            </a:br>
            <a:endParaRPr lang="en-IN" dirty="0"/>
          </a:p>
        </p:txBody>
      </p:sp>
      <p:sp>
        <p:nvSpPr>
          <p:cNvPr id="3" name="Content Placeholder 2"/>
          <p:cNvSpPr>
            <a:spLocks noGrp="1"/>
          </p:cNvSpPr>
          <p:nvPr>
            <p:ph idx="1"/>
          </p:nvPr>
        </p:nvSpPr>
        <p:spPr/>
        <p:txBody>
          <a:bodyPr>
            <a:normAutofit/>
          </a:bodyPr>
          <a:lstStyle/>
          <a:p>
            <a:r>
              <a:rPr lang="en-IN" dirty="0"/>
              <a:t>The </a:t>
            </a:r>
            <a:r>
              <a:rPr lang="en-IN" dirty="0" err="1"/>
              <a:t>hemangioma</a:t>
            </a:r>
            <a:r>
              <a:rPr lang="en-IN" dirty="0"/>
              <a:t> is the most common benign </a:t>
            </a:r>
            <a:r>
              <a:rPr lang="en-IN" dirty="0" err="1"/>
              <a:t>tumor</a:t>
            </a:r>
            <a:r>
              <a:rPr lang="en-IN" dirty="0"/>
              <a:t> of the spleen. </a:t>
            </a:r>
          </a:p>
          <a:p>
            <a:r>
              <a:rPr lang="en-IN" dirty="0"/>
              <a:t>A splenic </a:t>
            </a:r>
            <a:r>
              <a:rPr lang="en-IN" dirty="0" err="1"/>
              <a:t>hemangioma</a:t>
            </a:r>
            <a:r>
              <a:rPr lang="en-IN" dirty="0"/>
              <a:t> will most often appear as a well-defined, </a:t>
            </a:r>
            <a:r>
              <a:rPr lang="en-IN" dirty="0" err="1"/>
              <a:t>hyperechoic</a:t>
            </a:r>
            <a:r>
              <a:rPr lang="en-IN" dirty="0"/>
              <a:t> mass.</a:t>
            </a:r>
          </a:p>
          <a:p>
            <a:r>
              <a:rPr lang="en-IN" dirty="0"/>
              <a:t>The patient with a </a:t>
            </a:r>
            <a:r>
              <a:rPr lang="en-IN" dirty="0" err="1"/>
              <a:t>hemangioma</a:t>
            </a:r>
            <a:r>
              <a:rPr lang="en-IN" dirty="0"/>
              <a:t> will be asymptomatic, although pain may occur with </a:t>
            </a:r>
            <a:r>
              <a:rPr lang="en-IN" dirty="0" err="1"/>
              <a:t>hemorrhage</a:t>
            </a:r>
            <a:r>
              <a:rPr lang="en-IN" dirty="0"/>
              <a:t>.</a:t>
            </a:r>
          </a:p>
        </p:txBody>
      </p:sp>
      <p:pic>
        <p:nvPicPr>
          <p:cNvPr id="4" name="Picture 3">
            <a:extLst>
              <a:ext uri="{FF2B5EF4-FFF2-40B4-BE49-F238E27FC236}">
                <a16:creationId xmlns:a16="http://schemas.microsoft.com/office/drawing/2014/main" id="{E0B34105-7CCD-678B-7CA5-8CD97DE340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559917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664" y="1295400"/>
            <a:ext cx="6517136" cy="4881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D324A276-34F6-103E-A50E-D44CA2D603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112443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8150" y="2090886"/>
            <a:ext cx="6051150" cy="15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399" y="3629099"/>
            <a:ext cx="5194653"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9632AC74-02B4-21E6-F00A-1D8B832DFA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40410019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Granulomatous Disease in the Spleen</a:t>
            </a:r>
            <a:br>
              <a:rPr lang="en-IN" dirty="0"/>
            </a:br>
            <a:endParaRPr lang="en-IN" dirty="0"/>
          </a:p>
        </p:txBody>
      </p:sp>
      <p:sp>
        <p:nvSpPr>
          <p:cNvPr id="3" name="Content Placeholder 2"/>
          <p:cNvSpPr>
            <a:spLocks noGrp="1"/>
          </p:cNvSpPr>
          <p:nvPr>
            <p:ph idx="1"/>
          </p:nvPr>
        </p:nvSpPr>
        <p:spPr/>
        <p:txBody>
          <a:bodyPr>
            <a:normAutofit/>
          </a:bodyPr>
          <a:lstStyle/>
          <a:p>
            <a:r>
              <a:rPr lang="en-IN" dirty="0"/>
              <a:t>Occasionally, small echogenic foci may be seen throughout the spleen. </a:t>
            </a:r>
          </a:p>
          <a:p>
            <a:r>
              <a:rPr lang="en-IN" dirty="0"/>
              <a:t>These small foci most often represent granulomas. </a:t>
            </a:r>
          </a:p>
          <a:p>
            <a:r>
              <a:rPr lang="en-IN" dirty="0"/>
              <a:t>They can be individual or multiple and may produce an acoustic shadow. </a:t>
            </a:r>
          </a:p>
          <a:p>
            <a:r>
              <a:rPr lang="en-IN" dirty="0"/>
              <a:t>Granulomas are often found in patients who have a history of </a:t>
            </a:r>
            <a:r>
              <a:rPr lang="en-IN" dirty="0" err="1"/>
              <a:t>histoplasmosis</a:t>
            </a:r>
            <a:r>
              <a:rPr lang="en-IN" dirty="0"/>
              <a:t>, tuberculosis, or </a:t>
            </a:r>
            <a:r>
              <a:rPr lang="en-IN" dirty="0" err="1"/>
              <a:t>sarcoidosis</a:t>
            </a:r>
            <a:r>
              <a:rPr lang="en-IN" dirty="0"/>
              <a:t>.</a:t>
            </a:r>
          </a:p>
        </p:txBody>
      </p:sp>
      <p:pic>
        <p:nvPicPr>
          <p:cNvPr id="4" name="Picture 3">
            <a:extLst>
              <a:ext uri="{FF2B5EF4-FFF2-40B4-BE49-F238E27FC236}">
                <a16:creationId xmlns:a16="http://schemas.microsoft.com/office/drawing/2014/main" id="{419882A6-E1C8-C394-7CF1-D06900F085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274433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24000"/>
            <a:ext cx="6324600" cy="4517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9EAC6523-1BB9-CD0B-8E36-4518C103A0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973838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Malignant Diseases of the Spleen</a:t>
            </a:r>
            <a:br>
              <a:rPr lang="en-IN" dirty="0"/>
            </a:br>
            <a:endParaRPr lang="en-IN" dirty="0"/>
          </a:p>
        </p:txBody>
      </p:sp>
      <p:sp>
        <p:nvSpPr>
          <p:cNvPr id="3" name="Content Placeholder 2"/>
          <p:cNvSpPr>
            <a:spLocks noGrp="1"/>
          </p:cNvSpPr>
          <p:nvPr>
            <p:ph idx="1"/>
          </p:nvPr>
        </p:nvSpPr>
        <p:spPr/>
        <p:txBody>
          <a:bodyPr>
            <a:normAutofit/>
          </a:bodyPr>
          <a:lstStyle/>
          <a:p>
            <a:r>
              <a:rPr lang="en-IN" dirty="0"/>
              <a:t>Although exceedingly rare, the primary malignant </a:t>
            </a:r>
            <a:r>
              <a:rPr lang="en-IN" dirty="0" err="1"/>
              <a:t>tumor</a:t>
            </a:r>
            <a:r>
              <a:rPr lang="en-IN" dirty="0"/>
              <a:t> of the spleen is an </a:t>
            </a:r>
            <a:r>
              <a:rPr lang="en-IN" dirty="0" err="1"/>
              <a:t>angiosarcoma</a:t>
            </a:r>
            <a:r>
              <a:rPr lang="en-IN" dirty="0"/>
              <a:t>.</a:t>
            </a:r>
          </a:p>
          <a:p>
            <a:r>
              <a:rPr lang="en-IN" dirty="0" err="1"/>
              <a:t>Angiosarcomas</a:t>
            </a:r>
            <a:r>
              <a:rPr lang="en-IN" dirty="0"/>
              <a:t> will appear </a:t>
            </a:r>
            <a:r>
              <a:rPr lang="en-IN" dirty="0" err="1"/>
              <a:t>sonographically</a:t>
            </a:r>
            <a:r>
              <a:rPr lang="en-IN" dirty="0"/>
              <a:t> as a complex or solid mass.</a:t>
            </a:r>
          </a:p>
          <a:p>
            <a:r>
              <a:rPr lang="en-IN" dirty="0"/>
              <a:t>More often, lymphoma and </a:t>
            </a:r>
            <a:r>
              <a:rPr lang="en-IN" dirty="0" err="1"/>
              <a:t>leukemia</a:t>
            </a:r>
            <a:r>
              <a:rPr lang="en-IN" dirty="0"/>
              <a:t> rather than </a:t>
            </a:r>
            <a:r>
              <a:rPr lang="en-IN" dirty="0" err="1"/>
              <a:t>angiosarcoma</a:t>
            </a:r>
            <a:r>
              <a:rPr lang="en-IN" dirty="0"/>
              <a:t> will involve the spleen, with lymphoma being cited as the most common malignancy of the spleen.</a:t>
            </a:r>
          </a:p>
          <a:p>
            <a:r>
              <a:rPr lang="en-IN" dirty="0"/>
              <a:t>Diffuse involvement of lymphoma or </a:t>
            </a:r>
            <a:r>
              <a:rPr lang="en-IN" dirty="0" err="1"/>
              <a:t>leukemia</a:t>
            </a:r>
            <a:r>
              <a:rPr lang="en-IN" dirty="0"/>
              <a:t> will often produce splenomegaly. </a:t>
            </a:r>
          </a:p>
          <a:p>
            <a:r>
              <a:rPr lang="en-IN" dirty="0"/>
              <a:t>These malignant processes can also manifest as a focal disease and be recognized as a </a:t>
            </a:r>
            <a:r>
              <a:rPr lang="en-IN" dirty="0" err="1"/>
              <a:t>hypoechoic</a:t>
            </a:r>
            <a:r>
              <a:rPr lang="en-IN" dirty="0"/>
              <a:t> mass or masses within the spleen.</a:t>
            </a:r>
          </a:p>
        </p:txBody>
      </p:sp>
      <p:pic>
        <p:nvPicPr>
          <p:cNvPr id="4" name="Picture 3">
            <a:extLst>
              <a:ext uri="{FF2B5EF4-FFF2-40B4-BE49-F238E27FC236}">
                <a16:creationId xmlns:a16="http://schemas.microsoft.com/office/drawing/2014/main" id="{FF1BF562-1716-4474-7286-EACA736F90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377586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Lymphoma can be classified as Hodgkin lymphoma or non-Hodgkin lymphoma. </a:t>
            </a:r>
          </a:p>
          <a:p>
            <a:r>
              <a:rPr lang="en-IN" dirty="0"/>
              <a:t>Both are malignant disorders affecting the lymphocytes, with subsequent immune system compromise. </a:t>
            </a:r>
          </a:p>
          <a:p>
            <a:r>
              <a:rPr lang="en-IN" dirty="0"/>
              <a:t>The differentiation between these two types of cancers is performed microscopically.</a:t>
            </a:r>
          </a:p>
          <a:p>
            <a:r>
              <a:rPr lang="en-IN" dirty="0"/>
              <a:t>The presence of Reed–Sternberg cells indicates Hodgkin lymphoma. </a:t>
            </a:r>
          </a:p>
          <a:p>
            <a:r>
              <a:rPr lang="en-IN" dirty="0"/>
              <a:t>It can be treated and carries a high recovery rate</a:t>
            </a:r>
          </a:p>
        </p:txBody>
      </p:sp>
      <p:pic>
        <p:nvPicPr>
          <p:cNvPr id="4" name="Picture 3">
            <a:extLst>
              <a:ext uri="{FF2B5EF4-FFF2-40B4-BE49-F238E27FC236}">
                <a16:creationId xmlns:a16="http://schemas.microsoft.com/office/drawing/2014/main" id="{752F7776-0619-AE81-6E3F-0CA13F83DF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8702170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other form of lymphoma, non- Hodgkin lymphoma, is not as easily managed but is more common. </a:t>
            </a:r>
          </a:p>
          <a:p>
            <a:r>
              <a:rPr lang="en-IN" dirty="0"/>
              <a:t>Metastatic disease to the spleen is rare and occurs late in the disease process. </a:t>
            </a:r>
          </a:p>
          <a:p>
            <a:r>
              <a:rPr lang="en-IN" dirty="0"/>
              <a:t>The most common primary locations are the breast, lung, skin (melanoma), and ovary.</a:t>
            </a:r>
          </a:p>
        </p:txBody>
      </p:sp>
      <p:pic>
        <p:nvPicPr>
          <p:cNvPr id="4" name="Picture 3">
            <a:extLst>
              <a:ext uri="{FF2B5EF4-FFF2-40B4-BE49-F238E27FC236}">
                <a16:creationId xmlns:a16="http://schemas.microsoft.com/office/drawing/2014/main" id="{04C376AA-73DB-EB76-2DEB-556FB129FB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8052301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272" y="838200"/>
            <a:ext cx="6915150" cy="1235074"/>
          </a:xfrm>
        </p:spPr>
        <p:txBody>
          <a:bodyPr>
            <a:normAutofit/>
          </a:bodyPr>
          <a:lstStyle/>
          <a:p>
            <a:r>
              <a:rPr lang="en-IN" sz="3100" dirty="0"/>
              <a:t>PEDIATRIC PATHOLOGY OF THE SPLEEN</a:t>
            </a:r>
            <a:br>
              <a:rPr lang="en-IN" dirty="0"/>
            </a:br>
            <a:endParaRPr lang="en-IN" dirty="0"/>
          </a:p>
        </p:txBody>
      </p:sp>
      <p:sp>
        <p:nvSpPr>
          <p:cNvPr id="3" name="Content Placeholder 2"/>
          <p:cNvSpPr>
            <a:spLocks noGrp="1"/>
          </p:cNvSpPr>
          <p:nvPr>
            <p:ph idx="1"/>
          </p:nvPr>
        </p:nvSpPr>
        <p:spPr/>
        <p:txBody>
          <a:bodyPr>
            <a:normAutofit/>
          </a:bodyPr>
          <a:lstStyle/>
          <a:p>
            <a:r>
              <a:rPr lang="en-IN" dirty="0"/>
              <a:t>Trauma, infections, and cancer will affect the </a:t>
            </a:r>
            <a:r>
              <a:rPr lang="en-IN" dirty="0" err="1"/>
              <a:t>pediatric</a:t>
            </a:r>
            <a:r>
              <a:rPr lang="en-IN" dirty="0"/>
              <a:t> spleen much like they affect the adult spleen.</a:t>
            </a:r>
          </a:p>
          <a:p>
            <a:r>
              <a:rPr lang="en-IN" dirty="0"/>
              <a:t>Epstein–Barr infection, which is associated with infectious mononucleosis, will typically result in splenomegaly in children. </a:t>
            </a:r>
          </a:p>
          <a:p>
            <a:r>
              <a:rPr lang="en-IN" dirty="0"/>
              <a:t>Also, children suffering from sickle cell disease often have an enlarged spleen. </a:t>
            </a:r>
          </a:p>
          <a:p>
            <a:r>
              <a:rPr lang="en-IN" dirty="0"/>
              <a:t>Sickle cell disease is found more frequently in African-American children and Hispanic children of Caribbean descent in the United States</a:t>
            </a:r>
          </a:p>
        </p:txBody>
      </p:sp>
      <p:pic>
        <p:nvPicPr>
          <p:cNvPr id="4" name="Picture 3">
            <a:extLst>
              <a:ext uri="{FF2B5EF4-FFF2-40B4-BE49-F238E27FC236}">
                <a16:creationId xmlns:a16="http://schemas.microsoft.com/office/drawing/2014/main" id="{8DBCCE13-F176-D4CB-4283-2AB75A97E2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450351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381000"/>
            <a:ext cx="4632008" cy="6036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5CA02095-6ED4-8F2F-F253-818B4B76CE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3369661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1096422"/>
            <a:ext cx="5638800" cy="5146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0770AFA4-14A6-4220-D3A8-F7DDB38ABE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1438344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304800"/>
            <a:ext cx="3739355" cy="614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01EE01F-2323-7BF6-1BD8-912EFB0F94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2572554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Thank you</a:t>
            </a:r>
          </a:p>
        </p:txBody>
      </p:sp>
      <p:pic>
        <p:nvPicPr>
          <p:cNvPr id="4" name="Picture 3">
            <a:extLst>
              <a:ext uri="{FF2B5EF4-FFF2-40B4-BE49-F238E27FC236}">
                <a16:creationId xmlns:a16="http://schemas.microsoft.com/office/drawing/2014/main" id="{C3CD1603-3C43-A67A-59A5-3FA08DE9F2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601580"/>
            <a:ext cx="1406426" cy="3048000"/>
          </a:xfrm>
          <a:prstGeom prst="rect">
            <a:avLst/>
          </a:prstGeom>
        </p:spPr>
      </p:pic>
    </p:spTree>
    <p:extLst>
      <p:ext uri="{BB962C8B-B14F-4D97-AF65-F5344CB8AC3E}">
        <p14:creationId xmlns:p14="http://schemas.microsoft.com/office/powerpoint/2010/main" val="4285785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267</TotalTime>
  <Words>1785</Words>
  <Application>Microsoft Office PowerPoint</Application>
  <PresentationFormat>On-screen Show (4:3)</PresentationFormat>
  <Paragraphs>119</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Aptos Display</vt:lpstr>
      <vt:lpstr>Arial</vt:lpstr>
      <vt:lpstr>Office Theme</vt:lpstr>
      <vt:lpstr>Sonography of spleen </vt:lpstr>
      <vt:lpstr>PowerPoint Presentation</vt:lpstr>
      <vt:lpstr>ANATOMY AND PHYSIOLOGY OF THE SPLEEN</vt:lpstr>
      <vt:lpstr>PowerPoint Presentation</vt:lpstr>
      <vt:lpstr>ANATOMY AND PHYSIOLOGY OF THE SPLEEN</vt:lpstr>
      <vt:lpstr>ANATOMY AND PHYSIOLOGY OF THE SPLEEN</vt:lpstr>
      <vt:lpstr>ANATOMY AND PHYSIOLOGY OF THE SPLEEN</vt:lpstr>
      <vt:lpstr>Gross Anatomy </vt:lpstr>
      <vt:lpstr>PowerPoint Presentation</vt:lpstr>
      <vt:lpstr>PowerPoint Presentation</vt:lpstr>
      <vt:lpstr>PowerPoint Presentation</vt:lpstr>
      <vt:lpstr>Vascular Anatomy of the Spleen </vt:lpstr>
      <vt:lpstr>PowerPoint Presentation</vt:lpstr>
      <vt:lpstr>PowerPoint Presentation</vt:lpstr>
      <vt:lpstr>PowerPoint Presentation</vt:lpstr>
      <vt:lpstr>SONOGRAPHY OF THE SPLEEN </vt:lpstr>
      <vt:lpstr>PowerPoint Presentation</vt:lpstr>
      <vt:lpstr>Congenital Anomalies</vt:lpstr>
      <vt:lpstr>PowerPoint Presentation</vt:lpstr>
      <vt:lpstr>Wandering spleen</vt:lpstr>
      <vt:lpstr>Splenic torsion </vt:lpstr>
      <vt:lpstr>asplenia</vt:lpstr>
      <vt:lpstr>polysplenia</vt:lpstr>
      <vt:lpstr>PATHOLOGY OF THE SPLEEN </vt:lpstr>
      <vt:lpstr>PowerPoint Presentation</vt:lpstr>
      <vt:lpstr>PowerPoint Presentation</vt:lpstr>
      <vt:lpstr>PowerPoint Presentation</vt:lpstr>
      <vt:lpstr>Splenic Cysts </vt:lpstr>
      <vt:lpstr>PowerPoint Presentation</vt:lpstr>
      <vt:lpstr>Splenic Infarct </vt:lpstr>
      <vt:lpstr>PowerPoint Presentation</vt:lpstr>
      <vt:lpstr>PowerPoint Presentation</vt:lpstr>
      <vt:lpstr>Splenic Trauma </vt:lpstr>
      <vt:lpstr>PowerPoint Presentation</vt:lpstr>
      <vt:lpstr>PowerPoint Presentation</vt:lpstr>
      <vt:lpstr>PowerPoint Presentation</vt:lpstr>
      <vt:lpstr>PowerPoint Presentation</vt:lpstr>
      <vt:lpstr>Splenic Hemangioma </vt:lpstr>
      <vt:lpstr>PowerPoint Presentation</vt:lpstr>
      <vt:lpstr>PowerPoint Presentation</vt:lpstr>
      <vt:lpstr>Granulomatous Disease in the Spleen </vt:lpstr>
      <vt:lpstr>PowerPoint Presentation</vt:lpstr>
      <vt:lpstr>Malignant Diseases of the Spleen </vt:lpstr>
      <vt:lpstr>PowerPoint Presentation</vt:lpstr>
      <vt:lpstr>PowerPoint Presentation</vt:lpstr>
      <vt:lpstr>PEDIATRIC PATHOLOGY OF THE SPLEEN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Arivudainambi G. Govindan</dc:creator>
  <cp:lastModifiedBy>Gunanathan RP</cp:lastModifiedBy>
  <cp:revision>26</cp:revision>
  <dcterms:created xsi:type="dcterms:W3CDTF">2006-08-16T00:00:00Z</dcterms:created>
  <dcterms:modified xsi:type="dcterms:W3CDTF">2026-03-07T14:51:45Z</dcterms:modified>
</cp:coreProperties>
</file>