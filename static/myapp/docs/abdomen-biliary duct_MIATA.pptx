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9" r:id="rId4"/>
    <p:sldId id="295" r:id="rId5"/>
    <p:sldId id="260" r:id="rId6"/>
    <p:sldId id="296" r:id="rId7"/>
    <p:sldId id="297" r:id="rId8"/>
    <p:sldId id="261" r:id="rId9"/>
    <p:sldId id="300" r:id="rId10"/>
    <p:sldId id="262" r:id="rId11"/>
    <p:sldId id="263" r:id="rId12"/>
    <p:sldId id="264" r:id="rId13"/>
    <p:sldId id="301" r:id="rId14"/>
    <p:sldId id="309" r:id="rId15"/>
    <p:sldId id="310" r:id="rId16"/>
    <p:sldId id="265" r:id="rId17"/>
    <p:sldId id="266" r:id="rId18"/>
    <p:sldId id="267" r:id="rId19"/>
    <p:sldId id="268" r:id="rId20"/>
    <p:sldId id="269" r:id="rId21"/>
    <p:sldId id="302" r:id="rId22"/>
    <p:sldId id="298" r:id="rId23"/>
    <p:sldId id="270" r:id="rId24"/>
    <p:sldId id="271" r:id="rId25"/>
    <p:sldId id="272" r:id="rId26"/>
    <p:sldId id="273" r:id="rId27"/>
    <p:sldId id="274" r:id="rId28"/>
    <p:sldId id="275" r:id="rId29"/>
    <p:sldId id="276" r:id="rId30"/>
    <p:sldId id="277" r:id="rId31"/>
    <p:sldId id="303" r:id="rId32"/>
    <p:sldId id="304" r:id="rId33"/>
    <p:sldId id="278" r:id="rId34"/>
    <p:sldId id="279" r:id="rId35"/>
    <p:sldId id="305" r:id="rId36"/>
    <p:sldId id="311" r:id="rId37"/>
    <p:sldId id="280" r:id="rId38"/>
    <p:sldId id="281" r:id="rId39"/>
    <p:sldId id="282" r:id="rId40"/>
    <p:sldId id="283" r:id="rId41"/>
    <p:sldId id="284" r:id="rId42"/>
    <p:sldId id="285" r:id="rId43"/>
    <p:sldId id="286" r:id="rId44"/>
    <p:sldId id="299" r:id="rId45"/>
    <p:sldId id="306" r:id="rId46"/>
    <p:sldId id="307" r:id="rId47"/>
    <p:sldId id="308" r:id="rId48"/>
    <p:sldId id="287" r:id="rId49"/>
    <p:sldId id="288" r:id="rId50"/>
    <p:sldId id="289" r:id="rId51"/>
    <p:sldId id="290" r:id="rId52"/>
    <p:sldId id="291" r:id="rId53"/>
    <p:sldId id="292" r:id="rId54"/>
    <p:sldId id="293" r:id="rId5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8" d="100"/>
          <a:sy n="58" d="100"/>
        </p:scale>
        <p:origin x="1480"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3F074-37A9-00DF-7F9F-6D58857A7D41}"/>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GB"/>
          </a:p>
        </p:txBody>
      </p:sp>
      <p:sp>
        <p:nvSpPr>
          <p:cNvPr id="3" name="Subtitle 2">
            <a:extLst>
              <a:ext uri="{FF2B5EF4-FFF2-40B4-BE49-F238E27FC236}">
                <a16:creationId xmlns:a16="http://schemas.microsoft.com/office/drawing/2014/main" id="{DA22EA9F-9971-40C9-1A01-063F2F3FCCB0}"/>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E281863-83DD-9548-07D5-C56B76BFFE9A}"/>
              </a:ext>
            </a:extLst>
          </p:cNvPr>
          <p:cNvSpPr>
            <a:spLocks noGrp="1"/>
          </p:cNvSpPr>
          <p:nvPr>
            <p:ph type="dt" sz="half" idx="10"/>
          </p:nvPr>
        </p:nvSpPr>
        <p:spPr/>
        <p:txBody>
          <a:bodyPr/>
          <a:lstStyle/>
          <a:p>
            <a:fld id="{1D8BD707-D9CF-40AE-B4C6-C98DA3205C09}" type="datetimeFigureOut">
              <a:rPr lang="en-US" smtClean="0"/>
              <a:pPr/>
              <a:t>3/7/2026</a:t>
            </a:fld>
            <a:endParaRPr lang="en-US"/>
          </a:p>
        </p:txBody>
      </p:sp>
      <p:sp>
        <p:nvSpPr>
          <p:cNvPr id="5" name="Footer Placeholder 4">
            <a:extLst>
              <a:ext uri="{FF2B5EF4-FFF2-40B4-BE49-F238E27FC236}">
                <a16:creationId xmlns:a16="http://schemas.microsoft.com/office/drawing/2014/main" id="{980259E6-6788-C967-C0E1-C9821BBD37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383698-F48C-D19A-CC0F-FF2DC0A3D92D}"/>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67546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2E79A-0103-C03A-84CD-584F6921B27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B7E0967-A8DA-D78F-CB25-D33D937C5B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AC44DB7-079C-C57F-FC14-A6874541039B}"/>
              </a:ext>
            </a:extLst>
          </p:cNvPr>
          <p:cNvSpPr>
            <a:spLocks noGrp="1"/>
          </p:cNvSpPr>
          <p:nvPr>
            <p:ph type="dt" sz="half" idx="10"/>
          </p:nvPr>
        </p:nvSpPr>
        <p:spPr/>
        <p:txBody>
          <a:bodyPr/>
          <a:lstStyle/>
          <a:p>
            <a:fld id="{1D8BD707-D9CF-40AE-B4C6-C98DA3205C09}" type="datetimeFigureOut">
              <a:rPr lang="en-US" smtClean="0"/>
              <a:pPr/>
              <a:t>3/7/2026</a:t>
            </a:fld>
            <a:endParaRPr lang="en-US"/>
          </a:p>
        </p:txBody>
      </p:sp>
      <p:sp>
        <p:nvSpPr>
          <p:cNvPr id="5" name="Footer Placeholder 4">
            <a:extLst>
              <a:ext uri="{FF2B5EF4-FFF2-40B4-BE49-F238E27FC236}">
                <a16:creationId xmlns:a16="http://schemas.microsoft.com/office/drawing/2014/main" id="{C6F822C0-B933-D0EF-1C71-AD57393C3B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E16740-3B8B-C924-E3D8-339C62E61B82}"/>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82031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E4F8B-3555-7111-581B-D62EAD9555B7}"/>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51D1E4C8-0CE5-701C-098E-6DF03F2FD454}"/>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564C88-4340-897D-C1ED-8B376BDBB494}"/>
              </a:ext>
            </a:extLst>
          </p:cNvPr>
          <p:cNvSpPr>
            <a:spLocks noGrp="1"/>
          </p:cNvSpPr>
          <p:nvPr>
            <p:ph type="dt" sz="half" idx="10"/>
          </p:nvPr>
        </p:nvSpPr>
        <p:spPr/>
        <p:txBody>
          <a:bodyPr/>
          <a:lstStyle/>
          <a:p>
            <a:fld id="{1D8BD707-D9CF-40AE-B4C6-C98DA3205C09}" type="datetimeFigureOut">
              <a:rPr lang="en-US" smtClean="0"/>
              <a:pPr/>
              <a:t>3/7/2026</a:t>
            </a:fld>
            <a:endParaRPr lang="en-US"/>
          </a:p>
        </p:txBody>
      </p:sp>
      <p:sp>
        <p:nvSpPr>
          <p:cNvPr id="5" name="Footer Placeholder 4">
            <a:extLst>
              <a:ext uri="{FF2B5EF4-FFF2-40B4-BE49-F238E27FC236}">
                <a16:creationId xmlns:a16="http://schemas.microsoft.com/office/drawing/2014/main" id="{4D371BBB-AC04-0ADD-A283-9F5C2E852F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057E0D-B9C1-7FA3-A6EB-80B04D4E1CDF}"/>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63282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6C258-7CF9-3145-B5C5-86C704802C8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4D7C542-6BE9-04C1-CC6F-EF239DA30786}"/>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41A4619-DB15-B766-0D91-0B14D2CA764C}"/>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070DB19-3E89-BF90-64DD-957BE3309309}"/>
              </a:ext>
            </a:extLst>
          </p:cNvPr>
          <p:cNvSpPr>
            <a:spLocks noGrp="1"/>
          </p:cNvSpPr>
          <p:nvPr>
            <p:ph type="dt" sz="half" idx="10"/>
          </p:nvPr>
        </p:nvSpPr>
        <p:spPr/>
        <p:txBody>
          <a:bodyPr/>
          <a:lstStyle/>
          <a:p>
            <a:fld id="{1D8BD707-D9CF-40AE-B4C6-C98DA3205C09}" type="datetimeFigureOut">
              <a:rPr lang="en-US" smtClean="0"/>
              <a:pPr/>
              <a:t>3/7/2026</a:t>
            </a:fld>
            <a:endParaRPr lang="en-US"/>
          </a:p>
        </p:txBody>
      </p:sp>
      <p:sp>
        <p:nvSpPr>
          <p:cNvPr id="6" name="Footer Placeholder 5">
            <a:extLst>
              <a:ext uri="{FF2B5EF4-FFF2-40B4-BE49-F238E27FC236}">
                <a16:creationId xmlns:a16="http://schemas.microsoft.com/office/drawing/2014/main" id="{367D2336-6DC3-66A5-B99E-A20AC4AF63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2C92D2-66A6-4F87-2323-E6781CD016F7}"/>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839518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ECB48-B7C1-EB56-DBF5-264A33A7E170}"/>
              </a:ext>
            </a:extLst>
          </p:cNvPr>
          <p:cNvSpPr>
            <a:spLocks noGrp="1"/>
          </p:cNvSpPr>
          <p:nvPr>
            <p:ph type="title"/>
          </p:nvPr>
        </p:nvSpPr>
        <p:spPr>
          <a:xfrm>
            <a:off x="629841" y="365126"/>
            <a:ext cx="78867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7C6E4C9-1EC4-2125-CFAB-772BC7ADDE54}"/>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EEEE0522-D27E-FE0B-2B57-65A2A190F1AF}"/>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C8C838E-CF85-F8AB-6E2F-0E335D9339DC}"/>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D6C9B317-7E6F-6715-F8F4-98C31AE1416D}"/>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E88FB43-75F0-A992-6FEF-B4C21F07DD0E}"/>
              </a:ext>
            </a:extLst>
          </p:cNvPr>
          <p:cNvSpPr>
            <a:spLocks noGrp="1"/>
          </p:cNvSpPr>
          <p:nvPr>
            <p:ph type="dt" sz="half" idx="10"/>
          </p:nvPr>
        </p:nvSpPr>
        <p:spPr/>
        <p:txBody>
          <a:bodyPr/>
          <a:lstStyle/>
          <a:p>
            <a:fld id="{1D8BD707-D9CF-40AE-B4C6-C98DA3205C09}" type="datetimeFigureOut">
              <a:rPr lang="en-US" smtClean="0"/>
              <a:pPr/>
              <a:t>3/7/2026</a:t>
            </a:fld>
            <a:endParaRPr lang="en-US"/>
          </a:p>
        </p:txBody>
      </p:sp>
      <p:sp>
        <p:nvSpPr>
          <p:cNvPr id="8" name="Footer Placeholder 7">
            <a:extLst>
              <a:ext uri="{FF2B5EF4-FFF2-40B4-BE49-F238E27FC236}">
                <a16:creationId xmlns:a16="http://schemas.microsoft.com/office/drawing/2014/main" id="{BA089AAA-8138-B55D-5924-C7E1C8FD693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5CE3A33-03D3-E60D-0B73-271CEC58AD23}"/>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56317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EC127-4FF0-F14A-1CED-381B01BCFC29}"/>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192F3035-8A2A-3205-5219-6630EEB66285}"/>
              </a:ext>
            </a:extLst>
          </p:cNvPr>
          <p:cNvSpPr>
            <a:spLocks noGrp="1"/>
          </p:cNvSpPr>
          <p:nvPr>
            <p:ph type="dt" sz="half" idx="10"/>
          </p:nvPr>
        </p:nvSpPr>
        <p:spPr/>
        <p:txBody>
          <a:bodyPr/>
          <a:lstStyle/>
          <a:p>
            <a:fld id="{1D8BD707-D9CF-40AE-B4C6-C98DA3205C09}" type="datetimeFigureOut">
              <a:rPr lang="en-US" smtClean="0"/>
              <a:pPr/>
              <a:t>3/7/2026</a:t>
            </a:fld>
            <a:endParaRPr lang="en-US"/>
          </a:p>
        </p:txBody>
      </p:sp>
      <p:sp>
        <p:nvSpPr>
          <p:cNvPr id="4" name="Footer Placeholder 3">
            <a:extLst>
              <a:ext uri="{FF2B5EF4-FFF2-40B4-BE49-F238E27FC236}">
                <a16:creationId xmlns:a16="http://schemas.microsoft.com/office/drawing/2014/main" id="{52125484-B52E-A497-7DA8-346BCBC2FB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1730B5A-5C2D-1A20-F18A-CB82D7D58466}"/>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888844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EF9831-11EE-EB5D-8E56-8390E78E1347}"/>
              </a:ext>
            </a:extLst>
          </p:cNvPr>
          <p:cNvSpPr>
            <a:spLocks noGrp="1"/>
          </p:cNvSpPr>
          <p:nvPr>
            <p:ph type="dt" sz="half" idx="10"/>
          </p:nvPr>
        </p:nvSpPr>
        <p:spPr/>
        <p:txBody>
          <a:bodyPr/>
          <a:lstStyle/>
          <a:p>
            <a:fld id="{1D8BD707-D9CF-40AE-B4C6-C98DA3205C09}" type="datetimeFigureOut">
              <a:rPr lang="en-US" smtClean="0"/>
              <a:pPr/>
              <a:t>3/7/2026</a:t>
            </a:fld>
            <a:endParaRPr lang="en-US"/>
          </a:p>
        </p:txBody>
      </p:sp>
      <p:sp>
        <p:nvSpPr>
          <p:cNvPr id="3" name="Footer Placeholder 2">
            <a:extLst>
              <a:ext uri="{FF2B5EF4-FFF2-40B4-BE49-F238E27FC236}">
                <a16:creationId xmlns:a16="http://schemas.microsoft.com/office/drawing/2014/main" id="{0301C6A8-77B2-01B4-4FEF-F11AE558B8C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0FDF0BB-1CB3-F261-45E2-9A2CF52E72D2}"/>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974511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A8CA2-9FDB-1171-60E9-DF2A5AE5BE4A}"/>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3B98E24-741D-0EF9-FEB8-E33A4FC2FEA7}"/>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BC60FF3-E90D-E4F6-9816-20BBB2B527CD}"/>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DAB825AE-8118-FD96-B679-778CCF5710A3}"/>
              </a:ext>
            </a:extLst>
          </p:cNvPr>
          <p:cNvSpPr>
            <a:spLocks noGrp="1"/>
          </p:cNvSpPr>
          <p:nvPr>
            <p:ph type="dt" sz="half" idx="10"/>
          </p:nvPr>
        </p:nvSpPr>
        <p:spPr/>
        <p:txBody>
          <a:bodyPr/>
          <a:lstStyle/>
          <a:p>
            <a:fld id="{1D8BD707-D9CF-40AE-B4C6-C98DA3205C09}" type="datetimeFigureOut">
              <a:rPr lang="en-US" smtClean="0"/>
              <a:pPr/>
              <a:t>3/7/2026</a:t>
            </a:fld>
            <a:endParaRPr lang="en-US"/>
          </a:p>
        </p:txBody>
      </p:sp>
      <p:sp>
        <p:nvSpPr>
          <p:cNvPr id="6" name="Footer Placeholder 5">
            <a:extLst>
              <a:ext uri="{FF2B5EF4-FFF2-40B4-BE49-F238E27FC236}">
                <a16:creationId xmlns:a16="http://schemas.microsoft.com/office/drawing/2014/main" id="{5CF7DE81-CC68-4800-7AAB-3A54B3EF41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370FA9-018F-6EDE-5B8D-A6934E5D63E3}"/>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97286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3BD7B-A6A5-C868-897D-280BD13768A4}"/>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1FDA042D-7B39-C181-23C5-F5C50436ED63}"/>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GB"/>
          </a:p>
        </p:txBody>
      </p:sp>
      <p:sp>
        <p:nvSpPr>
          <p:cNvPr id="4" name="Text Placeholder 3">
            <a:extLst>
              <a:ext uri="{FF2B5EF4-FFF2-40B4-BE49-F238E27FC236}">
                <a16:creationId xmlns:a16="http://schemas.microsoft.com/office/drawing/2014/main" id="{AA341DCA-464B-4822-1F3F-B7EA4B8C5EBB}"/>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97B8192-45F5-8061-49A1-7803B1EC5B8D}"/>
              </a:ext>
            </a:extLst>
          </p:cNvPr>
          <p:cNvSpPr>
            <a:spLocks noGrp="1"/>
          </p:cNvSpPr>
          <p:nvPr>
            <p:ph type="dt" sz="half" idx="10"/>
          </p:nvPr>
        </p:nvSpPr>
        <p:spPr/>
        <p:txBody>
          <a:bodyPr/>
          <a:lstStyle/>
          <a:p>
            <a:fld id="{1D8BD707-D9CF-40AE-B4C6-C98DA3205C09}" type="datetimeFigureOut">
              <a:rPr lang="en-US" smtClean="0"/>
              <a:pPr/>
              <a:t>3/7/2026</a:t>
            </a:fld>
            <a:endParaRPr lang="en-US"/>
          </a:p>
        </p:txBody>
      </p:sp>
      <p:sp>
        <p:nvSpPr>
          <p:cNvPr id="6" name="Footer Placeholder 5">
            <a:extLst>
              <a:ext uri="{FF2B5EF4-FFF2-40B4-BE49-F238E27FC236}">
                <a16:creationId xmlns:a16="http://schemas.microsoft.com/office/drawing/2014/main" id="{1DE4D3FD-BB87-4135-F341-1AAEC55A0B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497D16-370E-437F-E88D-3E9E5E8EFE77}"/>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08681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E8141-6CE0-82A8-1A67-19AF55313A8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76354AE-3B71-2B89-E027-F3638C0C71E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9B77EE7-E048-5158-E94F-24DEA447C7E8}"/>
              </a:ext>
            </a:extLst>
          </p:cNvPr>
          <p:cNvSpPr>
            <a:spLocks noGrp="1"/>
          </p:cNvSpPr>
          <p:nvPr>
            <p:ph type="dt" sz="half" idx="10"/>
          </p:nvPr>
        </p:nvSpPr>
        <p:spPr/>
        <p:txBody>
          <a:bodyPr/>
          <a:lstStyle/>
          <a:p>
            <a:fld id="{1D8BD707-D9CF-40AE-B4C6-C98DA3205C09}" type="datetimeFigureOut">
              <a:rPr lang="en-US" smtClean="0"/>
              <a:pPr/>
              <a:t>3/7/2026</a:t>
            </a:fld>
            <a:endParaRPr lang="en-US"/>
          </a:p>
        </p:txBody>
      </p:sp>
      <p:sp>
        <p:nvSpPr>
          <p:cNvPr id="5" name="Footer Placeholder 4">
            <a:extLst>
              <a:ext uri="{FF2B5EF4-FFF2-40B4-BE49-F238E27FC236}">
                <a16:creationId xmlns:a16="http://schemas.microsoft.com/office/drawing/2014/main" id="{7A02C135-9112-0A86-6CBC-9B9E80FFED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A8F20B-3D07-0E79-20DD-D63D0F1D2702}"/>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516500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FAD7B4-DAF2-302D-B098-4570B954FCF2}"/>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E75350B-C41E-2B9E-7B58-5EA903967F85}"/>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05C441B-4687-2018-A423-B6F591B67A81}"/>
              </a:ext>
            </a:extLst>
          </p:cNvPr>
          <p:cNvSpPr>
            <a:spLocks noGrp="1"/>
          </p:cNvSpPr>
          <p:nvPr>
            <p:ph type="dt" sz="half" idx="10"/>
          </p:nvPr>
        </p:nvSpPr>
        <p:spPr/>
        <p:txBody>
          <a:bodyPr/>
          <a:lstStyle/>
          <a:p>
            <a:fld id="{1D8BD707-D9CF-40AE-B4C6-C98DA3205C09}" type="datetimeFigureOut">
              <a:rPr lang="en-US" smtClean="0"/>
              <a:pPr/>
              <a:t>3/7/2026</a:t>
            </a:fld>
            <a:endParaRPr lang="en-US"/>
          </a:p>
        </p:txBody>
      </p:sp>
      <p:sp>
        <p:nvSpPr>
          <p:cNvPr id="5" name="Footer Placeholder 4">
            <a:extLst>
              <a:ext uri="{FF2B5EF4-FFF2-40B4-BE49-F238E27FC236}">
                <a16:creationId xmlns:a16="http://schemas.microsoft.com/office/drawing/2014/main" id="{83E0766A-635A-598A-564E-FEC03DB787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4F93F4-DD9D-3B08-6C5B-DCEAC11357D4}"/>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58600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005F8B-F8AB-EA7B-A895-83999826E28D}"/>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ACB9CCF-2349-7F0A-AC11-1440025A57FE}"/>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4127E9C-126D-A962-4F5B-4CB7E9168141}"/>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1D8BD707-D9CF-40AE-B4C6-C98DA3205C09}" type="datetimeFigureOut">
              <a:rPr lang="en-US" smtClean="0"/>
              <a:pPr/>
              <a:t>3/7/2026</a:t>
            </a:fld>
            <a:endParaRPr lang="en-US"/>
          </a:p>
        </p:txBody>
      </p:sp>
      <p:sp>
        <p:nvSpPr>
          <p:cNvPr id="5" name="Footer Placeholder 4">
            <a:extLst>
              <a:ext uri="{FF2B5EF4-FFF2-40B4-BE49-F238E27FC236}">
                <a16:creationId xmlns:a16="http://schemas.microsoft.com/office/drawing/2014/main" id="{4F556CB6-C0E3-52D0-753A-0A25D902A35B}"/>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DA698C7-0D2F-9E7E-E33B-DC3983AA0F1F}"/>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15427957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3.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80816F2-EFB0-44E7-94C9-B65CB34DFA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525195"/>
            <a:ext cx="4498532" cy="2806506"/>
          </a:xfrm>
        </p:spPr>
        <p:txBody>
          <a:bodyPr anchor="b">
            <a:normAutofit/>
          </a:bodyPr>
          <a:lstStyle/>
          <a:p>
            <a:r>
              <a:rPr lang="en-IN" sz="3500" dirty="0"/>
              <a:t>Sonography of Biliary ducts </a:t>
            </a:r>
          </a:p>
        </p:txBody>
      </p:sp>
      <p:sp>
        <p:nvSpPr>
          <p:cNvPr id="3" name="Content Placeholder 2"/>
          <p:cNvSpPr>
            <a:spLocks noGrp="1"/>
          </p:cNvSpPr>
          <p:nvPr>
            <p:ph idx="1"/>
          </p:nvPr>
        </p:nvSpPr>
        <p:spPr>
          <a:xfrm>
            <a:off x="628650" y="3526300"/>
            <a:ext cx="4498532" cy="2588458"/>
          </a:xfrm>
        </p:spPr>
        <p:txBody>
          <a:bodyPr>
            <a:normAutofit/>
          </a:bodyPr>
          <a:lstStyle/>
          <a:p>
            <a:pPr marL="0" indent="0">
              <a:buNone/>
            </a:pPr>
            <a:r>
              <a:rPr lang="en-IN" sz="1700" dirty="0"/>
              <a:t>By</a:t>
            </a:r>
          </a:p>
          <a:p>
            <a:pPr marL="0" indent="0">
              <a:buNone/>
            </a:pPr>
            <a:r>
              <a:rPr lang="en-IN" sz="1700" dirty="0"/>
              <a:t>Faculty of MIATA</a:t>
            </a:r>
          </a:p>
        </p:txBody>
      </p:sp>
      <p:pic>
        <p:nvPicPr>
          <p:cNvPr id="5" name="Picture 4">
            <a:extLst>
              <a:ext uri="{FF2B5EF4-FFF2-40B4-BE49-F238E27FC236}">
                <a16:creationId xmlns:a16="http://schemas.microsoft.com/office/drawing/2014/main" id="{EA42DB26-1975-C294-8E6B-3152CD6A49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70259" y="557189"/>
            <a:ext cx="2658152" cy="5747358"/>
          </a:xfrm>
          <a:prstGeom prst="rect">
            <a:avLst/>
          </a:prstGeom>
        </p:spPr>
      </p:pic>
    </p:spTree>
    <p:extLst>
      <p:ext uri="{BB962C8B-B14F-4D97-AF65-F5344CB8AC3E}">
        <p14:creationId xmlns:p14="http://schemas.microsoft.com/office/powerpoint/2010/main" val="38335846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2133600"/>
            <a:ext cx="8780214" cy="1463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6FE57D6F-96EC-F04B-9E5E-879300AE71D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2701213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ANATOMY AND PHYSIOLOGY</a:t>
            </a:r>
            <a:br>
              <a:rPr lang="en-IN" dirty="0"/>
            </a:br>
            <a:r>
              <a:rPr lang="en-IN" dirty="0"/>
              <a:t>OF THE BILE DUCTS</a:t>
            </a:r>
          </a:p>
        </p:txBody>
      </p:sp>
      <p:sp>
        <p:nvSpPr>
          <p:cNvPr id="3" name="Content Placeholder 2"/>
          <p:cNvSpPr>
            <a:spLocks noGrp="1"/>
          </p:cNvSpPr>
          <p:nvPr>
            <p:ph idx="1"/>
          </p:nvPr>
        </p:nvSpPr>
        <p:spPr/>
        <p:txBody>
          <a:bodyPr>
            <a:normAutofit/>
          </a:bodyPr>
          <a:lstStyle/>
          <a:p>
            <a:r>
              <a:rPr lang="en-IN" dirty="0"/>
              <a:t>Bile, a vital digestive fluid, is produced by the liver. </a:t>
            </a:r>
          </a:p>
          <a:p>
            <a:r>
              <a:rPr lang="en-IN" dirty="0"/>
              <a:t>It is composed of several key elements that aid in digestion, including bilirubin, bile acids, and cholesterol.</a:t>
            </a:r>
          </a:p>
          <a:p>
            <a:r>
              <a:rPr lang="en-IN" dirty="0"/>
              <a:t>The function of the biliary tree is to provide a conduit for bile to drain from the liver into the small intestine (Fig. 4-1). </a:t>
            </a:r>
          </a:p>
          <a:p>
            <a:r>
              <a:rPr lang="en-IN" dirty="0"/>
              <a:t>Bile first accumulates in the small intrahepatic biliary radicles that are located throughout the liver. </a:t>
            </a:r>
          </a:p>
          <a:p>
            <a:r>
              <a:rPr lang="en-IN" dirty="0"/>
              <a:t>These tiny ducts are scattered throughout the liver parenchyma and are part of the portal triads.</a:t>
            </a:r>
          </a:p>
        </p:txBody>
      </p:sp>
      <p:pic>
        <p:nvPicPr>
          <p:cNvPr id="4" name="Picture 3">
            <a:extLst>
              <a:ext uri="{FF2B5EF4-FFF2-40B4-BE49-F238E27FC236}">
                <a16:creationId xmlns:a16="http://schemas.microsoft.com/office/drawing/2014/main" id="{A2740302-1886-2783-38D6-117425EC3FD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32285509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ANATOMY AND PHYSIOLOGY</a:t>
            </a:r>
            <a:br>
              <a:rPr lang="en-IN" dirty="0"/>
            </a:br>
            <a:r>
              <a:rPr lang="en-IN" dirty="0"/>
              <a:t>OF THE BILE DUCTS</a:t>
            </a:r>
          </a:p>
        </p:txBody>
      </p:sp>
      <p:sp>
        <p:nvSpPr>
          <p:cNvPr id="3" name="Content Placeholder 2"/>
          <p:cNvSpPr>
            <a:spLocks noGrp="1"/>
          </p:cNvSpPr>
          <p:nvPr>
            <p:ph idx="1"/>
          </p:nvPr>
        </p:nvSpPr>
        <p:spPr/>
        <p:txBody>
          <a:bodyPr>
            <a:normAutofit/>
          </a:bodyPr>
          <a:lstStyle/>
          <a:p>
            <a:r>
              <a:rPr lang="en-IN" dirty="0"/>
              <a:t>Each portal triad contains a small branch of the hepatic artery, portal vein, and intrahepatic duct (biliary radicle). </a:t>
            </a:r>
          </a:p>
          <a:p>
            <a:r>
              <a:rPr lang="en-IN" dirty="0"/>
              <a:t>From these small biliary radicles, bile flows into either the right or left hepatic duct. </a:t>
            </a:r>
          </a:p>
          <a:p>
            <a:r>
              <a:rPr lang="en-IN" dirty="0"/>
              <a:t>The right and left hepatic ducts eventually unite to form the common hepatic duct. </a:t>
            </a:r>
          </a:p>
          <a:p>
            <a:r>
              <a:rPr lang="en-IN" dirty="0"/>
              <a:t>Bile then travels only a short distance to the gallbladder, where it is concentrated and stored.</a:t>
            </a:r>
          </a:p>
          <a:p>
            <a:endParaRPr lang="en-IN" dirty="0"/>
          </a:p>
        </p:txBody>
      </p:sp>
      <p:pic>
        <p:nvPicPr>
          <p:cNvPr id="4" name="Picture 3">
            <a:extLst>
              <a:ext uri="{FF2B5EF4-FFF2-40B4-BE49-F238E27FC236}">
                <a16:creationId xmlns:a16="http://schemas.microsoft.com/office/drawing/2014/main" id="{15F2B97C-A246-1F7A-45C9-96DD30B9184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3416341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4038" y="1219200"/>
            <a:ext cx="8321893" cy="4131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3D87472A-5CB6-0AF4-2693-1D4D4A309DB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10013287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58220"/>
            <a:ext cx="8229599" cy="6793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CC9A3884-D2E7-4EE0-49A2-B8259911647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3150302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3901" y="840522"/>
            <a:ext cx="3069195" cy="5176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44419163-7B3E-BAF6-2027-94C069E6B7E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1717649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ANATOMY AND PHYSIOLOGY</a:t>
            </a:r>
            <a:br>
              <a:rPr lang="en-IN" dirty="0"/>
            </a:br>
            <a:r>
              <a:rPr lang="en-IN" dirty="0"/>
              <a:t>OF THE BILE DUCTS</a:t>
            </a:r>
          </a:p>
        </p:txBody>
      </p:sp>
      <p:sp>
        <p:nvSpPr>
          <p:cNvPr id="3" name="Content Placeholder 2"/>
          <p:cNvSpPr>
            <a:spLocks noGrp="1"/>
          </p:cNvSpPr>
          <p:nvPr>
            <p:ph idx="1"/>
          </p:nvPr>
        </p:nvSpPr>
        <p:spPr/>
        <p:txBody>
          <a:bodyPr>
            <a:normAutofit/>
          </a:bodyPr>
          <a:lstStyle/>
          <a:p>
            <a:r>
              <a:rPr lang="en-IN" dirty="0"/>
              <a:t>The gallbladder is attached to the biliary tree by the cystic duct. </a:t>
            </a:r>
          </a:p>
          <a:p>
            <a:r>
              <a:rPr lang="en-IN" dirty="0"/>
              <a:t>The point of attachment of the cystic duct to the gallbladder marks the proximal margin of the common bile duct. </a:t>
            </a:r>
          </a:p>
          <a:p>
            <a:r>
              <a:rPr lang="en-IN" dirty="0"/>
              <a:t>The cystic duct contains tiny structures called the spiral valves of Heister. </a:t>
            </a:r>
          </a:p>
          <a:p>
            <a:r>
              <a:rPr lang="en-IN" dirty="0"/>
              <a:t>These small projections of tissue prevent the cystic duct from collapsing or distending. </a:t>
            </a:r>
          </a:p>
        </p:txBody>
      </p:sp>
      <p:pic>
        <p:nvPicPr>
          <p:cNvPr id="4" name="Picture 3">
            <a:extLst>
              <a:ext uri="{FF2B5EF4-FFF2-40B4-BE49-F238E27FC236}">
                <a16:creationId xmlns:a16="http://schemas.microsoft.com/office/drawing/2014/main" id="{F86C5C1A-83AE-5D63-2A5B-2207DB32D1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8495200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When stimulated by cholecystokinin, produced by the duodenum, the gallbladder contracts and empties bile into the biliary tree at the level of the proximal common bile duct. </a:t>
            </a:r>
          </a:p>
          <a:p>
            <a:r>
              <a:rPr lang="en-IN" dirty="0"/>
              <a:t>Bile travels from the common bile duct toward the duodenum, where it meets the main pancreatic duct at the ampulla of </a:t>
            </a:r>
            <a:r>
              <a:rPr lang="en-IN" dirty="0" err="1"/>
              <a:t>Vater</a:t>
            </a:r>
            <a:r>
              <a:rPr lang="en-IN" dirty="0"/>
              <a:t> or </a:t>
            </a:r>
            <a:r>
              <a:rPr lang="en-IN" dirty="0" err="1"/>
              <a:t>hepatopancreatic</a:t>
            </a:r>
            <a:r>
              <a:rPr lang="en-IN" dirty="0"/>
              <a:t> ampulla. </a:t>
            </a:r>
          </a:p>
          <a:p>
            <a:r>
              <a:rPr lang="en-IN" dirty="0"/>
              <a:t>There, pancreatic juices and bile are mixed together.</a:t>
            </a:r>
          </a:p>
          <a:p>
            <a:endParaRPr lang="en-IN" dirty="0"/>
          </a:p>
        </p:txBody>
      </p:sp>
      <p:pic>
        <p:nvPicPr>
          <p:cNvPr id="4" name="Picture 3">
            <a:extLst>
              <a:ext uri="{FF2B5EF4-FFF2-40B4-BE49-F238E27FC236}">
                <a16:creationId xmlns:a16="http://schemas.microsoft.com/office/drawing/2014/main" id="{20CF758A-8E2D-3269-EC43-559474D8AC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22975327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ANATOMY AND PHYSIOLOGY</a:t>
            </a:r>
            <a:br>
              <a:rPr lang="en-IN" dirty="0"/>
            </a:br>
            <a:r>
              <a:rPr lang="en-IN" dirty="0"/>
              <a:t>OF THE BILE DUCTS</a:t>
            </a:r>
          </a:p>
        </p:txBody>
      </p:sp>
      <p:sp>
        <p:nvSpPr>
          <p:cNvPr id="3" name="Content Placeholder 2"/>
          <p:cNvSpPr>
            <a:spLocks noGrp="1"/>
          </p:cNvSpPr>
          <p:nvPr>
            <p:ph idx="1"/>
          </p:nvPr>
        </p:nvSpPr>
        <p:spPr/>
        <p:txBody>
          <a:bodyPr>
            <a:normAutofit/>
          </a:bodyPr>
          <a:lstStyle/>
          <a:p>
            <a:r>
              <a:rPr lang="en-IN" dirty="0"/>
              <a:t>The sphincter of </a:t>
            </a:r>
            <a:r>
              <a:rPr lang="en-IN" dirty="0" err="1"/>
              <a:t>Oddi</a:t>
            </a:r>
            <a:r>
              <a:rPr lang="en-IN" dirty="0"/>
              <a:t>, also referred to as the </a:t>
            </a:r>
            <a:r>
              <a:rPr lang="en-IN" dirty="0" err="1"/>
              <a:t>hepatopancreatic</a:t>
            </a:r>
            <a:r>
              <a:rPr lang="en-IN" dirty="0"/>
              <a:t> sphincter, is the opening that allows bile and pancreatic juices to flow into the duodenum. </a:t>
            </a:r>
          </a:p>
          <a:p>
            <a:r>
              <a:rPr lang="en-IN" dirty="0"/>
              <a:t>The fluid is mixed with </a:t>
            </a:r>
            <a:r>
              <a:rPr lang="en-IN" dirty="0" err="1"/>
              <a:t>chyme</a:t>
            </a:r>
            <a:r>
              <a:rPr lang="en-IN" dirty="0"/>
              <a:t> in the duodenum and appropriate chemical reactions ensue.</a:t>
            </a:r>
          </a:p>
        </p:txBody>
      </p:sp>
      <p:pic>
        <p:nvPicPr>
          <p:cNvPr id="4" name="Picture 3">
            <a:extLst>
              <a:ext uri="{FF2B5EF4-FFF2-40B4-BE49-F238E27FC236}">
                <a16:creationId xmlns:a16="http://schemas.microsoft.com/office/drawing/2014/main" id="{23C902C8-73AE-ED68-2C60-EE266F2DC07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3351354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SONOGRAPHY OF THE BILE DUCTS</a:t>
            </a:r>
          </a:p>
        </p:txBody>
      </p:sp>
      <p:sp>
        <p:nvSpPr>
          <p:cNvPr id="3" name="Content Placeholder 2"/>
          <p:cNvSpPr>
            <a:spLocks noGrp="1"/>
          </p:cNvSpPr>
          <p:nvPr>
            <p:ph idx="1"/>
          </p:nvPr>
        </p:nvSpPr>
        <p:spPr/>
        <p:txBody>
          <a:bodyPr>
            <a:normAutofit/>
          </a:bodyPr>
          <a:lstStyle/>
          <a:p>
            <a:r>
              <a:rPr lang="en-IN" dirty="0"/>
              <a:t>Patients should have nothing to eat or drink for at least 4 hours, although a period of 8 hours is optimal, before a sonogram of the bile duct is performed. </a:t>
            </a:r>
          </a:p>
          <a:p>
            <a:r>
              <a:rPr lang="en-IN" dirty="0"/>
              <a:t>The entire biliary tree should be examined. </a:t>
            </a:r>
          </a:p>
          <a:p>
            <a:r>
              <a:rPr lang="en-IN" dirty="0"/>
              <a:t>Although the common bile duct can often be differentiated from the common hepatic duct if recognized posterior to the head of the pancreas or inferior to the gallbladder neck, delineation may be difficult at times. </a:t>
            </a:r>
          </a:p>
          <a:p>
            <a:r>
              <a:rPr lang="en-IN" dirty="0"/>
              <a:t>For this reason, many sonographers and interpreting physicians may describe the portion of the biliary tree that is located at the </a:t>
            </a:r>
            <a:r>
              <a:rPr lang="en-IN" dirty="0" err="1"/>
              <a:t>porta</a:t>
            </a:r>
            <a:r>
              <a:rPr lang="en-IN" dirty="0"/>
              <a:t> </a:t>
            </a:r>
            <a:r>
              <a:rPr lang="en-IN" dirty="0" err="1"/>
              <a:t>hepatis</a:t>
            </a:r>
            <a:r>
              <a:rPr lang="en-IN" dirty="0"/>
              <a:t> as the common duct.</a:t>
            </a:r>
          </a:p>
        </p:txBody>
      </p:sp>
      <p:pic>
        <p:nvPicPr>
          <p:cNvPr id="4" name="Picture 3">
            <a:extLst>
              <a:ext uri="{FF2B5EF4-FFF2-40B4-BE49-F238E27FC236}">
                <a16:creationId xmlns:a16="http://schemas.microsoft.com/office/drawing/2014/main" id="{A9E5AB87-794F-7F1B-1929-E81CC6FD82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994937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SONOGRAPHY OF THE BILE DUCTS</a:t>
            </a:r>
          </a:p>
        </p:txBody>
      </p:sp>
      <p:sp>
        <p:nvSpPr>
          <p:cNvPr id="3" name="Content Placeholder 2"/>
          <p:cNvSpPr>
            <a:spLocks noGrp="1"/>
          </p:cNvSpPr>
          <p:nvPr>
            <p:ph idx="1"/>
          </p:nvPr>
        </p:nvSpPr>
        <p:spPr/>
        <p:txBody>
          <a:bodyPr>
            <a:normAutofit/>
          </a:bodyPr>
          <a:lstStyle/>
          <a:p>
            <a:r>
              <a:rPr lang="en-IN" dirty="0"/>
              <a:t>The normal </a:t>
            </a:r>
            <a:r>
              <a:rPr lang="en-IN" dirty="0" err="1"/>
              <a:t>antero</a:t>
            </a:r>
            <a:r>
              <a:rPr lang="en-IN" dirty="0"/>
              <a:t>-posterior diameter of the common duct in adults at the level of the </a:t>
            </a:r>
            <a:r>
              <a:rPr lang="en-IN" dirty="0" err="1"/>
              <a:t>porta</a:t>
            </a:r>
            <a:r>
              <a:rPr lang="en-IN" dirty="0"/>
              <a:t>- </a:t>
            </a:r>
            <a:r>
              <a:rPr lang="en-IN" dirty="0" err="1"/>
              <a:t>hepatis</a:t>
            </a:r>
            <a:r>
              <a:rPr lang="en-IN" dirty="0"/>
              <a:t> is between 1 and 7 mm, though clinical correlation is strongly recommended.</a:t>
            </a:r>
          </a:p>
          <a:p>
            <a:r>
              <a:rPr lang="en-IN" dirty="0"/>
              <a:t>For patients older than age 60 or who have had a cholecystectomy, a maximum diameter of 10 mm may be considered normal if the patient is asymptomatic.</a:t>
            </a:r>
          </a:p>
        </p:txBody>
      </p:sp>
      <p:pic>
        <p:nvPicPr>
          <p:cNvPr id="4" name="Picture 3">
            <a:extLst>
              <a:ext uri="{FF2B5EF4-FFF2-40B4-BE49-F238E27FC236}">
                <a16:creationId xmlns:a16="http://schemas.microsoft.com/office/drawing/2014/main" id="{4A6604F5-367D-0720-091E-8AFEEFEE441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31262472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The “shotgun sign” or “parallel tube sign” describes the enlargement of the common duct to the size of the adjacent portal vein. </a:t>
            </a:r>
          </a:p>
          <a:p>
            <a:r>
              <a:rPr lang="en-IN" dirty="0"/>
              <a:t>When this finding is present, </a:t>
            </a:r>
            <a:r>
              <a:rPr lang="en-IN" dirty="0" err="1"/>
              <a:t>color</a:t>
            </a:r>
            <a:r>
              <a:rPr lang="en-IN" dirty="0"/>
              <a:t> Doppler is helpful for delineating the portal vein from bile ducts. </a:t>
            </a:r>
          </a:p>
          <a:p>
            <a:r>
              <a:rPr lang="en-IN" dirty="0"/>
              <a:t>It is important to remember that all clinical history must be considered whenever an enlarged duct is observed.</a:t>
            </a:r>
          </a:p>
          <a:p>
            <a:endParaRPr lang="en-IN" dirty="0"/>
          </a:p>
        </p:txBody>
      </p:sp>
      <p:pic>
        <p:nvPicPr>
          <p:cNvPr id="4" name="Picture 3">
            <a:extLst>
              <a:ext uri="{FF2B5EF4-FFF2-40B4-BE49-F238E27FC236}">
                <a16:creationId xmlns:a16="http://schemas.microsoft.com/office/drawing/2014/main" id="{86A186F0-84CC-9600-75D7-0AE457858DF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28775552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4675" y="662676"/>
            <a:ext cx="4139237" cy="2428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9386" y="2455200"/>
            <a:ext cx="3363440" cy="3363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D4F1FD56-22B4-C932-5068-4C62D577D88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35770936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143000"/>
            <a:ext cx="609600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73E77643-3194-1DDA-B26A-303618EE0B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36435188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PATHOLOGY OF THE BILE DUCTS</a:t>
            </a:r>
          </a:p>
        </p:txBody>
      </p:sp>
      <p:pic>
        <p:nvPicPr>
          <p:cNvPr id="4" name="Picture 3">
            <a:extLst>
              <a:ext uri="{FF2B5EF4-FFF2-40B4-BE49-F238E27FC236}">
                <a16:creationId xmlns:a16="http://schemas.microsoft.com/office/drawing/2014/main" id="{7CA1BC08-9419-9DBB-A660-537E1EA70C4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34394820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Biliary Obstruction and Jaundice</a:t>
            </a:r>
            <a:br>
              <a:rPr lang="en-IN" dirty="0"/>
            </a:br>
            <a:endParaRPr lang="en-IN" dirty="0"/>
          </a:p>
        </p:txBody>
      </p:sp>
      <p:sp>
        <p:nvSpPr>
          <p:cNvPr id="3" name="Content Placeholder 2"/>
          <p:cNvSpPr>
            <a:spLocks noGrp="1"/>
          </p:cNvSpPr>
          <p:nvPr>
            <p:ph idx="1"/>
          </p:nvPr>
        </p:nvSpPr>
        <p:spPr/>
        <p:txBody>
          <a:bodyPr>
            <a:normAutofit/>
          </a:bodyPr>
          <a:lstStyle/>
          <a:p>
            <a:r>
              <a:rPr lang="en-IN" dirty="0"/>
              <a:t>Understanding the flow of bile from the liver to the duodenum is imperative to determine the level of biliary obstruction.</a:t>
            </a:r>
          </a:p>
          <a:p>
            <a:r>
              <a:rPr lang="en-IN" dirty="0"/>
              <a:t>The origin of bile is within the liver, which is considered the proximal portion of the biliary tree.</a:t>
            </a:r>
          </a:p>
          <a:p>
            <a:r>
              <a:rPr lang="en-IN" dirty="0"/>
              <a:t>Therefore, the common bile duct segment closest to the pancreatic head is considered the most distal segment of the biliary tree. </a:t>
            </a:r>
          </a:p>
          <a:p>
            <a:r>
              <a:rPr lang="en-IN" dirty="0"/>
              <a:t>As a rule, biliary dilatation will occur proximal to the level of obstruction. </a:t>
            </a:r>
          </a:p>
          <a:p>
            <a:r>
              <a:rPr lang="en-IN" dirty="0"/>
              <a:t>The common bile duct, the cystic duct, and part of the common hepatic duct are considered </a:t>
            </a:r>
            <a:r>
              <a:rPr lang="en-IN" dirty="0" err="1"/>
              <a:t>extrahepatic</a:t>
            </a:r>
            <a:r>
              <a:rPr lang="en-IN" dirty="0"/>
              <a:t> in location</a:t>
            </a:r>
          </a:p>
        </p:txBody>
      </p:sp>
      <p:pic>
        <p:nvPicPr>
          <p:cNvPr id="4" name="Picture 3">
            <a:extLst>
              <a:ext uri="{FF2B5EF4-FFF2-40B4-BE49-F238E27FC236}">
                <a16:creationId xmlns:a16="http://schemas.microsoft.com/office/drawing/2014/main" id="{6C37321E-A8E1-BB8C-EEEC-9355E2317C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30810596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Biliary Obstruction and Jaundice</a:t>
            </a:r>
          </a:p>
        </p:txBody>
      </p:sp>
      <p:sp>
        <p:nvSpPr>
          <p:cNvPr id="3" name="Content Placeholder 2"/>
          <p:cNvSpPr>
            <a:spLocks noGrp="1"/>
          </p:cNvSpPr>
          <p:nvPr>
            <p:ph idx="1"/>
          </p:nvPr>
        </p:nvSpPr>
        <p:spPr/>
        <p:txBody>
          <a:bodyPr>
            <a:normAutofit/>
          </a:bodyPr>
          <a:lstStyle/>
          <a:p>
            <a:r>
              <a:rPr lang="en-IN" dirty="0"/>
              <a:t>All other portions of the biliary tree are considered intrahepatic.</a:t>
            </a:r>
          </a:p>
          <a:p>
            <a:r>
              <a:rPr lang="en-IN" dirty="0"/>
              <a:t>The most common level for an obstruction to occur is the distal common bile duct. </a:t>
            </a:r>
          </a:p>
          <a:p>
            <a:r>
              <a:rPr lang="en-IN" dirty="0"/>
              <a:t>In most instances, the </a:t>
            </a:r>
            <a:r>
              <a:rPr lang="en-IN" dirty="0" err="1"/>
              <a:t>extrahepatic</a:t>
            </a:r>
            <a:r>
              <a:rPr lang="en-IN" dirty="0"/>
              <a:t> ducts will dilate first. </a:t>
            </a:r>
          </a:p>
          <a:p>
            <a:r>
              <a:rPr lang="en-IN" dirty="0"/>
              <a:t>Therefore, with obstruction of the distal common bile duct, there will be eventual dilatation of the common bile duct, gallbladder, common hepatic duct, and intrahepatic ducts. </a:t>
            </a:r>
          </a:p>
          <a:p>
            <a:r>
              <a:rPr lang="en-IN" dirty="0"/>
              <a:t>The most common causes of common bile duct obstruction are </a:t>
            </a:r>
            <a:r>
              <a:rPr lang="en-IN" dirty="0" err="1"/>
              <a:t>choledocholithiasis</a:t>
            </a:r>
            <a:r>
              <a:rPr lang="en-IN" dirty="0"/>
              <a:t>, chronic pancreatitis, acute pancreatitis, and pancreatic carcinoma.</a:t>
            </a:r>
          </a:p>
          <a:p>
            <a:endParaRPr lang="en-IN" dirty="0"/>
          </a:p>
        </p:txBody>
      </p:sp>
      <p:pic>
        <p:nvPicPr>
          <p:cNvPr id="4" name="Picture 3">
            <a:extLst>
              <a:ext uri="{FF2B5EF4-FFF2-40B4-BE49-F238E27FC236}">
                <a16:creationId xmlns:a16="http://schemas.microsoft.com/office/drawing/2014/main" id="{36ED5CB1-7F1C-40AF-8459-64FADFE6EDC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21055279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Biliary Obstruction and Jaundice</a:t>
            </a:r>
          </a:p>
        </p:txBody>
      </p:sp>
      <p:sp>
        <p:nvSpPr>
          <p:cNvPr id="3" name="Content Placeholder 2"/>
          <p:cNvSpPr>
            <a:spLocks noGrp="1"/>
          </p:cNvSpPr>
          <p:nvPr>
            <p:ph idx="1"/>
          </p:nvPr>
        </p:nvSpPr>
        <p:spPr/>
        <p:txBody>
          <a:bodyPr>
            <a:normAutofit/>
          </a:bodyPr>
          <a:lstStyle/>
          <a:p>
            <a:r>
              <a:rPr lang="en-IN" dirty="0"/>
              <a:t>As a result of an obstruction within the biliary tree, the patient will eventually suffer from jaundice.</a:t>
            </a:r>
          </a:p>
          <a:p>
            <a:r>
              <a:rPr lang="en-IN" dirty="0"/>
              <a:t>Jaundice occurs as a consequence of bilirubin accumulation within the tissues of the body. </a:t>
            </a:r>
          </a:p>
          <a:p>
            <a:r>
              <a:rPr lang="en-IN" dirty="0"/>
              <a:t>Bilirubin, which is a yellowish pigment found in bile, can turn the skin and the whites of the eyes yellow if allowed to accumulate. </a:t>
            </a:r>
          </a:p>
          <a:p>
            <a:r>
              <a:rPr lang="en-IN" dirty="0"/>
              <a:t>Accordingly, excessive bilirubin in the body leads to elevated serum bilirubin.</a:t>
            </a:r>
          </a:p>
          <a:p>
            <a:r>
              <a:rPr lang="en-IN" dirty="0"/>
              <a:t>Although biliary obstruction is a common cause of jaundice, jaundice can also occur with other conditions, including hepatitis, cirrhosis, liver carcinoma, pancreatic carcinoma, and </a:t>
            </a:r>
            <a:r>
              <a:rPr lang="en-IN" dirty="0" err="1"/>
              <a:t>hemolytic</a:t>
            </a:r>
            <a:r>
              <a:rPr lang="en-IN" dirty="0"/>
              <a:t> disorders.</a:t>
            </a:r>
          </a:p>
        </p:txBody>
      </p:sp>
      <p:pic>
        <p:nvPicPr>
          <p:cNvPr id="4" name="Picture 3">
            <a:extLst>
              <a:ext uri="{FF2B5EF4-FFF2-40B4-BE49-F238E27FC236}">
                <a16:creationId xmlns:a16="http://schemas.microsoft.com/office/drawing/2014/main" id="{11EB82EE-8E1D-B47B-D69D-12E1302AB04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1634074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Choledocholithiasis</a:t>
            </a:r>
            <a:endParaRPr lang="en-IN" dirty="0"/>
          </a:p>
        </p:txBody>
      </p:sp>
      <p:sp>
        <p:nvSpPr>
          <p:cNvPr id="3" name="Content Placeholder 2"/>
          <p:cNvSpPr>
            <a:spLocks noGrp="1"/>
          </p:cNvSpPr>
          <p:nvPr>
            <p:ph idx="1"/>
          </p:nvPr>
        </p:nvSpPr>
        <p:spPr/>
        <p:txBody>
          <a:bodyPr>
            <a:normAutofit/>
          </a:bodyPr>
          <a:lstStyle/>
          <a:p>
            <a:r>
              <a:rPr lang="en-IN" dirty="0"/>
              <a:t>Whenever biliary stasis occurs, gallstone formation is probable. </a:t>
            </a:r>
          </a:p>
          <a:p>
            <a:r>
              <a:rPr lang="en-IN" dirty="0" err="1"/>
              <a:t>Choledocholithiasis</a:t>
            </a:r>
            <a:r>
              <a:rPr lang="en-IN" dirty="0"/>
              <a:t> describes the presence of gallstones within the bile ducts (Fig. 4-2). </a:t>
            </a:r>
          </a:p>
          <a:p>
            <a:r>
              <a:rPr lang="en-IN" dirty="0"/>
              <a:t>Stones typically form in the gallbladder and pass into the biliary tree. </a:t>
            </a:r>
          </a:p>
          <a:p>
            <a:r>
              <a:rPr lang="en-IN" dirty="0"/>
              <a:t>Rarely, they can form in the ducts themselves, although some conditions increase the incidence of primary biliary tree stones. </a:t>
            </a:r>
          </a:p>
        </p:txBody>
      </p:sp>
      <p:pic>
        <p:nvPicPr>
          <p:cNvPr id="4" name="Picture 3">
            <a:extLst>
              <a:ext uri="{FF2B5EF4-FFF2-40B4-BE49-F238E27FC236}">
                <a16:creationId xmlns:a16="http://schemas.microsoft.com/office/drawing/2014/main" id="{6E2407EE-A49F-C112-B3AA-9D6B595B22E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29504602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Gallstones located within the common bile duct are considered the most common cause of obstructive jaundice. </a:t>
            </a:r>
          </a:p>
          <a:p>
            <a:r>
              <a:rPr lang="en-IN" dirty="0"/>
              <a:t>Most stones will be located near the ampulla of </a:t>
            </a:r>
            <a:r>
              <a:rPr lang="en-IN" dirty="0" err="1"/>
              <a:t>Vater</a:t>
            </a:r>
            <a:r>
              <a:rPr lang="en-IN" dirty="0"/>
              <a:t> and can be difficult to image secondary to </a:t>
            </a:r>
            <a:r>
              <a:rPr lang="en-IN" dirty="0" err="1"/>
              <a:t>neighboring</a:t>
            </a:r>
            <a:r>
              <a:rPr lang="en-IN" dirty="0"/>
              <a:t> bowel gas shadows</a:t>
            </a:r>
          </a:p>
          <a:p>
            <a:endParaRPr lang="en-IN" dirty="0"/>
          </a:p>
        </p:txBody>
      </p:sp>
      <p:pic>
        <p:nvPicPr>
          <p:cNvPr id="4" name="Picture 3">
            <a:extLst>
              <a:ext uri="{FF2B5EF4-FFF2-40B4-BE49-F238E27FC236}">
                <a16:creationId xmlns:a16="http://schemas.microsoft.com/office/drawing/2014/main" id="{A6BA6328-F029-A7C3-EF5D-C13DABA6439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28862750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237" y="609600"/>
            <a:ext cx="3810000"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3657600"/>
            <a:ext cx="4093329" cy="2665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4A11123E-377E-1F74-72E8-51D3B4FE8FF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19307718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19200" y="457200"/>
            <a:ext cx="5990339" cy="5440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231425C0-A295-9A02-5B6E-334C0181DDC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36020010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Choledocholithiasis</a:t>
            </a:r>
            <a:endParaRPr lang="en-IN" dirty="0"/>
          </a:p>
        </p:txBody>
      </p:sp>
      <p:sp>
        <p:nvSpPr>
          <p:cNvPr id="3" name="Content Placeholder 2"/>
          <p:cNvSpPr>
            <a:spLocks noGrp="1"/>
          </p:cNvSpPr>
          <p:nvPr>
            <p:ph idx="1"/>
          </p:nvPr>
        </p:nvSpPr>
        <p:spPr/>
        <p:txBody>
          <a:bodyPr>
            <a:normAutofit/>
          </a:bodyPr>
          <a:lstStyle/>
          <a:p>
            <a:r>
              <a:rPr lang="en-IN" dirty="0"/>
              <a:t>Patients with </a:t>
            </a:r>
            <a:r>
              <a:rPr lang="en-IN" dirty="0" err="1"/>
              <a:t>choledocholithiasis</a:t>
            </a:r>
            <a:r>
              <a:rPr lang="en-IN" dirty="0"/>
              <a:t> may be asymptomatic and the biliary ducts may actually be normal in </a:t>
            </a:r>
            <a:r>
              <a:rPr lang="en-IN" dirty="0" err="1"/>
              <a:t>caliber</a:t>
            </a:r>
            <a:r>
              <a:rPr lang="en-IN" dirty="0"/>
              <a:t>. </a:t>
            </a:r>
          </a:p>
          <a:p>
            <a:r>
              <a:rPr lang="en-IN" dirty="0"/>
              <a:t>However, if biliary obstruction has occurred as a result of </a:t>
            </a:r>
            <a:r>
              <a:rPr lang="en-IN" dirty="0" err="1"/>
              <a:t>choledocholithiasis</a:t>
            </a:r>
            <a:r>
              <a:rPr lang="en-IN" dirty="0"/>
              <a:t>, the patient will have jaundice, elevated bilirubin and alkaline phosphatase, </a:t>
            </a:r>
            <a:r>
              <a:rPr lang="en-IN" dirty="0" err="1"/>
              <a:t>andright</a:t>
            </a:r>
            <a:r>
              <a:rPr lang="en-IN" dirty="0"/>
              <a:t> upper quadrant pain. </a:t>
            </a:r>
          </a:p>
          <a:p>
            <a:r>
              <a:rPr lang="en-IN" dirty="0"/>
              <a:t>Stones located within the duct will appear as echogenic, shadowing foci; however, about 20% of the time these stones may not shadow</a:t>
            </a:r>
          </a:p>
        </p:txBody>
      </p:sp>
      <p:pic>
        <p:nvPicPr>
          <p:cNvPr id="4" name="Picture 3">
            <a:extLst>
              <a:ext uri="{FF2B5EF4-FFF2-40B4-BE49-F238E27FC236}">
                <a16:creationId xmlns:a16="http://schemas.microsoft.com/office/drawing/2014/main" id="{53F77D19-A8A6-7C8E-B2FB-9FCB1A4B5D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41652392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Choledocholithiasis</a:t>
            </a:r>
            <a:endParaRPr lang="en-IN" dirty="0"/>
          </a:p>
        </p:txBody>
      </p:sp>
      <p:sp>
        <p:nvSpPr>
          <p:cNvPr id="3" name="Content Placeholder 2"/>
          <p:cNvSpPr>
            <a:spLocks noGrp="1"/>
          </p:cNvSpPr>
          <p:nvPr>
            <p:ph idx="1"/>
          </p:nvPr>
        </p:nvSpPr>
        <p:spPr/>
        <p:txBody>
          <a:bodyPr>
            <a:normAutofit/>
          </a:bodyPr>
          <a:lstStyle/>
          <a:p>
            <a:r>
              <a:rPr lang="en-IN" dirty="0"/>
              <a:t>An uncommon manifestation of </a:t>
            </a:r>
            <a:r>
              <a:rPr lang="en-IN" dirty="0" err="1"/>
              <a:t>choledocholithiasis</a:t>
            </a:r>
            <a:r>
              <a:rPr lang="en-IN" dirty="0"/>
              <a:t> is </a:t>
            </a:r>
            <a:r>
              <a:rPr lang="en-IN" dirty="0" err="1"/>
              <a:t>Mirizzi</a:t>
            </a:r>
            <a:r>
              <a:rPr lang="en-IN" dirty="0"/>
              <a:t> syndrome.</a:t>
            </a:r>
          </a:p>
          <a:p>
            <a:r>
              <a:rPr lang="en-IN" dirty="0"/>
              <a:t>It is a clinical condition in which the patient presents with jaundice, pain, and fever, secondary to a lodged stone in the cystic duct. </a:t>
            </a:r>
          </a:p>
          <a:p>
            <a:r>
              <a:rPr lang="en-IN" dirty="0"/>
              <a:t>With </a:t>
            </a:r>
            <a:r>
              <a:rPr lang="en-IN" dirty="0" err="1"/>
              <a:t>Mirizzi</a:t>
            </a:r>
            <a:r>
              <a:rPr lang="en-IN" dirty="0"/>
              <a:t> syndrome, compression of the common hepatic duct is</a:t>
            </a:r>
          </a:p>
          <a:p>
            <a:r>
              <a:rPr lang="en-IN" dirty="0"/>
              <a:t>caused by a stone located within the cystic duct.</a:t>
            </a:r>
          </a:p>
          <a:p>
            <a:r>
              <a:rPr lang="en-IN" dirty="0"/>
              <a:t>The </a:t>
            </a:r>
            <a:r>
              <a:rPr lang="en-IN" dirty="0" err="1"/>
              <a:t>sonographic</a:t>
            </a:r>
            <a:r>
              <a:rPr lang="en-IN" dirty="0"/>
              <a:t> findings and symptoms may appear much like those found in </a:t>
            </a:r>
            <a:r>
              <a:rPr lang="en-IN" dirty="0" err="1"/>
              <a:t>cholecystitis</a:t>
            </a:r>
            <a:r>
              <a:rPr lang="en-IN" dirty="0"/>
              <a:t>. </a:t>
            </a:r>
          </a:p>
          <a:p>
            <a:r>
              <a:rPr lang="en-IN" dirty="0" err="1"/>
              <a:t>Mirizzi</a:t>
            </a:r>
            <a:r>
              <a:rPr lang="en-IN" dirty="0"/>
              <a:t> syndrome may be suspected with </a:t>
            </a:r>
            <a:r>
              <a:rPr lang="en-IN" dirty="0" err="1"/>
              <a:t>sonography</a:t>
            </a:r>
            <a:r>
              <a:rPr lang="en-IN" dirty="0"/>
              <a:t>, but typically it is diagnosed by cholangiography or endoscopic retrograde </a:t>
            </a:r>
            <a:r>
              <a:rPr lang="en-IN" dirty="0" err="1"/>
              <a:t>cholangiopancreatography</a:t>
            </a:r>
            <a:endParaRPr lang="en-IN" dirty="0"/>
          </a:p>
        </p:txBody>
      </p:sp>
      <p:pic>
        <p:nvPicPr>
          <p:cNvPr id="4" name="Picture 3">
            <a:extLst>
              <a:ext uri="{FF2B5EF4-FFF2-40B4-BE49-F238E27FC236}">
                <a16:creationId xmlns:a16="http://schemas.microsoft.com/office/drawing/2014/main" id="{8A6965FA-B72B-46E3-CF57-CFA15A37CB0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23024580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43000" y="1143000"/>
            <a:ext cx="6144872" cy="393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E2A3F6C8-02A2-4B62-BFF3-4D82448462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40495479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Cholangitis</a:t>
            </a:r>
            <a:br>
              <a:rPr lang="en-IN" dirty="0"/>
            </a:br>
            <a:endParaRPr lang="en-IN" dirty="0"/>
          </a:p>
        </p:txBody>
      </p:sp>
      <p:sp>
        <p:nvSpPr>
          <p:cNvPr id="3" name="Content Placeholder 2"/>
          <p:cNvSpPr>
            <a:spLocks noGrp="1"/>
          </p:cNvSpPr>
          <p:nvPr>
            <p:ph idx="1"/>
          </p:nvPr>
        </p:nvSpPr>
        <p:spPr/>
        <p:txBody>
          <a:bodyPr>
            <a:normAutofit/>
          </a:bodyPr>
          <a:lstStyle/>
          <a:p>
            <a:r>
              <a:rPr lang="en-IN" dirty="0"/>
              <a:t>Inflammation of the biliary ducts is termed cholangitis.</a:t>
            </a:r>
          </a:p>
          <a:p>
            <a:r>
              <a:rPr lang="en-IN" dirty="0"/>
              <a:t>When the bile duct walls thicken greater than 5 mm, one should suspect some form of cholangitis.</a:t>
            </a:r>
          </a:p>
          <a:p>
            <a:r>
              <a:rPr lang="en-IN" dirty="0"/>
              <a:t>The cause of this disorder is most often some type of obstructive disease, as in the case of </a:t>
            </a:r>
            <a:r>
              <a:rPr lang="en-IN" dirty="0" err="1"/>
              <a:t>choledocholithiasis</a:t>
            </a:r>
            <a:r>
              <a:rPr lang="en-IN" dirty="0"/>
              <a:t>.</a:t>
            </a:r>
          </a:p>
        </p:txBody>
      </p:sp>
      <p:pic>
        <p:nvPicPr>
          <p:cNvPr id="4" name="Picture 3">
            <a:extLst>
              <a:ext uri="{FF2B5EF4-FFF2-40B4-BE49-F238E27FC236}">
                <a16:creationId xmlns:a16="http://schemas.microsoft.com/office/drawing/2014/main" id="{511AA4D2-469F-C908-BD9F-961758D9317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36706269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However, there are several types of cholangitis, including acute bacterial, AIDS, Oriental (recurrent pyogenic cholangitis), and </a:t>
            </a:r>
            <a:r>
              <a:rPr lang="en-IN" dirty="0" err="1"/>
              <a:t>sclerosing</a:t>
            </a:r>
            <a:r>
              <a:rPr lang="en-IN" dirty="0"/>
              <a:t>. </a:t>
            </a:r>
          </a:p>
          <a:p>
            <a:r>
              <a:rPr lang="en-IN" dirty="0"/>
              <a:t>All of these have similar </a:t>
            </a:r>
            <a:r>
              <a:rPr lang="en-IN" dirty="0" err="1"/>
              <a:t>sonographic</a:t>
            </a:r>
            <a:r>
              <a:rPr lang="en-IN" dirty="0"/>
              <a:t> findings that include varying degrees of biliary dilatation, biliary sludge, and bile duct wall thickening</a:t>
            </a:r>
          </a:p>
        </p:txBody>
      </p:sp>
      <p:pic>
        <p:nvPicPr>
          <p:cNvPr id="4" name="Picture 3">
            <a:extLst>
              <a:ext uri="{FF2B5EF4-FFF2-40B4-BE49-F238E27FC236}">
                <a16:creationId xmlns:a16="http://schemas.microsoft.com/office/drawing/2014/main" id="{B6EB9FE9-1640-C4E1-AB58-C6266A42517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23720904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00480" y="1219201"/>
            <a:ext cx="5786895" cy="4538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07834C0B-27BD-933D-BB5A-DA5A0BA344D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28961480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err="1"/>
              <a:t>Pneumobilia</a:t>
            </a:r>
            <a:br>
              <a:rPr lang="en-IN" dirty="0"/>
            </a:br>
            <a:endParaRPr lang="en-IN" dirty="0"/>
          </a:p>
        </p:txBody>
      </p:sp>
      <p:sp>
        <p:nvSpPr>
          <p:cNvPr id="3" name="Content Placeholder 2"/>
          <p:cNvSpPr>
            <a:spLocks noGrp="1"/>
          </p:cNvSpPr>
          <p:nvPr>
            <p:ph idx="1"/>
          </p:nvPr>
        </p:nvSpPr>
        <p:spPr/>
        <p:txBody>
          <a:bodyPr>
            <a:normAutofit/>
          </a:bodyPr>
          <a:lstStyle/>
          <a:p>
            <a:r>
              <a:rPr lang="en-IN" dirty="0" err="1"/>
              <a:t>Pneumobilia</a:t>
            </a:r>
            <a:r>
              <a:rPr lang="en-IN" dirty="0"/>
              <a:t> is defined as air within the biliary tree.</a:t>
            </a:r>
          </a:p>
          <a:p>
            <a:r>
              <a:rPr lang="en-IN" dirty="0" err="1"/>
              <a:t>Pneumobilia</a:t>
            </a:r>
            <a:r>
              <a:rPr lang="en-IN" dirty="0"/>
              <a:t> may be associated with recent biliary or gastric surgery, emphysematous or prolonged acute </a:t>
            </a:r>
            <a:r>
              <a:rPr lang="en-IN" dirty="0" err="1"/>
              <a:t>cholecystitis</a:t>
            </a:r>
            <a:r>
              <a:rPr lang="en-IN" dirty="0"/>
              <a:t>, or fistula formation.</a:t>
            </a:r>
          </a:p>
          <a:p>
            <a:r>
              <a:rPr lang="en-IN" dirty="0" err="1"/>
              <a:t>Pneumobilia</a:t>
            </a:r>
            <a:r>
              <a:rPr lang="en-IN" dirty="0"/>
              <a:t> is diagnosed </a:t>
            </a:r>
            <a:r>
              <a:rPr lang="en-IN" dirty="0" err="1"/>
              <a:t>sonographically</a:t>
            </a:r>
            <a:r>
              <a:rPr lang="en-IN" dirty="0"/>
              <a:t> when echogenic linear structures are seen within the ducts (Fig. 4-3). </a:t>
            </a:r>
          </a:p>
          <a:p>
            <a:r>
              <a:rPr lang="en-IN" dirty="0"/>
              <a:t>Air will produce ring-down </a:t>
            </a:r>
            <a:r>
              <a:rPr lang="en-IN" dirty="0" err="1"/>
              <a:t>artifact</a:t>
            </a:r>
            <a:r>
              <a:rPr lang="en-IN" dirty="0"/>
              <a:t> and have dirty shadowing.</a:t>
            </a:r>
          </a:p>
        </p:txBody>
      </p:sp>
      <p:pic>
        <p:nvPicPr>
          <p:cNvPr id="4" name="Picture 3">
            <a:extLst>
              <a:ext uri="{FF2B5EF4-FFF2-40B4-BE49-F238E27FC236}">
                <a16:creationId xmlns:a16="http://schemas.microsoft.com/office/drawing/2014/main" id="{596E433A-90B0-F4A2-39D6-500F4CADCFD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2228327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371600"/>
            <a:ext cx="6928726" cy="4621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C537644B-55FB-3324-7123-E1C27F2C14E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10759888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219200"/>
            <a:ext cx="457200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2E3999A5-C802-0C65-48DF-491D8480FAC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36163402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295400"/>
            <a:ext cx="6445629" cy="337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57F6B0EE-AE90-68D4-9953-41FC853F64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6340775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err="1"/>
              <a:t>Cholangiocarcinoma</a:t>
            </a:r>
            <a:r>
              <a:rPr lang="en-IN" dirty="0"/>
              <a:t> and </a:t>
            </a:r>
            <a:r>
              <a:rPr lang="en-IN" dirty="0" err="1"/>
              <a:t>Klatskin</a:t>
            </a:r>
            <a:r>
              <a:rPr lang="en-IN" dirty="0"/>
              <a:t> </a:t>
            </a:r>
            <a:r>
              <a:rPr lang="en-IN" dirty="0" err="1"/>
              <a:t>Tumors</a:t>
            </a:r>
            <a:br>
              <a:rPr lang="en-IN" dirty="0"/>
            </a:br>
            <a:endParaRPr lang="en-IN" dirty="0"/>
          </a:p>
        </p:txBody>
      </p:sp>
      <p:sp>
        <p:nvSpPr>
          <p:cNvPr id="3" name="Content Placeholder 2"/>
          <p:cNvSpPr>
            <a:spLocks noGrp="1"/>
          </p:cNvSpPr>
          <p:nvPr>
            <p:ph idx="1"/>
          </p:nvPr>
        </p:nvSpPr>
        <p:spPr/>
        <p:txBody>
          <a:bodyPr>
            <a:normAutofit/>
          </a:bodyPr>
          <a:lstStyle/>
          <a:p>
            <a:r>
              <a:rPr lang="en-IN" dirty="0"/>
              <a:t>Primary biliary tree cancer is referred to as </a:t>
            </a:r>
            <a:r>
              <a:rPr lang="en-IN" dirty="0" err="1"/>
              <a:t>cholangiocarcinoma</a:t>
            </a:r>
            <a:r>
              <a:rPr lang="en-IN" dirty="0"/>
              <a:t>.</a:t>
            </a:r>
          </a:p>
          <a:p>
            <a:r>
              <a:rPr lang="en-IN" dirty="0"/>
              <a:t>It can occur anywhere in the biliary tree.</a:t>
            </a:r>
          </a:p>
          <a:p>
            <a:r>
              <a:rPr lang="en-IN" dirty="0" err="1"/>
              <a:t>Klatskin</a:t>
            </a:r>
            <a:r>
              <a:rPr lang="en-IN" dirty="0"/>
              <a:t> </a:t>
            </a:r>
            <a:r>
              <a:rPr lang="en-IN" dirty="0" err="1"/>
              <a:t>tumors</a:t>
            </a:r>
            <a:r>
              <a:rPr lang="en-IN" dirty="0"/>
              <a:t> are the most common manifestation of </a:t>
            </a:r>
            <a:r>
              <a:rPr lang="en-IN" dirty="0" err="1"/>
              <a:t>cholangiocarcinoma</a:t>
            </a:r>
            <a:r>
              <a:rPr lang="en-IN" dirty="0"/>
              <a:t>. </a:t>
            </a:r>
          </a:p>
          <a:p>
            <a:r>
              <a:rPr lang="en-IN" dirty="0"/>
              <a:t>These </a:t>
            </a:r>
            <a:r>
              <a:rPr lang="en-IN" dirty="0" err="1"/>
              <a:t>tumors</a:t>
            </a:r>
            <a:r>
              <a:rPr lang="en-IN" dirty="0"/>
              <a:t> are located at the junction of the right and left hepatic ducts and cause dilatation of the intrahepatic ducts. </a:t>
            </a:r>
          </a:p>
          <a:p>
            <a:r>
              <a:rPr lang="en-IN" dirty="0"/>
              <a:t>Patients will present with jaundice, pruritus, unexplained weight loss, and abdominal pain.</a:t>
            </a:r>
          </a:p>
        </p:txBody>
      </p:sp>
      <p:pic>
        <p:nvPicPr>
          <p:cNvPr id="4" name="Picture 3">
            <a:extLst>
              <a:ext uri="{FF2B5EF4-FFF2-40B4-BE49-F238E27FC236}">
                <a16:creationId xmlns:a16="http://schemas.microsoft.com/office/drawing/2014/main" id="{BA808561-6107-4FF2-2ECA-8F9342C912D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4858216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1332" y="565072"/>
            <a:ext cx="3818571" cy="2863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3771901"/>
            <a:ext cx="3799305"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66FACEEB-6349-3F67-CAA0-78001E1D73F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17878656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76200"/>
            <a:ext cx="6400800"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2D22AF6E-7BA9-86A0-51FA-753DF90D7C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22641434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err="1"/>
              <a:t>Cholangiocarcinoma</a:t>
            </a:r>
            <a:r>
              <a:rPr lang="en-IN" dirty="0"/>
              <a:t> and </a:t>
            </a:r>
            <a:r>
              <a:rPr lang="en-IN" dirty="0" err="1"/>
              <a:t>Klatskin</a:t>
            </a:r>
            <a:r>
              <a:rPr lang="en-IN" dirty="0"/>
              <a:t> </a:t>
            </a:r>
            <a:r>
              <a:rPr lang="en-IN" dirty="0" err="1"/>
              <a:t>Tumors</a:t>
            </a:r>
            <a:br>
              <a:rPr lang="en-IN" dirty="0"/>
            </a:br>
            <a:endParaRPr lang="en-IN" dirty="0"/>
          </a:p>
        </p:txBody>
      </p:sp>
      <p:sp>
        <p:nvSpPr>
          <p:cNvPr id="3" name="Content Placeholder 2"/>
          <p:cNvSpPr>
            <a:spLocks noGrp="1"/>
          </p:cNvSpPr>
          <p:nvPr>
            <p:ph idx="1"/>
          </p:nvPr>
        </p:nvSpPr>
        <p:spPr/>
        <p:txBody>
          <a:bodyPr>
            <a:normAutofit/>
          </a:bodyPr>
          <a:lstStyle/>
          <a:p>
            <a:r>
              <a:rPr lang="en-IN" dirty="0"/>
              <a:t>Laboratory findings include an elevated serum bilirubin. </a:t>
            </a:r>
          </a:p>
          <a:p>
            <a:r>
              <a:rPr lang="en-IN" dirty="0" err="1"/>
              <a:t>Sonographically</a:t>
            </a:r>
            <a:r>
              <a:rPr lang="en-IN" dirty="0"/>
              <a:t>, dilated intrahepatic ducts that abruptly terminate at the level of the </a:t>
            </a:r>
            <a:r>
              <a:rPr lang="en-IN" dirty="0" err="1"/>
              <a:t>tumor</a:t>
            </a:r>
            <a:r>
              <a:rPr lang="en-IN" dirty="0"/>
              <a:t> are suggestive of </a:t>
            </a:r>
            <a:r>
              <a:rPr lang="en-IN" dirty="0" err="1"/>
              <a:t>cholangiocarcinoma</a:t>
            </a:r>
            <a:r>
              <a:rPr lang="en-IN" dirty="0"/>
              <a:t> (Fig. 4-4).</a:t>
            </a:r>
          </a:p>
          <a:p>
            <a:r>
              <a:rPr lang="en-IN" dirty="0"/>
              <a:t>Occasionally, a solid mass may be noted within the liver or ducts. </a:t>
            </a:r>
          </a:p>
          <a:p>
            <a:r>
              <a:rPr lang="en-IN" dirty="0"/>
              <a:t>Other forms of biliary cancer include squamous cell carcinoma and </a:t>
            </a:r>
            <a:r>
              <a:rPr lang="en-IN" dirty="0" err="1"/>
              <a:t>cystadenocarcinoma</a:t>
            </a:r>
            <a:endParaRPr lang="en-IN" dirty="0"/>
          </a:p>
          <a:p>
            <a:endParaRPr lang="en-IN" dirty="0"/>
          </a:p>
        </p:txBody>
      </p:sp>
      <p:pic>
        <p:nvPicPr>
          <p:cNvPr id="4" name="Picture 3">
            <a:extLst>
              <a:ext uri="{FF2B5EF4-FFF2-40B4-BE49-F238E27FC236}">
                <a16:creationId xmlns:a16="http://schemas.microsoft.com/office/drawing/2014/main" id="{953BCF28-5A46-5967-892B-A9554C5BFA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30299286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41489" y="685800"/>
            <a:ext cx="4504003" cy="544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7752641F-A215-A9D0-7E12-F36E4ACC7CD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9864716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76400" y="762000"/>
            <a:ext cx="5885400" cy="484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C63492A8-3F63-AECD-6A33-E5269CCC8C6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174503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PEDIATRIC PATHOLOGY</a:t>
            </a:r>
            <a:br>
              <a:rPr lang="en-IN" dirty="0"/>
            </a:br>
            <a:r>
              <a:rPr lang="en-IN" dirty="0"/>
              <a:t>OF THE BILE DUCTS</a:t>
            </a:r>
          </a:p>
        </p:txBody>
      </p:sp>
      <p:pic>
        <p:nvPicPr>
          <p:cNvPr id="4" name="Picture 3">
            <a:extLst>
              <a:ext uri="{FF2B5EF4-FFF2-40B4-BE49-F238E27FC236}">
                <a16:creationId xmlns:a16="http://schemas.microsoft.com/office/drawing/2014/main" id="{1326A59A-EA42-3CD3-8404-395FCADC3A3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31273239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Biliary Atresia</a:t>
            </a:r>
            <a:br>
              <a:rPr lang="en-IN" dirty="0"/>
            </a:br>
            <a:endParaRPr lang="en-IN" dirty="0"/>
          </a:p>
        </p:txBody>
      </p:sp>
      <p:sp>
        <p:nvSpPr>
          <p:cNvPr id="3" name="Content Placeholder 2"/>
          <p:cNvSpPr>
            <a:spLocks noGrp="1"/>
          </p:cNvSpPr>
          <p:nvPr>
            <p:ph idx="1"/>
          </p:nvPr>
        </p:nvSpPr>
        <p:spPr/>
        <p:txBody>
          <a:bodyPr>
            <a:normAutofit/>
          </a:bodyPr>
          <a:lstStyle/>
          <a:p>
            <a:r>
              <a:rPr lang="en-IN" dirty="0"/>
              <a:t>Biliary atresia is a congenital disease that is thought to be caused by a viral infection at birth, although some think it may be an inherited disorder. </a:t>
            </a:r>
          </a:p>
          <a:p>
            <a:r>
              <a:rPr lang="en-IN" dirty="0"/>
              <a:t>It is a disease with a poor prognosis that is described as the narrowing or obliteration of all or a portion of the biliary tree.</a:t>
            </a:r>
          </a:p>
          <a:p>
            <a:r>
              <a:rPr lang="en-IN" dirty="0"/>
              <a:t>Eventually, infants suffer from cirrhosis and portal hypertension.</a:t>
            </a:r>
          </a:p>
          <a:p>
            <a:r>
              <a:rPr lang="en-IN" dirty="0" err="1"/>
              <a:t>Sonographically</a:t>
            </a:r>
            <a:r>
              <a:rPr lang="en-IN" dirty="0"/>
              <a:t>, biliary atresia will appear as absent ducts. </a:t>
            </a:r>
          </a:p>
          <a:p>
            <a:r>
              <a:rPr lang="en-IN" dirty="0"/>
              <a:t>The gallbladder may be absent as well.</a:t>
            </a:r>
          </a:p>
          <a:p>
            <a:r>
              <a:rPr lang="en-IN" dirty="0"/>
              <a:t>Eventually, </a:t>
            </a:r>
            <a:r>
              <a:rPr lang="en-IN" dirty="0" err="1"/>
              <a:t>sonographic</a:t>
            </a:r>
            <a:r>
              <a:rPr lang="en-IN" dirty="0"/>
              <a:t> features of cirrhosis and portal hypertension will be seen. </a:t>
            </a:r>
          </a:p>
          <a:p>
            <a:r>
              <a:rPr lang="en-IN" dirty="0"/>
              <a:t>Biliary atresia is fatal without surgical intervention</a:t>
            </a:r>
          </a:p>
        </p:txBody>
      </p:sp>
      <p:pic>
        <p:nvPicPr>
          <p:cNvPr id="4" name="Picture 3">
            <a:extLst>
              <a:ext uri="{FF2B5EF4-FFF2-40B4-BE49-F238E27FC236}">
                <a16:creationId xmlns:a16="http://schemas.microsoft.com/office/drawing/2014/main" id="{98BD44AB-C490-1463-A869-4A78FC41AD7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11336571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000" y="1981200"/>
            <a:ext cx="7287548" cy="19334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2939E092-7EF9-8E8F-B67B-88F42C4EB89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22384794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err="1"/>
              <a:t>Choledochal</a:t>
            </a:r>
            <a:r>
              <a:rPr lang="en-IN" dirty="0"/>
              <a:t> Cyst</a:t>
            </a:r>
            <a:br>
              <a:rPr lang="en-IN" dirty="0"/>
            </a:br>
            <a:endParaRPr lang="en-IN" dirty="0"/>
          </a:p>
        </p:txBody>
      </p:sp>
      <p:sp>
        <p:nvSpPr>
          <p:cNvPr id="3" name="Content Placeholder 2"/>
          <p:cNvSpPr>
            <a:spLocks noGrp="1"/>
          </p:cNvSpPr>
          <p:nvPr>
            <p:ph idx="1"/>
          </p:nvPr>
        </p:nvSpPr>
        <p:spPr/>
        <p:txBody>
          <a:bodyPr>
            <a:normAutofit/>
          </a:bodyPr>
          <a:lstStyle/>
          <a:p>
            <a:r>
              <a:rPr lang="en-IN" dirty="0"/>
              <a:t>There are four different types of </a:t>
            </a:r>
            <a:r>
              <a:rPr lang="en-IN" dirty="0" err="1"/>
              <a:t>choledochal</a:t>
            </a:r>
            <a:r>
              <a:rPr lang="en-IN" dirty="0"/>
              <a:t> cysts, with the most common being described as the cystic dilatation of the common bile duct. </a:t>
            </a:r>
          </a:p>
          <a:p>
            <a:r>
              <a:rPr lang="en-IN" dirty="0"/>
              <a:t>They are usually discovered in infancy or in the first decade of life. </a:t>
            </a:r>
          </a:p>
          <a:p>
            <a:r>
              <a:rPr lang="en-IN" dirty="0"/>
              <a:t>Patients with a </a:t>
            </a:r>
            <a:r>
              <a:rPr lang="en-IN" dirty="0" err="1"/>
              <a:t>choledochal</a:t>
            </a:r>
            <a:r>
              <a:rPr lang="en-IN" dirty="0"/>
              <a:t> cyst present with an abdominal</a:t>
            </a:r>
          </a:p>
          <a:p>
            <a:r>
              <a:rPr lang="en-IN" dirty="0"/>
              <a:t>mass, jaundice, pain, and fever. </a:t>
            </a:r>
          </a:p>
          <a:p>
            <a:r>
              <a:rPr lang="en-IN" dirty="0" err="1"/>
              <a:t>Choledochal</a:t>
            </a:r>
            <a:r>
              <a:rPr lang="en-IN" dirty="0"/>
              <a:t> cysts can lead to cholangitis, portal hypertension, pancreatitis, and liver failure. </a:t>
            </a:r>
          </a:p>
          <a:p>
            <a:r>
              <a:rPr lang="en-IN" dirty="0" err="1"/>
              <a:t>Sonographic</a:t>
            </a:r>
            <a:r>
              <a:rPr lang="en-IN" dirty="0"/>
              <a:t> findings of a </a:t>
            </a:r>
            <a:r>
              <a:rPr lang="en-IN" dirty="0" err="1"/>
              <a:t>choledochal</a:t>
            </a:r>
            <a:r>
              <a:rPr lang="en-IN" dirty="0"/>
              <a:t> cyst include a fusiform cystic mass in the area of the </a:t>
            </a:r>
            <a:r>
              <a:rPr lang="en-IN" dirty="0" err="1"/>
              <a:t>porta</a:t>
            </a:r>
            <a:r>
              <a:rPr lang="en-IN" dirty="0"/>
              <a:t> </a:t>
            </a:r>
            <a:r>
              <a:rPr lang="en-IN" dirty="0" err="1"/>
              <a:t>hepatis</a:t>
            </a:r>
            <a:r>
              <a:rPr lang="en-IN" dirty="0"/>
              <a:t> and biliary dilatation (Fig. 4-5).</a:t>
            </a:r>
          </a:p>
        </p:txBody>
      </p:sp>
      <p:pic>
        <p:nvPicPr>
          <p:cNvPr id="4" name="Picture 3">
            <a:extLst>
              <a:ext uri="{FF2B5EF4-FFF2-40B4-BE49-F238E27FC236}">
                <a16:creationId xmlns:a16="http://schemas.microsoft.com/office/drawing/2014/main" id="{1A92B8BE-059C-FDDD-227F-421986D85DF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37575359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718392"/>
            <a:ext cx="7047174" cy="5279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7A4188AB-907C-5F5E-3170-DC32CDC5C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5710785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6007" y="1219200"/>
            <a:ext cx="6544635"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A4B05FE7-597F-8DB7-5EC0-281498CA6DE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2515838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2125" y="1371600"/>
            <a:ext cx="561975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9E5F4A28-673C-050F-D402-08355401F14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241761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3366" y="952500"/>
            <a:ext cx="670256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2F34DFAA-B568-0A66-A003-63893B671E1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20932696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71468" y="1828800"/>
            <a:ext cx="5590482" cy="3553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F95799C9-1A7C-0AC4-FB43-F0396CB3488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23897481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err="1"/>
              <a:t>Caroli</a:t>
            </a:r>
            <a:r>
              <a:rPr lang="en-IN" dirty="0"/>
              <a:t> Disease</a:t>
            </a:r>
            <a:br>
              <a:rPr lang="en-IN" dirty="0"/>
            </a:br>
            <a:endParaRPr lang="en-IN" dirty="0"/>
          </a:p>
        </p:txBody>
      </p:sp>
      <p:sp>
        <p:nvSpPr>
          <p:cNvPr id="3" name="Content Placeholder 2"/>
          <p:cNvSpPr>
            <a:spLocks noGrp="1"/>
          </p:cNvSpPr>
          <p:nvPr>
            <p:ph idx="1"/>
          </p:nvPr>
        </p:nvSpPr>
        <p:spPr/>
        <p:txBody>
          <a:bodyPr>
            <a:normAutofit/>
          </a:bodyPr>
          <a:lstStyle/>
          <a:p>
            <a:r>
              <a:rPr lang="en-IN" dirty="0" err="1"/>
              <a:t>Caroli</a:t>
            </a:r>
            <a:r>
              <a:rPr lang="en-IN" dirty="0"/>
              <a:t> disease, or </a:t>
            </a:r>
            <a:r>
              <a:rPr lang="en-IN" dirty="0" err="1"/>
              <a:t>Caroli</a:t>
            </a:r>
            <a:r>
              <a:rPr lang="en-IN" dirty="0"/>
              <a:t> syndrome, is a congenital disorder characterized by segmental dilatation of the intrahepatic ducts. </a:t>
            </a:r>
          </a:p>
          <a:p>
            <a:r>
              <a:rPr lang="en-IN" dirty="0"/>
              <a:t>It is often seen in association with cystic renal disease and may precede the development of </a:t>
            </a:r>
            <a:r>
              <a:rPr lang="en-IN" dirty="0" err="1"/>
              <a:t>cholangiocarcinoma</a:t>
            </a:r>
            <a:r>
              <a:rPr lang="en-IN" dirty="0"/>
              <a:t>, a hepatic abscess, cholangitis, and sepsis.</a:t>
            </a:r>
          </a:p>
        </p:txBody>
      </p:sp>
      <p:pic>
        <p:nvPicPr>
          <p:cNvPr id="4" name="Picture 3">
            <a:extLst>
              <a:ext uri="{FF2B5EF4-FFF2-40B4-BE49-F238E27FC236}">
                <a16:creationId xmlns:a16="http://schemas.microsoft.com/office/drawing/2014/main" id="{3BB7B5EB-5FD6-73F7-260A-27470DC4A1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1492015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19200" y="2286000"/>
            <a:ext cx="6684444" cy="1533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D5BFA7C5-32CE-B5C6-C146-E1E973F7C3A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34983799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00200" y="401350"/>
            <a:ext cx="4914451" cy="5724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12427361-B190-C2B3-FB06-EC3FF755B9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13870791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15997" y="1524001"/>
            <a:ext cx="5671378" cy="4074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E8150C3D-0C8C-540B-B626-C142947528B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6127207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54314" y="1143000"/>
            <a:ext cx="5660186" cy="4938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F8966AD9-C543-5473-5D74-5FBB147E03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39527953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83999" y="990600"/>
            <a:ext cx="5652526" cy="4938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1928FFCD-C6E6-E028-9DAA-C8A3F14C2DA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60642" y="-533400"/>
            <a:ext cx="1160301" cy="2514600"/>
          </a:xfrm>
          <a:prstGeom prst="rect">
            <a:avLst/>
          </a:prstGeom>
        </p:spPr>
      </p:pic>
    </p:spTree>
    <p:extLst>
      <p:ext uri="{BB962C8B-B14F-4D97-AF65-F5344CB8AC3E}">
        <p14:creationId xmlns:p14="http://schemas.microsoft.com/office/powerpoint/2010/main" val="4699421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270</TotalTime>
  <Words>1760</Words>
  <Application>Microsoft Office PowerPoint</Application>
  <PresentationFormat>On-screen Show (4:3)</PresentationFormat>
  <Paragraphs>114</Paragraphs>
  <Slides>54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54</vt:i4>
      </vt:variant>
    </vt:vector>
  </HeadingPairs>
  <TitlesOfParts>
    <vt:vector size="58" baseType="lpstr">
      <vt:lpstr>Aptos</vt:lpstr>
      <vt:lpstr>Aptos Display</vt:lpstr>
      <vt:lpstr>Arial</vt:lpstr>
      <vt:lpstr>Office Theme</vt:lpstr>
      <vt:lpstr>Sonography of Biliary ducts </vt:lpstr>
      <vt:lpstr>PowerPoint Presentation</vt:lpstr>
      <vt:lpstr>ANATOMY AND PHYSIOLOGY OF THE BILE DUCTS</vt:lpstr>
      <vt:lpstr>ANATOMY AND PHYSIOLOGY OF THE BILE DUCTS</vt:lpstr>
      <vt:lpstr>PowerPoint Presentation</vt:lpstr>
      <vt:lpstr>PowerPoint Presentation</vt:lpstr>
      <vt:lpstr>PowerPoint Presentation</vt:lpstr>
      <vt:lpstr>ANATOMY AND PHYSIOLOGY OF THE BILE DUCTS</vt:lpstr>
      <vt:lpstr>PowerPoint Presentation</vt:lpstr>
      <vt:lpstr>ANATOMY AND PHYSIOLOGY OF THE BILE DUCTS</vt:lpstr>
      <vt:lpstr>SONOGRAPHY OF THE BILE DUCTS</vt:lpstr>
      <vt:lpstr>SONOGRAPHY OF THE BILE DUCTS</vt:lpstr>
      <vt:lpstr>PowerPoint Presentation</vt:lpstr>
      <vt:lpstr>PowerPoint Presentation</vt:lpstr>
      <vt:lpstr>PowerPoint Presentation</vt:lpstr>
      <vt:lpstr>PATHOLOGY OF THE BILE DUCTS</vt:lpstr>
      <vt:lpstr>Biliary Obstruction and Jaundice </vt:lpstr>
      <vt:lpstr>Biliary Obstruction and Jaundice</vt:lpstr>
      <vt:lpstr>Biliary Obstruction and Jaundice</vt:lpstr>
      <vt:lpstr>Choledocholithiasis</vt:lpstr>
      <vt:lpstr>PowerPoint Presentation</vt:lpstr>
      <vt:lpstr>PowerPoint Presentation</vt:lpstr>
      <vt:lpstr>PowerPoint Presentation</vt:lpstr>
      <vt:lpstr>Choledocholithiasis</vt:lpstr>
      <vt:lpstr>Choledocholithiasis</vt:lpstr>
      <vt:lpstr>PowerPoint Presentation</vt:lpstr>
      <vt:lpstr>Cholangitis </vt:lpstr>
      <vt:lpstr>PowerPoint Presentation</vt:lpstr>
      <vt:lpstr>PowerPoint Presentation</vt:lpstr>
      <vt:lpstr>Pneumobilia </vt:lpstr>
      <vt:lpstr>PowerPoint Presentation</vt:lpstr>
      <vt:lpstr>PowerPoint Presentation</vt:lpstr>
      <vt:lpstr>PowerPoint Presentation</vt:lpstr>
      <vt:lpstr> Cholangiocarcinoma and Klatskin Tumors </vt:lpstr>
      <vt:lpstr>PowerPoint Presentation</vt:lpstr>
      <vt:lpstr>PowerPoint Presentation</vt:lpstr>
      <vt:lpstr>Cholangiocarcinoma and Klatskin Tumors </vt:lpstr>
      <vt:lpstr>PowerPoint Presentation</vt:lpstr>
      <vt:lpstr>PowerPoint Presentation</vt:lpstr>
      <vt:lpstr>PEDIATRIC PATHOLOGY OF THE BILE DUCTS</vt:lpstr>
      <vt:lpstr>Biliary Atresia </vt:lpstr>
      <vt:lpstr>PowerPoint Presentation</vt:lpstr>
      <vt:lpstr>Choledochal Cyst </vt:lpstr>
      <vt:lpstr>PowerPoint Presentation</vt:lpstr>
      <vt:lpstr>PowerPoint Presentation</vt:lpstr>
      <vt:lpstr>PowerPoint Presentation</vt:lpstr>
      <vt:lpstr>PowerPoint Presentation</vt:lpstr>
      <vt:lpstr>PowerPoint Presentation</vt:lpstr>
      <vt:lpstr>Caroli Disease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Arivudainambi G. Govindan</dc:creator>
  <cp:lastModifiedBy>Gunanathan RP</cp:lastModifiedBy>
  <cp:revision>21</cp:revision>
  <dcterms:created xsi:type="dcterms:W3CDTF">2006-08-16T00:00:00Z</dcterms:created>
  <dcterms:modified xsi:type="dcterms:W3CDTF">2026-03-07T08:04:10Z</dcterms:modified>
</cp:coreProperties>
</file>