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2"/>
  </p:notesMasterIdLst>
  <p:handoutMasterIdLst>
    <p:handoutMasterId r:id="rId83"/>
  </p:handoutMasterIdLst>
  <p:sldIdLst>
    <p:sldId id="256" r:id="rId2"/>
    <p:sldId id="257" r:id="rId3"/>
    <p:sldId id="336" r:id="rId4"/>
    <p:sldId id="327" r:id="rId5"/>
    <p:sldId id="315" r:id="rId6"/>
    <p:sldId id="316" r:id="rId7"/>
    <p:sldId id="317" r:id="rId8"/>
    <p:sldId id="318" r:id="rId9"/>
    <p:sldId id="266" r:id="rId10"/>
    <p:sldId id="260" r:id="rId11"/>
    <p:sldId id="265" r:id="rId12"/>
    <p:sldId id="261" r:id="rId13"/>
    <p:sldId id="262" r:id="rId14"/>
    <p:sldId id="337" r:id="rId15"/>
    <p:sldId id="286" r:id="rId16"/>
    <p:sldId id="263" r:id="rId17"/>
    <p:sldId id="264" r:id="rId18"/>
    <p:sldId id="267" r:id="rId19"/>
    <p:sldId id="268" r:id="rId20"/>
    <p:sldId id="328" r:id="rId21"/>
    <p:sldId id="269" r:id="rId22"/>
    <p:sldId id="270" r:id="rId23"/>
    <p:sldId id="271" r:id="rId24"/>
    <p:sldId id="338" r:id="rId25"/>
    <p:sldId id="272" r:id="rId26"/>
    <p:sldId id="288" r:id="rId27"/>
    <p:sldId id="273" r:id="rId28"/>
    <p:sldId id="329" r:id="rId29"/>
    <p:sldId id="274" r:id="rId30"/>
    <p:sldId id="320" r:id="rId31"/>
    <p:sldId id="326" r:id="rId32"/>
    <p:sldId id="319" r:id="rId33"/>
    <p:sldId id="275" r:id="rId34"/>
    <p:sldId id="276" r:id="rId35"/>
    <p:sldId id="277" r:id="rId36"/>
    <p:sldId id="278" r:id="rId37"/>
    <p:sldId id="279" r:id="rId38"/>
    <p:sldId id="280" r:id="rId39"/>
    <p:sldId id="289" r:id="rId40"/>
    <p:sldId id="281" r:id="rId41"/>
    <p:sldId id="330" r:id="rId42"/>
    <p:sldId id="290" r:id="rId43"/>
    <p:sldId id="282" r:id="rId44"/>
    <p:sldId id="331" r:id="rId45"/>
    <p:sldId id="332" r:id="rId46"/>
    <p:sldId id="291" r:id="rId47"/>
    <p:sldId id="283" r:id="rId48"/>
    <p:sldId id="284" r:id="rId49"/>
    <p:sldId id="321" r:id="rId50"/>
    <p:sldId id="285" r:id="rId51"/>
    <p:sldId id="292" r:id="rId52"/>
    <p:sldId id="294" r:id="rId53"/>
    <p:sldId id="333" r:id="rId54"/>
    <p:sldId id="293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2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23" r:id="rId73"/>
    <p:sldId id="324" r:id="rId74"/>
    <p:sldId id="334" r:id="rId75"/>
    <p:sldId id="335" r:id="rId76"/>
    <p:sldId id="311" r:id="rId77"/>
    <p:sldId id="312" r:id="rId78"/>
    <p:sldId id="313" r:id="rId79"/>
    <p:sldId id="314" r:id="rId80"/>
    <p:sldId id="325" r:id="rId8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668BAD-C786-4036-B0B9-BBC0CC05FB8E}" v="119" dt="2026-03-07T07:14:00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2" autoAdjust="0"/>
    <p:restoredTop sz="94660"/>
  </p:normalViewPr>
  <p:slideViewPr>
    <p:cSldViewPr>
      <p:cViewPr varScale="1">
        <p:scale>
          <a:sx n="58" d="100"/>
          <a:sy n="58" d="100"/>
        </p:scale>
        <p:origin x="1272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3D536-68E4-5AC8-ECCA-67B8945A2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2E774A-8E7B-30EE-34F7-19B068A013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F0C3D-DA5C-4ECF-93FF-2CD69E9C36FF}" type="datetimeFigureOut">
              <a:rPr lang="en-GB" smtClean="0"/>
              <a:t>07/03/2026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0CBA8-8E22-F6BC-D2A0-C5EAAEBCA3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BD690-3B47-80B2-7D9A-31A96D2BF1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283AE-CE7E-471F-8CE6-0257F072A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7356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C4546-23E8-4BC5-8921-A563EA425E35}" type="datetimeFigureOut">
              <a:rPr lang="en-GB" smtClean="0"/>
              <a:t>07/03/2026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71BCA-1D77-4ECB-8932-9F758995E9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45881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2EC5E-1E4A-4213-8BFB-7A2EE2370F48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40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FBBA-C314-4141-8743-2B1F1AB643CE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D61F-441F-4C4C-8DFE-5CA5ADE37108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5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31483-C631-4C22-B329-961DB5F976D8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19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695A-686D-4CD2-8715-106D7EF54EC0}" type="datetime1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7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814C-B1A7-42FC-91CA-7BCDCFED5A25}" type="datetime1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35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21AE3-6315-45EE-A00C-22FB83984959}" type="datetime1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52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A40F-1627-44AE-BD39-AAC13B6065AD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8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43C4A-265D-4DA6-980D-03323AED2149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0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E5231-4A99-49A5-9B02-C73348A6B878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E65F4-4C98-4F20-A609-D39CEE2AC3FF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52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570DB-2E72-48CA-B901-E4585C7842E5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0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7507" y="557189"/>
            <a:ext cx="3674279" cy="3346901"/>
          </a:xfrm>
          <a:noFill/>
        </p:spPr>
        <p:txBody>
          <a:bodyPr>
            <a:normAutofit/>
          </a:bodyPr>
          <a:lstStyle/>
          <a:p>
            <a:pPr algn="l"/>
            <a:r>
              <a:rPr lang="en-IN" sz="4500" dirty="0"/>
              <a:t>Ultrasound of pancreas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7507" y="4068287"/>
            <a:ext cx="3674279" cy="2060799"/>
          </a:xfrm>
          <a:noFill/>
        </p:spPr>
        <p:txBody>
          <a:bodyPr>
            <a:normAutofit/>
          </a:bodyPr>
          <a:lstStyle/>
          <a:p>
            <a:pPr algn="l"/>
            <a:r>
              <a:rPr lang="en-IN" b="1" dirty="0"/>
              <a:t>By </a:t>
            </a:r>
          </a:p>
          <a:p>
            <a:pPr algn="l"/>
            <a:r>
              <a:rPr lang="en-IN" b="1" dirty="0"/>
              <a:t>Faculty of MIATA </a:t>
            </a:r>
          </a:p>
          <a:p>
            <a:pPr algn="l"/>
            <a:endParaRPr lang="en-IN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A6E7D9-22DE-37DF-C8F3-D36583C88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64" r="1" b="7172"/>
          <a:stretch>
            <a:fillRect/>
          </a:stretch>
        </p:blipFill>
        <p:spPr>
          <a:xfrm>
            <a:off x="4671044" y="557189"/>
            <a:ext cx="45792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8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263" y="836552"/>
            <a:ext cx="3587773" cy="1942810"/>
          </a:xfrm>
        </p:spPr>
        <p:txBody>
          <a:bodyPr anchor="b">
            <a:normAutofit/>
          </a:bodyPr>
          <a:lstStyle/>
          <a:p>
            <a:r>
              <a:rPr lang="en-IN" sz="3500"/>
              <a:t>INTRODUCTION</a:t>
            </a:r>
            <a:br>
              <a:rPr lang="en-IN" sz="3500"/>
            </a:br>
            <a:endParaRPr lang="en-IN" sz="35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2686323"/>
            <a:ext cx="3587773" cy="3433583"/>
          </a:xfrm>
        </p:spPr>
        <p:txBody>
          <a:bodyPr>
            <a:normAutofit/>
          </a:bodyPr>
          <a:lstStyle/>
          <a:p>
            <a:r>
              <a:rPr lang="en-IN" sz="1700" dirty="0"/>
              <a:t>This chapter contains information about normal pancreatic anatomy and pancreatic </a:t>
            </a:r>
            <a:r>
              <a:rPr lang="en-IN" sz="1700" dirty="0" err="1"/>
              <a:t>abnormalitiesthat</a:t>
            </a:r>
            <a:r>
              <a:rPr lang="en-IN" sz="1700" dirty="0"/>
              <a:t> may be noted during a sonographic examination. </a:t>
            </a:r>
          </a:p>
          <a:p>
            <a:r>
              <a:rPr lang="en-IN" sz="1700" dirty="0"/>
              <a:t>The reviewer should be attentive to detailed clinical findings, because many of the abnormalities mentioned in this chapter can appear </a:t>
            </a:r>
            <a:r>
              <a:rPr lang="en-IN" sz="1700" dirty="0" err="1"/>
              <a:t>sonographically</a:t>
            </a:r>
            <a:r>
              <a:rPr lang="en-IN" sz="1700" dirty="0"/>
              <a:t> similar.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AF01A7-5DAB-381E-416B-BC20FBB797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2A1033-8FAD-8C76-01A3-D598C7F21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6" y="1252539"/>
            <a:ext cx="7888908" cy="43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2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A3D4B-4D3C-C0A2-E65F-55891FCE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2C3D-C0F9-E284-45D2-25CD602CF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81000"/>
            <a:ext cx="6553200" cy="1905000"/>
          </a:xfrm>
        </p:spPr>
        <p:txBody>
          <a:bodyPr>
            <a:normAutofit/>
          </a:bodyPr>
          <a:lstStyle/>
          <a:p>
            <a:r>
              <a:rPr lang="en-IN" sz="2800" dirty="0"/>
              <a:t>ANATOMY AND PHYSIOLOGY</a:t>
            </a:r>
            <a:br>
              <a:rPr lang="en-IN" sz="2800" dirty="0"/>
            </a:br>
            <a:r>
              <a:rPr lang="en-IN" sz="2800" dirty="0"/>
              <a:t>OF THE PANCREAS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C47655-710D-8B03-C8BA-0C1860267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467100"/>
            <a:ext cx="7886700" cy="2593975"/>
          </a:xfrm>
        </p:spPr>
        <p:txBody>
          <a:bodyPr>
            <a:noAutofit/>
          </a:bodyPr>
          <a:lstStyle/>
          <a:p>
            <a:r>
              <a:rPr lang="en-IN" sz="1800" dirty="0"/>
              <a:t>The pancreas is a comma-shaped organ that functions as both an exocrine and endocrine gland. </a:t>
            </a:r>
          </a:p>
          <a:p>
            <a:r>
              <a:rPr lang="en-IN" sz="1800" dirty="0"/>
              <a:t>It is located within the epigastrium between the C-loop of the duodenum and the splenic hilum (Fig. 5-1). </a:t>
            </a:r>
          </a:p>
          <a:p>
            <a:r>
              <a:rPr lang="en-IN" sz="1800" dirty="0"/>
              <a:t>It consists of four main parts: head, neck, body, and tail. </a:t>
            </a:r>
          </a:p>
          <a:p>
            <a:r>
              <a:rPr lang="en-IN" sz="1800" dirty="0"/>
              <a:t>In some individuals, there exists a posteromedial extension of the pancreatic head. </a:t>
            </a:r>
          </a:p>
          <a:p>
            <a:r>
              <a:rPr lang="en-IN" sz="1800" dirty="0"/>
              <a:t>This is referred to as the </a:t>
            </a:r>
            <a:r>
              <a:rPr lang="en-IN" sz="1800" dirty="0" err="1"/>
              <a:t>uncinate</a:t>
            </a:r>
            <a:r>
              <a:rPr lang="en-IN" sz="1800" dirty="0"/>
              <a:t> process.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723DB5-B90D-F39A-DF06-98C7CA92F3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60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47800"/>
            <a:ext cx="60047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889C891-E634-2EB4-B090-E5F39811E7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82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Gross Anatomy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The pancreas lies transversely in the retroperitoneal cavity. It extends from the C-loop of the duodenum to the splenic helium and is divided into four parts: head, neck (sometimes included with the head), body, and tail. </a:t>
            </a:r>
          </a:p>
          <a:p>
            <a:r>
              <a:rPr lang="en-IN" dirty="0"/>
              <a:t>The size and shape of the pancreas may vary in size depending on the age and body habitus of the patient. </a:t>
            </a:r>
          </a:p>
          <a:p>
            <a:r>
              <a:rPr lang="en-IN" dirty="0"/>
              <a:t>The </a:t>
            </a:r>
            <a:r>
              <a:rPr lang="en-IN" dirty="0" err="1"/>
              <a:t>antero</a:t>
            </a:r>
            <a:r>
              <a:rPr lang="en-IN" dirty="0"/>
              <a:t>-posterior measurements of the pancreas are approximately: head 3 cm, body 2 cm, and tail 2 cm. </a:t>
            </a:r>
          </a:p>
          <a:p>
            <a:r>
              <a:rPr lang="en-IN" dirty="0"/>
              <a:t>The pancreas has no capsule and is generally dumbbell or sausage shaped.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EDC616-4E24-AB55-825A-D1DC70B0B6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0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The pancreas can sometimes be difficult to visualize on ultrasound, and vascular landmarks are used to identify the pancreas and the pancreatic region. </a:t>
            </a:r>
          </a:p>
          <a:p>
            <a:r>
              <a:rPr lang="en-IN" dirty="0"/>
              <a:t>The head of the pancreas is anterior to the inferior vena cava and right renal vein. </a:t>
            </a:r>
          </a:p>
          <a:p>
            <a:r>
              <a:rPr lang="en-IN" dirty="0"/>
              <a:t>The common bile duct can be seen at the posterior lateral margin of the pancreatic head. </a:t>
            </a:r>
          </a:p>
          <a:p>
            <a:r>
              <a:rPr lang="en-IN" dirty="0"/>
              <a:t>The </a:t>
            </a:r>
            <a:r>
              <a:rPr lang="en-IN" dirty="0" err="1"/>
              <a:t>gastroduodenal</a:t>
            </a:r>
            <a:r>
              <a:rPr lang="en-IN" dirty="0"/>
              <a:t> artery may be visualized at the anterior lateral margin. </a:t>
            </a:r>
          </a:p>
          <a:p>
            <a:r>
              <a:rPr lang="en-IN" dirty="0"/>
              <a:t>Both structures are imaged as anechoic round structures that appear to be within the head of the pancreas.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B39F1-8045-23AE-3CC7-D1C816E7B0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74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The </a:t>
            </a:r>
            <a:r>
              <a:rPr lang="en-IN" dirty="0" err="1"/>
              <a:t>uncinate</a:t>
            </a:r>
            <a:r>
              <a:rPr lang="en-IN" dirty="0"/>
              <a:t> process is a tongue-like extension of the pancreatic neck. </a:t>
            </a:r>
          </a:p>
          <a:p>
            <a:r>
              <a:rPr lang="en-IN" dirty="0"/>
              <a:t>A prominent </a:t>
            </a:r>
            <a:r>
              <a:rPr lang="en-IN" dirty="0" err="1"/>
              <a:t>uncinate</a:t>
            </a:r>
            <a:r>
              <a:rPr lang="en-IN" dirty="0"/>
              <a:t> process will displace the superior mesenteric artery and vein anterior to the pancreas.</a:t>
            </a:r>
          </a:p>
          <a:p>
            <a:r>
              <a:rPr lang="en-IN" dirty="0"/>
              <a:t>The body of the pancreas is the largest portion of the gland. The splenic vein is the most reliable landmark used to visualize the pancreas. </a:t>
            </a:r>
          </a:p>
          <a:p>
            <a:r>
              <a:rPr lang="en-IN" dirty="0"/>
              <a:t>The splenic vein courses along the posterior margin of the pancreas and joins with the superior mesenteric vein to form the portal vein. </a:t>
            </a:r>
          </a:p>
          <a:p>
            <a:r>
              <a:rPr lang="en-IN" dirty="0"/>
              <a:t>The portal confluence is posterior to the neck of the pancreas.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866774-DFA8-6246-CBDF-1D86B69759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85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body is anterior to the superior mesenteric artery, superior mesenteric vein, splenic vein, left renal vein, and aorta. </a:t>
            </a:r>
          </a:p>
          <a:p>
            <a:r>
              <a:rPr lang="en-IN" dirty="0"/>
              <a:t>The left renal vein is imaged posterior to the superior mesenteric artery and anterior to the aorta.</a:t>
            </a:r>
          </a:p>
          <a:p>
            <a:r>
              <a:rPr lang="en-IN" dirty="0"/>
              <a:t>The tail of the pancreas lies anterior to the left kidney and medial to the splenic helium. </a:t>
            </a:r>
          </a:p>
          <a:p>
            <a:r>
              <a:rPr lang="en-IN" dirty="0"/>
              <a:t>The splenic artery courses along the superior anterior border, and the splenic vein courses along the posterior border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AE8162-255B-20CC-D5C2-01EBF2C6A5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921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066800"/>
            <a:ext cx="4953000" cy="4993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53F164-D6C5-AB4F-B4B6-D932E9E066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07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ANATOMY AND PHYSIOLOGY</a:t>
            </a:r>
            <a:br>
              <a:rPr lang="en-IN" dirty="0"/>
            </a:br>
            <a:r>
              <a:rPr lang="en-IN" dirty="0"/>
              <a:t>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Although some of the pancreatic head may be covered by peritoneum, the pancreas is considered to be a retroperitoneal organ.</a:t>
            </a:r>
          </a:p>
          <a:p>
            <a:r>
              <a:rPr lang="en-IN" dirty="0"/>
              <a:t>Primarily, the pancreas is an exocrine gland that aids in digestion (Table 5-1).</a:t>
            </a:r>
          </a:p>
          <a:p>
            <a:r>
              <a:rPr lang="en-IN" dirty="0"/>
              <a:t> The </a:t>
            </a:r>
            <a:r>
              <a:rPr lang="en-IN" dirty="0" err="1"/>
              <a:t>acinar</a:t>
            </a:r>
            <a:r>
              <a:rPr lang="en-IN" dirty="0"/>
              <a:t> cells of the pancreas carry out the exocrine function, as they produce vital digestive enzymes such as amylase, lipase, and sodium bicarbonate. </a:t>
            </a:r>
          </a:p>
          <a:p>
            <a:r>
              <a:rPr lang="en-IN" dirty="0"/>
              <a:t>The pancreas also produces trypsin, chymotrypsin, and </a:t>
            </a:r>
            <a:r>
              <a:rPr lang="en-IN" dirty="0" err="1"/>
              <a:t>carboxypolypeptidase</a:t>
            </a:r>
            <a:r>
              <a:rPr lang="en-IN" dirty="0"/>
              <a:t> as part of its exocrine function.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B62A30-59F5-F505-444A-A5AD74A076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84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512826"/>
            <a:ext cx="7301459" cy="3572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E4D887-5DF0-A5A7-5E74-E78B98AC2B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10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2000"/>
            <a:ext cx="7886700" cy="1325563"/>
          </a:xfrm>
        </p:spPr>
        <p:txBody>
          <a:bodyPr>
            <a:normAutofit/>
          </a:bodyPr>
          <a:lstStyle/>
          <a:p>
            <a:r>
              <a:rPr lang="en-IN" sz="3200" dirty="0"/>
              <a:t>ANATOMY AND PHYSIOLOGY</a:t>
            </a:r>
            <a:br>
              <a:rPr lang="en-IN" sz="3200" dirty="0"/>
            </a:br>
            <a:r>
              <a:rPr lang="en-IN" sz="3200" dirty="0"/>
              <a:t>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151188"/>
            <a:ext cx="6915150" cy="1984375"/>
          </a:xfrm>
        </p:spPr>
        <p:txBody>
          <a:bodyPr>
            <a:normAutofit/>
          </a:bodyPr>
          <a:lstStyle/>
          <a:p>
            <a:r>
              <a:rPr lang="en-IN" sz="1800" dirty="0"/>
              <a:t>These pancreatic enzymes drain from the pancreas into the main pancreatic duct, or duct of </a:t>
            </a:r>
            <a:r>
              <a:rPr lang="en-IN" sz="1800" dirty="0" err="1"/>
              <a:t>Wirsung</a:t>
            </a:r>
            <a:r>
              <a:rPr lang="en-IN" sz="1800" dirty="0"/>
              <a:t>, into the ampulla of </a:t>
            </a:r>
            <a:r>
              <a:rPr lang="en-IN" sz="1800" dirty="0" err="1"/>
              <a:t>Vater</a:t>
            </a:r>
            <a:r>
              <a:rPr lang="en-IN" sz="1800" dirty="0"/>
              <a:t>. </a:t>
            </a:r>
          </a:p>
          <a:p>
            <a:r>
              <a:rPr lang="en-IN" sz="1800" dirty="0"/>
              <a:t>There, they are mixed with bile from the liver and released into the duodenum through the sphincter of </a:t>
            </a:r>
            <a:r>
              <a:rPr lang="en-IN" sz="1800" dirty="0" err="1"/>
              <a:t>Oddi</a:t>
            </a:r>
            <a:r>
              <a:rPr lang="en-IN" sz="1800" dirty="0"/>
              <a:t>. </a:t>
            </a:r>
          </a:p>
          <a:p>
            <a:r>
              <a:rPr lang="en-IN" sz="1800" dirty="0"/>
              <a:t>The resultant fluid is mixed with </a:t>
            </a:r>
            <a:r>
              <a:rPr lang="en-IN" sz="1800" dirty="0" err="1"/>
              <a:t>chyme</a:t>
            </a:r>
            <a:r>
              <a:rPr lang="en-IN" sz="1800" dirty="0"/>
              <a:t> in the duodenum to instigate the breakdown of various food components.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AA5306-7641-B678-63D3-A8F7F6D5D3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5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838200"/>
            <a:ext cx="78867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ANATOMY AND PHYSIOLOGY</a:t>
            </a:r>
            <a:br>
              <a:rPr lang="en-IN" sz="2800" dirty="0"/>
            </a:br>
            <a:r>
              <a:rPr lang="en-IN" sz="2800" dirty="0"/>
              <a:t>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276600"/>
            <a:ext cx="6629400" cy="3284538"/>
          </a:xfrm>
        </p:spPr>
        <p:txBody>
          <a:bodyPr>
            <a:normAutofit lnSpcReduction="10000"/>
          </a:bodyPr>
          <a:lstStyle/>
          <a:p>
            <a:r>
              <a:rPr lang="en-IN" sz="1800" dirty="0"/>
              <a:t>The endocrine function of the pancreas is performed by the isles of Langerhans. </a:t>
            </a:r>
          </a:p>
          <a:p>
            <a:r>
              <a:rPr lang="en-IN" sz="1800" dirty="0"/>
              <a:t>These small islands of tissue are composed of alpha, beta, and delta cells (Table 5-2).</a:t>
            </a:r>
          </a:p>
          <a:p>
            <a:r>
              <a:rPr lang="en-IN" sz="1800" dirty="0"/>
              <a:t>The isles of Langerhans produce vital hormones, including insulin and glucagon, which are released directly into the bloodstream. </a:t>
            </a:r>
          </a:p>
          <a:p>
            <a:r>
              <a:rPr lang="en-IN" sz="1800" dirty="0"/>
              <a:t>Glucagon promotes the release of glucose by the liver, which in turn increases blood sugar levels. </a:t>
            </a:r>
          </a:p>
          <a:p>
            <a:r>
              <a:rPr lang="en-IN" sz="1800" dirty="0"/>
              <a:t>Insulin stimulates the body to use up glucagon to produce energy.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154AD1-86D4-86A6-2334-31E2ED03E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23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035BD-4208-B876-9614-25CBAACE6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319C4-8EE8-5833-6603-923A57E8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685800"/>
            <a:ext cx="7886700" cy="1325563"/>
          </a:xfrm>
        </p:spPr>
        <p:txBody>
          <a:bodyPr>
            <a:normAutofit/>
          </a:bodyPr>
          <a:lstStyle/>
          <a:p>
            <a:r>
              <a:rPr lang="en-IN" sz="3200" dirty="0"/>
              <a:t>ANATOMY AND PHYSIOLOGY</a:t>
            </a:r>
            <a:br>
              <a:rPr lang="en-IN" sz="3200" dirty="0"/>
            </a:br>
            <a:r>
              <a:rPr lang="en-IN" sz="3200" dirty="0"/>
              <a:t>OF THE PANCREAS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0FFEE-3764-F7C2-D90E-456850B25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971800"/>
            <a:ext cx="7886700" cy="1984375"/>
          </a:xfrm>
        </p:spPr>
        <p:txBody>
          <a:bodyPr>
            <a:normAutofit/>
          </a:bodyPr>
          <a:lstStyle/>
          <a:p>
            <a:r>
              <a:rPr lang="en-IN" sz="1800" dirty="0"/>
              <a:t>These pancreatic enzymes drain from the pancreas into the main pancreatic duct, or duct of </a:t>
            </a:r>
            <a:r>
              <a:rPr lang="en-IN" sz="1800" dirty="0" err="1"/>
              <a:t>Wirsung</a:t>
            </a:r>
            <a:r>
              <a:rPr lang="en-IN" sz="1800" dirty="0"/>
              <a:t>, into the ampulla of </a:t>
            </a:r>
            <a:r>
              <a:rPr lang="en-IN" sz="1800" dirty="0" err="1"/>
              <a:t>Vater</a:t>
            </a:r>
            <a:r>
              <a:rPr lang="en-IN" sz="1800" dirty="0"/>
              <a:t>. </a:t>
            </a:r>
          </a:p>
          <a:p>
            <a:r>
              <a:rPr lang="en-IN" sz="1800" dirty="0"/>
              <a:t>There, they are mixed with bile from the liver and released into the duodenum through the sphincter of </a:t>
            </a:r>
            <a:r>
              <a:rPr lang="en-IN" sz="1800" dirty="0" err="1"/>
              <a:t>Oddi</a:t>
            </a:r>
            <a:r>
              <a:rPr lang="en-IN" sz="1800" dirty="0"/>
              <a:t>. </a:t>
            </a:r>
          </a:p>
          <a:p>
            <a:r>
              <a:rPr lang="en-IN" sz="1800" dirty="0"/>
              <a:t>The resultant fluid is mixed with </a:t>
            </a:r>
            <a:r>
              <a:rPr lang="en-IN" sz="1800" dirty="0" err="1"/>
              <a:t>chyme</a:t>
            </a:r>
            <a:r>
              <a:rPr lang="en-IN" sz="1800" dirty="0"/>
              <a:t> in the duodenum to instigate the breakdown of various food components.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0C531-BACC-B23C-1D40-B5E458BB3C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81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260" y="1524001"/>
            <a:ext cx="5251365" cy="341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5D201C-7369-691F-20F3-938D504047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1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ANATOMY AND PHYSIOLOGY</a:t>
            </a:r>
            <a:br>
              <a:rPr lang="en-IN" dirty="0"/>
            </a:br>
            <a:r>
              <a:rPr lang="en-IN" dirty="0"/>
              <a:t>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main pancreatic duct travels the length of the pancreas.</a:t>
            </a:r>
          </a:p>
          <a:p>
            <a:r>
              <a:rPr lang="en-IN" dirty="0"/>
              <a:t>An accessory duct, the duct of </a:t>
            </a:r>
            <a:r>
              <a:rPr lang="en-IN" dirty="0" err="1"/>
              <a:t>Santorini</a:t>
            </a:r>
            <a:r>
              <a:rPr lang="en-IN" dirty="0"/>
              <a:t>, is a branch of the main pancreatic duct.</a:t>
            </a:r>
          </a:p>
          <a:p>
            <a:r>
              <a:rPr lang="en-IN" dirty="0"/>
              <a:t>It has its own attachment point into the duodenum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1CA561-2F5A-E8DF-25DA-AAFE1DBB5A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40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Vascular Anatomy 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arterial blood supply to the head of the pancreas is via the </a:t>
            </a:r>
            <a:r>
              <a:rPr lang="en-IN" dirty="0" err="1"/>
              <a:t>gastroduodenal</a:t>
            </a:r>
            <a:r>
              <a:rPr lang="en-IN" dirty="0"/>
              <a:t> artery. </a:t>
            </a:r>
          </a:p>
          <a:p>
            <a:r>
              <a:rPr lang="en-IN" dirty="0"/>
              <a:t>The body and tail of the pancreas receive their blood supply from the splenic and superior mesenteric arteries. </a:t>
            </a:r>
          </a:p>
          <a:p>
            <a:r>
              <a:rPr lang="en-IN" dirty="0"/>
              <a:t>Venous drainage is achieved by means of the splenic vein, superior mesenteric vein, inferior mesenteric vein, and portal veins.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77C23-3ACD-38B9-03EB-0E87AB8D84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91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SONOGRAPHY 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78D942-802A-D8FC-36BE-4C24FF75BC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98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SONOGRAPHY 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Rarely, the pancreas is imaged without including the complete right upper quadrant. </a:t>
            </a:r>
          </a:p>
          <a:p>
            <a:r>
              <a:rPr lang="en-IN" dirty="0"/>
              <a:t>A thorough evaluation of the bile ducts and gallbladder for associated abnormalities is generally required.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1B6A5-A0E9-A882-DBF3-892A73132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446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268139"/>
            <a:ext cx="5885516" cy="4908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92A4F6-5F63-46D2-73DF-D13676DA65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49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SONOGRAPHY 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 pancreas can frequently be a neglected abdominal organ because of the challenge that it presents for the sonographer. </a:t>
            </a:r>
          </a:p>
          <a:p>
            <a:r>
              <a:rPr lang="en-IN" dirty="0"/>
              <a:t>Adjacent bowel gas and body habitus are two obstacles that the sonographer encounters as one attempts to assess the pancreas using sound. </a:t>
            </a:r>
          </a:p>
          <a:p>
            <a:r>
              <a:rPr lang="en-IN" dirty="0"/>
              <a:t>To improve visualization of the pancreatic head, the sonographer can ask the patient to drink a small cup of water.</a:t>
            </a:r>
          </a:p>
          <a:p>
            <a:r>
              <a:rPr lang="en-IN" dirty="0"/>
              <a:t>The water, once in the C-loop of the duodenum, will provide a delineated view of the pancreatic head in most individuals.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B3684C-4330-4283-50A7-6CE4A1182C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30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SONOGRAPHY 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Additionally, left lateral decubitus position may help improve visualization of the pancreatic head.</a:t>
            </a:r>
          </a:p>
          <a:p>
            <a:r>
              <a:rPr lang="en-IN" dirty="0"/>
              <a:t>The sonographer can scan through the left kidney and spleen while the patient is in the right lateral decubitus position to better visualize the pancreatic tail area. </a:t>
            </a:r>
          </a:p>
          <a:p>
            <a:r>
              <a:rPr lang="en-IN" dirty="0"/>
              <a:t>Upright scanning can furthermore be valuable.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F92C5E-73F8-D422-E037-A56978708E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73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SONOGRAPHY 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pancreas is identified </a:t>
            </a:r>
            <a:r>
              <a:rPr lang="en-IN" dirty="0" err="1"/>
              <a:t>sonographically</a:t>
            </a:r>
            <a:r>
              <a:rPr lang="en-IN" dirty="0"/>
              <a:t> by its </a:t>
            </a:r>
            <a:r>
              <a:rPr lang="en-IN" dirty="0" err="1"/>
              <a:t>neighboring</a:t>
            </a:r>
            <a:r>
              <a:rPr lang="en-IN" dirty="0"/>
              <a:t> vasculature (Table 5-3). </a:t>
            </a:r>
          </a:p>
          <a:p>
            <a:r>
              <a:rPr lang="en-IN" dirty="0"/>
              <a:t>The normal echogenicity of the pancreas is greater than that of the liver, and equal to, or greater than, that of the spleen in the adult. </a:t>
            </a:r>
          </a:p>
          <a:p>
            <a:r>
              <a:rPr lang="en-IN" dirty="0"/>
              <a:t>The </a:t>
            </a:r>
            <a:r>
              <a:rPr lang="en-IN" dirty="0" err="1"/>
              <a:t>pediatric</a:t>
            </a:r>
            <a:r>
              <a:rPr lang="en-IN" dirty="0"/>
              <a:t> pancreas may appear more </a:t>
            </a:r>
            <a:r>
              <a:rPr lang="en-IN" dirty="0" err="1"/>
              <a:t>hypoechoic</a:t>
            </a:r>
            <a:r>
              <a:rPr lang="en-IN" dirty="0"/>
              <a:t> because of the lack of fat surrounding the pancreas in younger patients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6B183C-E3AF-0223-7347-E1E9D46799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06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2FF5F1A-F5AA-BAEB-98E5-0C4D6B5CD7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623" y="990600"/>
            <a:ext cx="4587841" cy="474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64EF2B-1F4D-479D-14FF-D42549E079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75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SONOGRAPHY 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the transverse plane, two round anechoic structures may be noted within the pancreatic head. </a:t>
            </a:r>
          </a:p>
          <a:p>
            <a:r>
              <a:rPr lang="en-IN" dirty="0"/>
              <a:t>The anterior structure is the </a:t>
            </a:r>
            <a:r>
              <a:rPr lang="en-IN" dirty="0" err="1"/>
              <a:t>gastroduodenal</a:t>
            </a:r>
            <a:r>
              <a:rPr lang="en-IN" dirty="0"/>
              <a:t> artery and the more posterior structure is the common bile duct (Fig. 5-2).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65C10-4941-4F75-97FA-55D407D4B5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70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70608"/>
            <a:ext cx="4522875" cy="5923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79BD03-1124-363C-CC50-BD443F6130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355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SONOGRAPHY 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Depending on the resolution of the ultrasound system, the normal main pancreatic duct may be noted during a routine </a:t>
            </a:r>
            <a:r>
              <a:rPr lang="en-IN" dirty="0" err="1"/>
              <a:t>sonographic</a:t>
            </a:r>
            <a:r>
              <a:rPr lang="en-IN" dirty="0"/>
              <a:t> examination. </a:t>
            </a:r>
          </a:p>
          <a:p>
            <a:r>
              <a:rPr lang="en-IN" dirty="0"/>
              <a:t>It will </a:t>
            </a:r>
            <a:r>
              <a:rPr lang="en-IN" dirty="0" err="1"/>
              <a:t>appearas</a:t>
            </a:r>
            <a:r>
              <a:rPr lang="en-IN" dirty="0"/>
              <a:t> an anechoic tube, consisting of two parallel lines and an anechoic lumen. </a:t>
            </a:r>
          </a:p>
          <a:p>
            <a:r>
              <a:rPr lang="en-IN" dirty="0"/>
              <a:t>The </a:t>
            </a:r>
            <a:r>
              <a:rPr lang="en-IN" dirty="0" err="1"/>
              <a:t>anteroposterior</a:t>
            </a:r>
            <a:r>
              <a:rPr lang="en-IN" dirty="0"/>
              <a:t> diameter of the main pancreatic duct should not exceed 2 mm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C29F0-136C-20A3-567D-75838AADAE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052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639197"/>
            <a:ext cx="7010400" cy="4724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F8F28E-EB14-BA35-EF03-DE31DD7577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04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SONOGRAPHY 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/>
              <a:t>Color</a:t>
            </a:r>
            <a:r>
              <a:rPr lang="en-IN" dirty="0"/>
              <a:t> flow Doppler imaging is helpful to differentiate the splenic artery from the main pancreatic duct, as these two structures can have parallel paths within the body. </a:t>
            </a:r>
          </a:p>
          <a:p>
            <a:r>
              <a:rPr lang="en-IN" dirty="0"/>
              <a:t>The </a:t>
            </a:r>
            <a:r>
              <a:rPr lang="en-IN" dirty="0" err="1"/>
              <a:t>sonographic</a:t>
            </a:r>
            <a:r>
              <a:rPr lang="en-IN" dirty="0"/>
              <a:t> analysis of the pancreas may include measurements of the various parts of the organ. </a:t>
            </a:r>
          </a:p>
          <a:p>
            <a:r>
              <a:rPr lang="en-IN" dirty="0"/>
              <a:t>The pancreas is typically measured in the </a:t>
            </a:r>
            <a:r>
              <a:rPr lang="en-IN" dirty="0" err="1"/>
              <a:t>anteroposterior</a:t>
            </a:r>
            <a:r>
              <a:rPr lang="en-IN" dirty="0"/>
              <a:t> dimension in the transverse scan plane.</a:t>
            </a:r>
          </a:p>
          <a:p>
            <a:r>
              <a:rPr lang="en-IN" dirty="0"/>
              <a:t>The normal measurement of the pancreatic head and body is between 2 and 3 cm, while the tail should measure between 1 and 2 cm.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83ED6-AEDD-8E5E-6815-5C7940EED1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060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Sonographic</a:t>
            </a:r>
            <a:r>
              <a:rPr lang="en-IN" dirty="0"/>
              <a:t> Appearance.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pancreas is a homogeneous organ with either the same echogenicity as the liver or slightly more echogenic than the normal liver. </a:t>
            </a:r>
          </a:p>
          <a:p>
            <a:r>
              <a:rPr lang="en-IN" dirty="0"/>
              <a:t>In children, the pancreas is less echogenic and relatively larger than in the adult. </a:t>
            </a:r>
          </a:p>
          <a:p>
            <a:r>
              <a:rPr lang="en-IN" dirty="0"/>
              <a:t>The pancreas is more difficult to visualized with advance age. </a:t>
            </a:r>
          </a:p>
          <a:p>
            <a:r>
              <a:rPr lang="en-IN" dirty="0"/>
              <a:t>The pancreas, which has no true capsule and becomes more echogenic, tends to blend in with the surrounding retroperitoneal fat.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78BB4-4FA2-CD86-7AB6-63DBCE2939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3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main pancreatic duct may be seen as a tubular structure coursing from the tail of the pancreas to the head. </a:t>
            </a:r>
          </a:p>
          <a:p>
            <a:r>
              <a:rPr lang="en-IN" dirty="0"/>
              <a:t>The normal </a:t>
            </a:r>
            <a:r>
              <a:rPr lang="en-IN" dirty="0" err="1"/>
              <a:t>caliber</a:t>
            </a:r>
            <a:r>
              <a:rPr lang="en-IN" dirty="0"/>
              <a:t> varies from 2 to 3 mm, the largest diameter being in the head of the pancreas.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389CB-6A3E-2093-98FE-922B226D4F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71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271337"/>
            <a:ext cx="3962400" cy="522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C25D2B-F235-F589-298A-CF856DC470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69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PATHOLOGY OF THE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70F423-1827-0EDC-BD44-10930039EB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83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Acute Pancreatitis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Acute pancreatitis is the inflammation of the pancreas secondary to the leakage of pancreatic enzymes from the </a:t>
            </a:r>
            <a:r>
              <a:rPr lang="en-IN" dirty="0" err="1"/>
              <a:t>acinar</a:t>
            </a:r>
            <a:r>
              <a:rPr lang="en-IN" dirty="0"/>
              <a:t> cells into the parenchyma of the organ. </a:t>
            </a:r>
          </a:p>
          <a:p>
            <a:r>
              <a:rPr lang="en-IN" dirty="0"/>
              <a:t>These enzymes can destroy the pancreatic tissue and the tissues surrounding the pancreas. </a:t>
            </a:r>
          </a:p>
          <a:p>
            <a:r>
              <a:rPr lang="en-IN" dirty="0"/>
              <a:t>Acute pancreatitis may be described as mild, moderate, or severe. </a:t>
            </a:r>
          </a:p>
          <a:p>
            <a:r>
              <a:rPr lang="en-IN" dirty="0"/>
              <a:t>Causes of acute pancreatitis include alcoholism, </a:t>
            </a:r>
            <a:r>
              <a:rPr lang="en-IN" dirty="0" err="1"/>
              <a:t>choledocholithiasis</a:t>
            </a:r>
            <a:r>
              <a:rPr lang="en-IN" dirty="0"/>
              <a:t>, post endoscopic retrograde </a:t>
            </a:r>
            <a:r>
              <a:rPr lang="en-IN" dirty="0" err="1"/>
              <a:t>cholangiopancreatography</a:t>
            </a:r>
            <a:r>
              <a:rPr lang="en-IN" dirty="0"/>
              <a:t> (ERCP), and trauma.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D75F27-2393-0BA0-3B84-58074DC295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924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There are several specific clinical findings that suggest acute pancreatitis. </a:t>
            </a:r>
          </a:p>
          <a:p>
            <a:r>
              <a:rPr lang="en-IN" dirty="0"/>
              <a:t>The patient will complain of abdominal pain and back pain, and also have an elevation in serum amylase and lipase. </a:t>
            </a:r>
          </a:p>
          <a:p>
            <a:r>
              <a:rPr lang="en-IN" dirty="0"/>
              <a:t>Amylase levels will rise first, and within 72 hours an accompanying rise in lipase should occur.</a:t>
            </a:r>
          </a:p>
          <a:p>
            <a:r>
              <a:rPr lang="en-IN" dirty="0"/>
              <a:t>Lipase appears to be more specific for diagnosing pancreatitis, as </a:t>
            </a:r>
            <a:r>
              <a:rPr lang="en-IN" dirty="0" err="1"/>
              <a:t>hyperamylasemia</a:t>
            </a:r>
            <a:r>
              <a:rPr lang="en-IN" dirty="0"/>
              <a:t> can be associated with other abnormalities.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727BCE-46E9-AF9F-F679-C3853EC3F4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540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Milder cases of pancreatitis can resolve spontaneously. </a:t>
            </a:r>
          </a:p>
          <a:p>
            <a:r>
              <a:rPr lang="en-IN" dirty="0"/>
              <a:t>Higher mortality rates are associated with acute pancreatitis when the disease progresses and leads to severe necrosis and </a:t>
            </a:r>
            <a:r>
              <a:rPr lang="en-IN" dirty="0" err="1"/>
              <a:t>hemorrhage</a:t>
            </a:r>
            <a:r>
              <a:rPr lang="en-IN" dirty="0"/>
              <a:t> of the organ.</a:t>
            </a:r>
          </a:p>
          <a:p>
            <a:r>
              <a:rPr lang="en-IN" dirty="0"/>
              <a:t>In these situations, patients may suffer from shock, ileus, and have a decreased </a:t>
            </a:r>
            <a:r>
              <a:rPr lang="en-IN" dirty="0" err="1"/>
              <a:t>hematocrit</a:t>
            </a:r>
            <a:r>
              <a:rPr lang="en-IN" dirty="0"/>
              <a:t> secondary to </a:t>
            </a:r>
            <a:r>
              <a:rPr lang="en-IN" dirty="0" err="1"/>
              <a:t>hemorrhage</a:t>
            </a:r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FB2770-FB99-5D10-F82E-88B709A95F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453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Unfortunately, </a:t>
            </a:r>
            <a:r>
              <a:rPr lang="en-IN" dirty="0" err="1"/>
              <a:t>sonography</a:t>
            </a:r>
            <a:r>
              <a:rPr lang="en-IN" dirty="0"/>
              <a:t> is not always successful at diagnosing cases of acute pancreatitis, as the pancreas may appear completely normal with mild disease.</a:t>
            </a:r>
          </a:p>
          <a:p>
            <a:r>
              <a:rPr lang="en-IN" dirty="0"/>
              <a:t>But it can provide useful information as to the size and echogenicity of the gland and determine if any </a:t>
            </a:r>
            <a:r>
              <a:rPr lang="en-IN" dirty="0" err="1"/>
              <a:t>peripancreatic</a:t>
            </a:r>
            <a:r>
              <a:rPr lang="en-IN" dirty="0"/>
              <a:t> fluid collections exist. </a:t>
            </a:r>
          </a:p>
          <a:p>
            <a:r>
              <a:rPr lang="en-IN" dirty="0"/>
              <a:t>This </a:t>
            </a:r>
            <a:r>
              <a:rPr lang="en-IN" dirty="0" err="1"/>
              <a:t>peripancreatic</a:t>
            </a:r>
            <a:r>
              <a:rPr lang="en-IN" dirty="0"/>
              <a:t> fluid collection may be referred to as </a:t>
            </a:r>
            <a:r>
              <a:rPr lang="en-IN" dirty="0" err="1"/>
              <a:t>phlegmon</a:t>
            </a:r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41DBF-0174-D3A7-133C-DBAB6BE016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947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involvement of the gland can be focal or diffuse. </a:t>
            </a:r>
          </a:p>
          <a:p>
            <a:r>
              <a:rPr lang="en-IN" dirty="0"/>
              <a:t>Focal pancreatitis will lead to an enlargement of the gland in a particular segment, most often in the head.</a:t>
            </a:r>
          </a:p>
          <a:p>
            <a:r>
              <a:rPr lang="en-IN" dirty="0"/>
              <a:t>This manifestation of pancreatitis can resemble a neoplasm, and an investigation of the laboratory findings in such patients should be performed(Fig. 5-3)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D31F68-6DFD-167F-89C2-593ED8EADD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084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00" y="1524000"/>
            <a:ext cx="8527578" cy="393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6945BD-EB3A-EE66-E490-AA9127AE4F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374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Diffuse enlargement of the gland can also occur with pancreatitis, as the entire pancreas will become enlarged and </a:t>
            </a:r>
            <a:r>
              <a:rPr lang="en-IN" dirty="0" err="1"/>
              <a:t>hypoechoic</a:t>
            </a:r>
            <a:r>
              <a:rPr lang="en-IN" dirty="0"/>
              <a:t> (Fig. 5-4). </a:t>
            </a:r>
          </a:p>
          <a:p>
            <a:r>
              <a:rPr lang="en-IN" dirty="0"/>
              <a:t>The pancreatic margins may appear ill defined with areas of fluid collections noted within and around the pancreas. </a:t>
            </a:r>
          </a:p>
          <a:p>
            <a:r>
              <a:rPr lang="en-IN" dirty="0"/>
              <a:t>Both focal and diffuse acute pancreatitis can lead to </a:t>
            </a:r>
            <a:r>
              <a:rPr lang="en-IN" dirty="0" err="1"/>
              <a:t>hemorrhage</a:t>
            </a:r>
            <a:r>
              <a:rPr lang="en-IN" dirty="0"/>
              <a:t>, </a:t>
            </a:r>
            <a:r>
              <a:rPr lang="en-IN" dirty="0" err="1"/>
              <a:t>peripancreatic</a:t>
            </a:r>
            <a:r>
              <a:rPr lang="en-IN" dirty="0"/>
              <a:t> fluid collections, and a pancreatic </a:t>
            </a:r>
            <a:r>
              <a:rPr lang="en-IN" dirty="0" err="1"/>
              <a:t>pseudocyst</a:t>
            </a:r>
            <a:r>
              <a:rPr lang="en-IN" dirty="0"/>
              <a:t>. </a:t>
            </a:r>
          </a:p>
          <a:p>
            <a:r>
              <a:rPr lang="en-IN" dirty="0"/>
              <a:t>With moderate and severe pancreatitis, the body will attempt to encapsulate the damaging pancreatic enzymes and form a </a:t>
            </a:r>
            <a:r>
              <a:rPr lang="en-IN" dirty="0" err="1"/>
              <a:t>pseudocyst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50C47C-FCA0-981B-A3C9-996FA724D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012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95424"/>
            <a:ext cx="6629399" cy="497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6B6D59-AD42-DADC-D2F5-DC793D4D59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781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34182"/>
            <a:ext cx="4300608" cy="5691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CB9DD3-1566-2CA3-BB3B-4B9D049E98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91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One of the more common sites for a pancreatic </a:t>
            </a:r>
            <a:r>
              <a:rPr lang="en-IN" dirty="0" err="1"/>
              <a:t>pseudocyst</a:t>
            </a:r>
            <a:r>
              <a:rPr lang="en-IN" dirty="0"/>
              <a:t> is the lesser sac, which is located between the pancreas and the stomach, though </a:t>
            </a:r>
            <a:r>
              <a:rPr lang="en-IN" dirty="0" err="1"/>
              <a:t>pseudocysts</a:t>
            </a:r>
            <a:r>
              <a:rPr lang="en-IN" dirty="0"/>
              <a:t> may be found as far away as the groin.</a:t>
            </a:r>
          </a:p>
          <a:p>
            <a:r>
              <a:rPr lang="en-IN" dirty="0"/>
              <a:t>A pancreatic </a:t>
            </a:r>
            <a:r>
              <a:rPr lang="en-IN" dirty="0" err="1"/>
              <a:t>pseudocyst</a:t>
            </a:r>
            <a:r>
              <a:rPr lang="en-IN" dirty="0"/>
              <a:t> will appear as an anechoic mass with posterior enhancement, although it may contain some internal echoes (Fig. 5-5).</a:t>
            </a:r>
          </a:p>
          <a:p>
            <a:r>
              <a:rPr lang="en-IN" dirty="0"/>
              <a:t>Vascular complications can also arise secondary to the destructive influence of the pancreatic enzymes on adjacent vascular structures. </a:t>
            </a:r>
          </a:p>
          <a:p>
            <a:r>
              <a:rPr lang="en-IN" dirty="0"/>
              <a:t>The more common vascular complications include thrombosis in the splenic vein and </a:t>
            </a:r>
            <a:r>
              <a:rPr lang="en-IN" dirty="0" err="1"/>
              <a:t>pseudoaneurysm</a:t>
            </a:r>
            <a:r>
              <a:rPr lang="en-IN" dirty="0"/>
              <a:t> of the splenic artery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EA4D0-D627-52DE-AF05-810969CB82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4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404938"/>
            <a:ext cx="5715000" cy="404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48B277-09EA-3D54-0D01-8967D8E28F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6300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285875"/>
            <a:ext cx="5715000" cy="4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69F35A-CCCC-2AB1-D772-E59A65CDF2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4032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296" y="838201"/>
            <a:ext cx="4621879" cy="49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4ADDBF-915C-E2CE-7D7A-E7BB67D9A6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815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447800"/>
            <a:ext cx="7204218" cy="388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605CBC-D8ED-1B42-5338-ACC5A22674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533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609600"/>
            <a:ext cx="6200554" cy="5046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2A8174-80D6-3246-4EA0-C9031CC442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8688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22D175-D443-C41D-B0AB-5E6FE614AC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6047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Chronic Pancreatitis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Repeated bouts of pancreatic inflammation can lead to chronic pancreatitis. </a:t>
            </a:r>
          </a:p>
          <a:p>
            <a:r>
              <a:rPr lang="en-IN" dirty="0"/>
              <a:t>This recurring destruction of the pancreatic tissue will result in atrophy, fibrosis, scarring, and the development of calcification within the gland. </a:t>
            </a:r>
          </a:p>
          <a:p>
            <a:r>
              <a:rPr lang="en-IN" dirty="0"/>
              <a:t>Chronic pancreatitis is, therefore, also associated with recurring attacks of acute pancreatitis, alcoholism (70%), and </a:t>
            </a:r>
            <a:r>
              <a:rPr lang="en-IN" dirty="0" err="1"/>
              <a:t>nonalcoholic</a:t>
            </a:r>
            <a:r>
              <a:rPr lang="en-IN" dirty="0"/>
              <a:t> duct-destructive pancreatitis.</a:t>
            </a:r>
          </a:p>
          <a:p>
            <a:r>
              <a:rPr lang="en-IN" dirty="0"/>
              <a:t>Although patients may be completely asymptomatic, they may present with a possible elevation in amylase and lipase, persistent </a:t>
            </a:r>
            <a:r>
              <a:rPr lang="en-IN" dirty="0" err="1"/>
              <a:t>epigastric</a:t>
            </a:r>
            <a:r>
              <a:rPr lang="en-IN" dirty="0"/>
              <a:t> and back pain, and jaundice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1D690-9D9E-BF50-23A8-829F334564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1046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/>
              <a:t>Sonographically</a:t>
            </a:r>
            <a:r>
              <a:rPr lang="en-IN" dirty="0"/>
              <a:t>, the pancreas will appear small, heterogeneous, and have poor margins. </a:t>
            </a:r>
          </a:p>
          <a:p>
            <a:r>
              <a:rPr lang="en-IN" dirty="0"/>
              <a:t>Calcifications are often noted throughout the parenchyma of the organ, although they may be confined to the pancreatic ducts (Fig. 5-6).</a:t>
            </a:r>
          </a:p>
          <a:p>
            <a:r>
              <a:rPr lang="en-IN" dirty="0"/>
              <a:t>This, in turn, can lead to pancreatic duct and biliary dilatation.</a:t>
            </a:r>
          </a:p>
          <a:p>
            <a:r>
              <a:rPr lang="en-IN" dirty="0"/>
              <a:t>Like acute pancreatitis, chronic pancreatitis can lead to an enlargement of only a segment of the pancreas. </a:t>
            </a:r>
          </a:p>
          <a:p>
            <a:r>
              <a:rPr lang="en-IN" dirty="0"/>
              <a:t>Also, </a:t>
            </a:r>
            <a:r>
              <a:rPr lang="en-IN" dirty="0" err="1"/>
              <a:t>pseudocyst</a:t>
            </a:r>
            <a:r>
              <a:rPr lang="en-IN" dirty="0"/>
              <a:t> formation is common with chronic pancreatitis, and the possibility of </a:t>
            </a:r>
            <a:r>
              <a:rPr lang="en-IN" dirty="0" err="1"/>
              <a:t>portosplenic</a:t>
            </a:r>
            <a:r>
              <a:rPr lang="en-IN" dirty="0"/>
              <a:t> vein thrombosis exists.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5EFBAF-72A9-77E4-2FE6-C1873A6EEC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171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58799"/>
            <a:ext cx="4167225" cy="5641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918C93-AB0D-67A3-F63E-F0E4A2FA60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755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05" y="838200"/>
            <a:ext cx="5836995" cy="592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4A7392-A93C-90FE-9A73-9A5DDAE748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957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689" y="1219201"/>
            <a:ext cx="4574361" cy="417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416BE2-56CA-D0CD-C91B-B6FC3B3373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169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Pancreatic Adenocarcinoma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Pancreatic adenocarcinoma, also referred to as pancreatic ductal adenocarcinoma, is the most common </a:t>
            </a:r>
            <a:r>
              <a:rPr lang="en-IN" dirty="0" err="1"/>
              <a:t>pri-mary</a:t>
            </a:r>
            <a:r>
              <a:rPr lang="en-IN" dirty="0"/>
              <a:t> pancreatic malignancy. </a:t>
            </a:r>
          </a:p>
          <a:p>
            <a:r>
              <a:rPr lang="en-IN" dirty="0"/>
              <a:t>This disease often presents late and is too advanced to treat when it is discovered.</a:t>
            </a:r>
          </a:p>
          <a:p>
            <a:r>
              <a:rPr lang="en-IN" dirty="0"/>
              <a:t>Consequently, pancreatic cancer is the fourth most common cause of cancer-related deaths.</a:t>
            </a:r>
          </a:p>
          <a:p>
            <a:r>
              <a:rPr lang="en-IN" dirty="0"/>
              <a:t>The most common location of a pancreatic adenocarcinoma is within the pancreatic head, although they may be seen in other parts of the pancreas. </a:t>
            </a:r>
          </a:p>
          <a:p>
            <a:r>
              <a:rPr lang="en-IN" dirty="0"/>
              <a:t>This mass will lead to obstruction of the common bile duct and Courvoisier gallbladder.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9B1C97-050A-9DC4-7136-35F4BBB802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997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Courvoisier gallbladder describes the clinical detection of an enlarged, palpable gallbladder that may be caused by a malignant pancreatic head mass, or possibly some other obstructing </a:t>
            </a:r>
            <a:r>
              <a:rPr lang="en-IN" dirty="0" err="1"/>
              <a:t>etiology</a:t>
            </a:r>
            <a:r>
              <a:rPr lang="en-IN" dirty="0"/>
              <a:t> in the area of the pancreatic head (Fig. 5-7). </a:t>
            </a:r>
          </a:p>
          <a:p>
            <a:r>
              <a:rPr lang="en-IN" dirty="0"/>
              <a:t>The patient frequently has jaundice secondary to the obstruction of the common bile duct by the mass (Fig. 5-8). </a:t>
            </a:r>
          </a:p>
          <a:p>
            <a:r>
              <a:rPr lang="en-IN" dirty="0" err="1"/>
              <a:t>Sonographically</a:t>
            </a:r>
            <a:r>
              <a:rPr lang="en-IN" dirty="0"/>
              <a:t>, the most common appearance of pancreatic adenocarcinoma is a </a:t>
            </a:r>
            <a:r>
              <a:rPr lang="en-IN" dirty="0" err="1"/>
              <a:t>hypoechoic</a:t>
            </a:r>
            <a:r>
              <a:rPr lang="en-IN" dirty="0"/>
              <a:t> mass in the head of the pancreas (Fig. 5-9).</a:t>
            </a:r>
          </a:p>
          <a:p>
            <a:r>
              <a:rPr lang="en-IN" dirty="0"/>
              <a:t>Both obstruction of the common bile duct and pancreatic duct may be present, a condition known as the </a:t>
            </a:r>
            <a:r>
              <a:rPr lang="en-IN" dirty="0" err="1"/>
              <a:t>doubleduct</a:t>
            </a:r>
            <a:r>
              <a:rPr lang="en-IN" dirty="0"/>
              <a:t> sign.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FB0B90-4ECD-0E4F-56D4-CB864EB687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770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liver and other abdominal organs should be evaluated for possible metastasis. </a:t>
            </a:r>
          </a:p>
          <a:p>
            <a:r>
              <a:rPr lang="en-IN" dirty="0"/>
              <a:t>The surgical procedure that is performed on patients with pancreatic adenocarcinoma is referred to as the Whipple procedure.</a:t>
            </a:r>
          </a:p>
          <a:p>
            <a:r>
              <a:rPr lang="en-IN" dirty="0"/>
              <a:t>The Whipple procedure may also be called a </a:t>
            </a:r>
            <a:r>
              <a:rPr lang="en-IN" dirty="0" err="1"/>
              <a:t>pancreaticoduodenectomy</a:t>
            </a:r>
            <a:r>
              <a:rPr lang="en-IN" dirty="0"/>
              <a:t>.</a:t>
            </a:r>
          </a:p>
          <a:p>
            <a:r>
              <a:rPr lang="en-IN" dirty="0"/>
              <a:t>This procedure is the removal of the head of the pancreas, the gallbladder, some of the bile ducts, and the proximal duodenum.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991601-ED18-1343-58F4-A08DCB4D7A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848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401" y="685800"/>
            <a:ext cx="4815499" cy="4957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9DC89A-EEB3-A79E-C0EE-00F746A906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765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194" y="914400"/>
            <a:ext cx="4428856" cy="474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54AD0D-9445-F64B-112B-CBF191E8DC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6426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103" y="914400"/>
            <a:ext cx="5279372" cy="435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97F571-3F91-95C1-B0C5-66CD47902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08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61" y="1828800"/>
            <a:ext cx="5412414" cy="296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3A39-EADC-3ACA-907A-BDBABC01E5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6324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415" y="2362200"/>
            <a:ext cx="4918485" cy="2314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F1071E-4DC7-10A6-DAC0-ABB7300881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049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03544"/>
            <a:ext cx="6071630" cy="5744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C4B384-CE56-03A9-6B69-5AAB74F7B6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864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23916"/>
            <a:ext cx="7886700" cy="1325563"/>
          </a:xfrm>
        </p:spPr>
        <p:txBody>
          <a:bodyPr>
            <a:normAutofit/>
          </a:bodyPr>
          <a:lstStyle/>
          <a:p>
            <a:r>
              <a:rPr lang="en-IN" sz="3600" dirty="0"/>
              <a:t>Pancreatic </a:t>
            </a:r>
            <a:r>
              <a:rPr lang="en-IN" sz="3600" dirty="0" err="1"/>
              <a:t>Cystadenomas</a:t>
            </a:r>
            <a:r>
              <a:rPr lang="en-IN" sz="3600" dirty="0"/>
              <a:t> and</a:t>
            </a:r>
            <a:br>
              <a:rPr lang="en-IN" sz="3600" dirty="0"/>
            </a:br>
            <a:r>
              <a:rPr lang="en-IN" sz="3600" dirty="0" err="1"/>
              <a:t>Cystadenocarcinoma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845" y="2971800"/>
            <a:ext cx="7886700" cy="3051175"/>
          </a:xfrm>
        </p:spPr>
        <p:txBody>
          <a:bodyPr>
            <a:normAutofit lnSpcReduction="10000"/>
          </a:bodyPr>
          <a:lstStyle/>
          <a:p>
            <a:r>
              <a:rPr lang="en-IN" sz="2000" dirty="0"/>
              <a:t>A </a:t>
            </a:r>
            <a:r>
              <a:rPr lang="en-IN" sz="2000" dirty="0" err="1"/>
              <a:t>cystadenoma</a:t>
            </a:r>
            <a:r>
              <a:rPr lang="en-IN" sz="2000" dirty="0"/>
              <a:t> within the pancreas may be either (</a:t>
            </a:r>
            <a:r>
              <a:rPr lang="en-IN" sz="2000" dirty="0" err="1"/>
              <a:t>microcystic</a:t>
            </a:r>
            <a:r>
              <a:rPr lang="en-IN" sz="2000" dirty="0"/>
              <a:t>) serous </a:t>
            </a:r>
            <a:r>
              <a:rPr lang="en-IN" sz="2000" dirty="0" err="1"/>
              <a:t>cystadenoma</a:t>
            </a:r>
            <a:r>
              <a:rPr lang="en-IN" sz="2000" dirty="0"/>
              <a:t> or (</a:t>
            </a:r>
            <a:r>
              <a:rPr lang="en-IN" sz="2000" dirty="0" err="1"/>
              <a:t>macrocystic</a:t>
            </a:r>
            <a:r>
              <a:rPr lang="en-IN" sz="2000" dirty="0"/>
              <a:t>) mucinous </a:t>
            </a:r>
            <a:r>
              <a:rPr lang="en-IN" sz="2000" dirty="0" err="1"/>
              <a:t>cystadenoma</a:t>
            </a:r>
            <a:r>
              <a:rPr lang="en-IN" sz="2000" dirty="0"/>
              <a:t>. </a:t>
            </a:r>
          </a:p>
          <a:p>
            <a:r>
              <a:rPr lang="en-IN" sz="2000" dirty="0"/>
              <a:t>Serous </a:t>
            </a:r>
            <a:r>
              <a:rPr lang="en-IN" sz="2000" dirty="0" err="1"/>
              <a:t>tumors</a:t>
            </a:r>
            <a:r>
              <a:rPr lang="en-IN" sz="2000" dirty="0"/>
              <a:t> are small and are always benign, while mucinous </a:t>
            </a:r>
            <a:r>
              <a:rPr lang="en-IN" sz="2000" dirty="0" err="1"/>
              <a:t>tumors</a:t>
            </a:r>
            <a:r>
              <a:rPr lang="en-IN" sz="2000" dirty="0"/>
              <a:t> are larger and have malignant potential.</a:t>
            </a:r>
          </a:p>
          <a:p>
            <a:r>
              <a:rPr lang="en-IN" sz="2000" dirty="0"/>
              <a:t>Malignant </a:t>
            </a:r>
            <a:r>
              <a:rPr lang="en-IN" sz="2000" dirty="0" err="1"/>
              <a:t>tumors</a:t>
            </a:r>
            <a:r>
              <a:rPr lang="en-IN" sz="2000" dirty="0"/>
              <a:t> may also be referred to as mucinous </a:t>
            </a:r>
            <a:r>
              <a:rPr lang="en-IN" sz="2000" dirty="0" err="1"/>
              <a:t>cystadenocarcinomas</a:t>
            </a:r>
            <a:r>
              <a:rPr lang="en-IN" sz="2000" dirty="0"/>
              <a:t>. </a:t>
            </a:r>
          </a:p>
          <a:p>
            <a:r>
              <a:rPr lang="en-IN" sz="2000" dirty="0"/>
              <a:t>They are most often found within the body and tail of the pancreas.</a:t>
            </a:r>
          </a:p>
          <a:p>
            <a:r>
              <a:rPr lang="en-IN" sz="2000" dirty="0"/>
              <a:t>Patients with these masses present later than those with pancreatic head masses and may be asymptomatic.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34B2B5-CD07-0585-8158-CAB96EB631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432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When symptomatic, patients often complain of </a:t>
            </a:r>
            <a:r>
              <a:rPr lang="en-IN" dirty="0" err="1"/>
              <a:t>epigastric</a:t>
            </a:r>
            <a:r>
              <a:rPr lang="en-IN" dirty="0"/>
              <a:t> pain, weight loss, palpable mass, and jaundice.</a:t>
            </a:r>
          </a:p>
          <a:p>
            <a:r>
              <a:rPr lang="en-IN" dirty="0"/>
              <a:t>The </a:t>
            </a:r>
            <a:r>
              <a:rPr lang="en-IN" dirty="0" err="1"/>
              <a:t>sonographic</a:t>
            </a:r>
            <a:r>
              <a:rPr lang="en-IN" dirty="0"/>
              <a:t> appearance of a serous </a:t>
            </a:r>
            <a:r>
              <a:rPr lang="en-IN" dirty="0" err="1"/>
              <a:t>cystadenoma</a:t>
            </a:r>
            <a:r>
              <a:rPr lang="en-IN" dirty="0"/>
              <a:t> is that of a cystic mass that may actually appear solid and echogenic secondary to the small size of the cysts. </a:t>
            </a:r>
          </a:p>
          <a:p>
            <a:r>
              <a:rPr lang="en-IN" dirty="0"/>
              <a:t>A mucinous </a:t>
            </a:r>
            <a:r>
              <a:rPr lang="en-IN" dirty="0" err="1"/>
              <a:t>cystadenoma</a:t>
            </a:r>
            <a:r>
              <a:rPr lang="en-IN" dirty="0"/>
              <a:t> or </a:t>
            </a:r>
            <a:r>
              <a:rPr lang="en-IN" dirty="0" err="1"/>
              <a:t>cystadenocarcinoma</a:t>
            </a:r>
            <a:r>
              <a:rPr lang="en-IN" dirty="0"/>
              <a:t> most often appears as a </a:t>
            </a:r>
            <a:r>
              <a:rPr lang="en-IN" dirty="0" err="1"/>
              <a:t>multilocular</a:t>
            </a:r>
            <a:r>
              <a:rPr lang="en-IN" dirty="0"/>
              <a:t> cystic masses that may contain mural nodules and calcifications.</a:t>
            </a:r>
          </a:p>
          <a:p>
            <a:r>
              <a:rPr lang="en-IN" dirty="0"/>
              <a:t>There may be associated dilation of the pancreatic duct.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5B80C-0042-0B0E-CE5E-71E0E7773E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4069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514600"/>
            <a:ext cx="6585035" cy="162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09DED2-A899-69C2-D2C3-842C69B66B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0132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981200"/>
            <a:ext cx="5555176" cy="2136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C5C510-F1EB-AE4A-330B-EE8F867469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134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Islet Cell </a:t>
            </a:r>
            <a:r>
              <a:rPr lang="en-IN" dirty="0" err="1"/>
              <a:t>Tumors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Endocrine </a:t>
            </a:r>
            <a:r>
              <a:rPr lang="en-IN" dirty="0" err="1"/>
              <a:t>tumors</a:t>
            </a:r>
            <a:r>
              <a:rPr lang="en-IN" dirty="0"/>
              <a:t> can be found within the isles of Langerhans. </a:t>
            </a:r>
          </a:p>
          <a:p>
            <a:r>
              <a:rPr lang="en-IN" dirty="0"/>
              <a:t>There are two types of islet cell </a:t>
            </a:r>
            <a:r>
              <a:rPr lang="en-IN" dirty="0" err="1"/>
              <a:t>tumors</a:t>
            </a:r>
            <a:r>
              <a:rPr lang="en-IN" dirty="0"/>
              <a:t>: the </a:t>
            </a:r>
            <a:r>
              <a:rPr lang="en-IN" dirty="0" err="1"/>
              <a:t>insulinoma</a:t>
            </a:r>
            <a:r>
              <a:rPr lang="en-IN" dirty="0"/>
              <a:t> and the </a:t>
            </a:r>
            <a:r>
              <a:rPr lang="en-IN" dirty="0" err="1"/>
              <a:t>gastrinoma</a:t>
            </a:r>
            <a:r>
              <a:rPr lang="en-IN" dirty="0"/>
              <a:t>. </a:t>
            </a:r>
          </a:p>
          <a:p>
            <a:r>
              <a:rPr lang="en-IN" dirty="0"/>
              <a:t>These slow-growing </a:t>
            </a:r>
            <a:r>
              <a:rPr lang="en-IN" dirty="0" err="1"/>
              <a:t>tumors</a:t>
            </a:r>
            <a:r>
              <a:rPr lang="en-IN" dirty="0"/>
              <a:t> can be either functional or </a:t>
            </a:r>
            <a:r>
              <a:rPr lang="en-IN" dirty="0" err="1"/>
              <a:t>nonfunctional</a:t>
            </a:r>
            <a:r>
              <a:rPr lang="en-IN" dirty="0"/>
              <a:t>.</a:t>
            </a:r>
          </a:p>
          <a:p>
            <a:r>
              <a:rPr lang="en-IN" dirty="0"/>
              <a:t>Among the two, </a:t>
            </a:r>
            <a:r>
              <a:rPr lang="en-IN" dirty="0" err="1"/>
              <a:t>insulinomas</a:t>
            </a:r>
            <a:r>
              <a:rPr lang="en-IN" dirty="0"/>
              <a:t> are more common.</a:t>
            </a:r>
          </a:p>
          <a:p>
            <a:r>
              <a:rPr lang="en-IN" dirty="0" err="1"/>
              <a:t>Insulinomas</a:t>
            </a:r>
            <a:r>
              <a:rPr lang="en-IN" dirty="0"/>
              <a:t> are usually solitary, while </a:t>
            </a:r>
            <a:r>
              <a:rPr lang="en-IN" dirty="0" err="1"/>
              <a:t>gastrinomas</a:t>
            </a:r>
            <a:r>
              <a:rPr lang="en-IN" dirty="0"/>
              <a:t> are often multiple and difficult to image.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9C6EB4-F97E-BD6F-3541-346B79EF06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4644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functional </a:t>
            </a:r>
            <a:r>
              <a:rPr lang="en-IN" dirty="0" err="1"/>
              <a:t>gastrinomas</a:t>
            </a:r>
            <a:r>
              <a:rPr lang="en-IN" dirty="0"/>
              <a:t> can produce </a:t>
            </a:r>
            <a:r>
              <a:rPr lang="en-IN" dirty="0" err="1"/>
              <a:t>Zollinger</a:t>
            </a:r>
            <a:r>
              <a:rPr lang="en-IN" dirty="0"/>
              <a:t>–Ellison syndrome, which is described as the excessive secretion of acid by the stomach that leads to peptic ulcers.</a:t>
            </a:r>
          </a:p>
          <a:p>
            <a:r>
              <a:rPr lang="en-IN" dirty="0"/>
              <a:t>When seen, the most common </a:t>
            </a:r>
            <a:r>
              <a:rPr lang="en-IN" dirty="0" err="1"/>
              <a:t>sonographic</a:t>
            </a:r>
            <a:r>
              <a:rPr lang="en-IN" dirty="0"/>
              <a:t> appearance of an islet cell </a:t>
            </a:r>
            <a:r>
              <a:rPr lang="en-IN" dirty="0" err="1"/>
              <a:t>tumor</a:t>
            </a:r>
            <a:r>
              <a:rPr lang="en-IN" dirty="0"/>
              <a:t> is that of a small, </a:t>
            </a:r>
            <a:r>
              <a:rPr lang="en-IN" dirty="0" err="1"/>
              <a:t>hypoechoic</a:t>
            </a:r>
            <a:r>
              <a:rPr lang="en-IN" dirty="0"/>
              <a:t> mass that may contain calcifications.</a:t>
            </a:r>
          </a:p>
          <a:p>
            <a:r>
              <a:rPr lang="en-IN" dirty="0"/>
              <a:t>Islet cell </a:t>
            </a:r>
            <a:r>
              <a:rPr lang="en-IN" dirty="0" err="1"/>
              <a:t>tumors</a:t>
            </a:r>
            <a:r>
              <a:rPr lang="en-IN" dirty="0"/>
              <a:t> can be malignant or benign, with the functioning </a:t>
            </a:r>
            <a:r>
              <a:rPr lang="en-IN" dirty="0" err="1"/>
              <a:t>tumors</a:t>
            </a:r>
            <a:r>
              <a:rPr lang="en-IN" dirty="0"/>
              <a:t> appearing </a:t>
            </a:r>
            <a:r>
              <a:rPr lang="en-IN" dirty="0" err="1"/>
              <a:t>hypervascular</a:t>
            </a:r>
            <a:r>
              <a:rPr lang="en-IN" dirty="0"/>
              <a:t> with </a:t>
            </a:r>
            <a:r>
              <a:rPr lang="en-IN" dirty="0" err="1"/>
              <a:t>color</a:t>
            </a:r>
            <a:r>
              <a:rPr lang="en-IN" dirty="0"/>
              <a:t> Doppler interrogation.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57615-C277-5D4E-56E3-64F3F740F3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637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24000"/>
            <a:ext cx="5796112" cy="3165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752F98-D7B4-59A5-7320-2B97A2EC12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790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95400"/>
            <a:ext cx="6575955" cy="3876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CD36DB-BBE7-D7AE-16F9-202136C5EE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37140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107419"/>
            <a:ext cx="6095999" cy="5746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9C1349-B5E4-470B-5F89-76E8FF3255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941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650" y="2625707"/>
            <a:ext cx="7886700" cy="2751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D676E1-F416-60BA-E61A-94643A1D66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44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Pancreatic </a:t>
            </a:r>
            <a:r>
              <a:rPr lang="en-IN" dirty="0" err="1"/>
              <a:t>divisum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E4E17-9435-8916-0765-8A60FF7300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392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Annular pancreas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6BB8F9-02DA-2BEE-465C-4B4F9F9405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893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87701"/>
            <a:ext cx="5158050" cy="5628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F79DEB-D582-7818-0219-94C031FB17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44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620" y="1600200"/>
            <a:ext cx="5227405" cy="350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13AA66-6CF8-7725-F560-B673F6EA9D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0916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143000"/>
            <a:ext cx="5620445" cy="406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755358-DA2A-AF8D-4F38-E02E04AB18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02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43000"/>
            <a:ext cx="5051274" cy="4690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56E88C-E2CD-432D-F401-FEA2104DF8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1392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Thank you</a:t>
            </a:r>
            <a:br>
              <a:rPr lang="en-IN"/>
            </a:b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59CE88-F604-D12F-FE18-72757C0A9B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794735"/>
            <a:ext cx="1514885" cy="32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18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736</TotalTime>
  <Words>2756</Words>
  <Application>Microsoft Office PowerPoint</Application>
  <PresentationFormat>On-screen Show (4:3)</PresentationFormat>
  <Paragraphs>167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4" baseType="lpstr">
      <vt:lpstr>Aptos</vt:lpstr>
      <vt:lpstr>Aptos Display</vt:lpstr>
      <vt:lpstr>Arial</vt:lpstr>
      <vt:lpstr>Office Theme</vt:lpstr>
      <vt:lpstr>Ultrasound of pancreas</vt:lpstr>
      <vt:lpstr>INTRODUCTION </vt:lpstr>
      <vt:lpstr>ANATOMY AND PHYSIOLOGY OF THE PANCREAS</vt:lpstr>
      <vt:lpstr>PowerPoint Presentation</vt:lpstr>
      <vt:lpstr>Gross Anatomy </vt:lpstr>
      <vt:lpstr>PowerPoint Presentation</vt:lpstr>
      <vt:lpstr>PowerPoint Presentation</vt:lpstr>
      <vt:lpstr>PowerPoint Presentation</vt:lpstr>
      <vt:lpstr>PowerPoint Presentation</vt:lpstr>
      <vt:lpstr>ANATOMY AND PHYSIOLOGY OF THE PANCREAS</vt:lpstr>
      <vt:lpstr>PowerPoint Presentation</vt:lpstr>
      <vt:lpstr>ANATOMY AND PHYSIOLOGY OF THE PANCREAS</vt:lpstr>
      <vt:lpstr>ANATOMY AND PHYSIOLOGY OF THE PANCREAS</vt:lpstr>
      <vt:lpstr>ANATOMY AND PHYSIOLOGY OF THE PANCREAS</vt:lpstr>
      <vt:lpstr>PowerPoint Presentation</vt:lpstr>
      <vt:lpstr>ANATOMY AND PHYSIOLOGY OF THE PANCREAS</vt:lpstr>
      <vt:lpstr>Vascular Anatomy of the Pancreas</vt:lpstr>
      <vt:lpstr>SONOGRAPHY OF THE PANCREAS</vt:lpstr>
      <vt:lpstr>SONOGRAPHY OF THE PANCREAS</vt:lpstr>
      <vt:lpstr>PowerPoint Presentation</vt:lpstr>
      <vt:lpstr>SONOGRAPHY OF THE PANCREAS</vt:lpstr>
      <vt:lpstr>SONOGRAPHY OF THE PANCREAS</vt:lpstr>
      <vt:lpstr>SONOGRAPHY OF THE PANCREAS</vt:lpstr>
      <vt:lpstr>PowerPoint Presentation</vt:lpstr>
      <vt:lpstr>SONOGRAPHY OF THE PANCREAS</vt:lpstr>
      <vt:lpstr>PowerPoint Presentation</vt:lpstr>
      <vt:lpstr>SONOGRAPHY OF THE PANCREAS</vt:lpstr>
      <vt:lpstr>PowerPoint Presentation</vt:lpstr>
      <vt:lpstr>SONOGRAPHY OF THE PANCREAS</vt:lpstr>
      <vt:lpstr>Sonographic Appearance. </vt:lpstr>
      <vt:lpstr>PowerPoint Presentation</vt:lpstr>
      <vt:lpstr>PowerPoint Presentation</vt:lpstr>
      <vt:lpstr>PATHOLOGY OF THE PANCREAS</vt:lpstr>
      <vt:lpstr>Acute Pancreatitis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Chronic Pancreatitis </vt:lpstr>
      <vt:lpstr>PowerPoint Presentation</vt:lpstr>
      <vt:lpstr>PowerPoint Presentation</vt:lpstr>
      <vt:lpstr>PowerPoint Presentation</vt:lpstr>
      <vt:lpstr>PowerPoint Presentation</vt:lpstr>
      <vt:lpstr>Pancreatic Adenocarcinoma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Pancreatic Cystadenomas and Cystadenocarcinoma</vt:lpstr>
      <vt:lpstr>PowerPoint Presentation</vt:lpstr>
      <vt:lpstr>PowerPoint Presentation</vt:lpstr>
      <vt:lpstr>PowerPoint Presentation</vt:lpstr>
      <vt:lpstr>Islet Cell Tumors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Pancreatic divisum</vt:lpstr>
      <vt:lpstr>Annular pancreas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Ultrasound of pancreas</dc:title>
  <dc:creator>Dr Arivudainambi G. Govindan</dc:creator>
  <cp:lastModifiedBy>Gunanathan RP</cp:lastModifiedBy>
  <cp:revision>43</cp:revision>
  <dcterms:created xsi:type="dcterms:W3CDTF">2006-08-16T00:00:00Z</dcterms:created>
  <dcterms:modified xsi:type="dcterms:W3CDTF">2026-03-07T08:27:51Z</dcterms:modified>
</cp:coreProperties>
</file>