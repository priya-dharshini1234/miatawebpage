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1" r:id="rId3"/>
    <p:sldId id="257" r:id="rId4"/>
    <p:sldId id="258" r:id="rId5"/>
    <p:sldId id="285" r:id="rId6"/>
    <p:sldId id="28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7" r:id="rId17"/>
    <p:sldId id="268" r:id="rId18"/>
    <p:sldId id="269" r:id="rId19"/>
    <p:sldId id="270" r:id="rId20"/>
    <p:sldId id="288" r:id="rId21"/>
    <p:sldId id="271" r:id="rId22"/>
    <p:sldId id="289" r:id="rId23"/>
    <p:sldId id="272" r:id="rId24"/>
    <p:sldId id="295" r:id="rId25"/>
    <p:sldId id="296" r:id="rId26"/>
    <p:sldId id="273" r:id="rId27"/>
    <p:sldId id="274" r:id="rId28"/>
    <p:sldId id="290" r:id="rId29"/>
    <p:sldId id="275" r:id="rId30"/>
    <p:sldId id="276" r:id="rId31"/>
    <p:sldId id="277" r:id="rId32"/>
    <p:sldId id="291" r:id="rId33"/>
    <p:sldId id="282" r:id="rId34"/>
    <p:sldId id="278" r:id="rId35"/>
    <p:sldId id="279" r:id="rId36"/>
    <p:sldId id="283" r:id="rId37"/>
    <p:sldId id="280" r:id="rId38"/>
    <p:sldId id="284" r:id="rId39"/>
    <p:sldId id="292" r:id="rId40"/>
    <p:sldId id="293" r:id="rId41"/>
    <p:sldId id="294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16" autoAdjust="0"/>
    <p:restoredTop sz="94660"/>
  </p:normalViewPr>
  <p:slideViewPr>
    <p:cSldViewPr>
      <p:cViewPr varScale="1">
        <p:scale>
          <a:sx n="58" d="100"/>
          <a:sy n="58" d="100"/>
        </p:scale>
        <p:origin x="16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144F-AAF1-9E73-062A-F68DA9F8F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8532B-052B-0A7B-97AA-802E11C6B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B5FBA-784D-C33C-9B68-892FC6C7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DE2E7-62FC-EC0C-84E4-202133DB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9E275-9E6E-7045-D004-92275B89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7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2858-3E6E-8C68-8FC8-A9B155ED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06FBB-E321-CAB7-0930-F884CB0FC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C52DA-90D6-CE11-6D0B-0356E1584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307EE-6725-EB5E-8F1D-4AEB101D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FEA4B-3748-330D-0866-68AB5BBD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26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B506-6F1B-866A-C94E-2B078BE1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DDE26-F27B-7A07-3C39-2E42D7BD1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FC0BD-FF7E-ED5E-F88C-60BF5290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2E9AE-0A0A-8136-E518-C5C55DE0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2CA94-A10E-1F2B-7FB4-E43978B5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0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7618-823A-F3C5-EAC8-2FF1A671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BE6E-9335-A37A-7992-42BD24C2B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A1C43-3D47-89D9-DC20-CA33DD09F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60873-D201-EE46-F3D5-D8DCB68C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73DB2-10E4-CD11-0881-5D00A966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3D524-1E38-46CA-14D7-88396DF6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4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756F-F985-406B-A22B-16AB7BF1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53083-3170-0538-73F3-9C724CA1C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F5190-C2AE-15A2-3DD7-B7AFD55C1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48254-DB43-6B8A-CC1D-0A2B3CE58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26FA4-1A8C-C695-E8F0-332655510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F5E26-40AA-6061-EE2F-3DBDDBC54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E24B3-78F3-0B45-05EC-53D7415B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59D1C-CBED-A233-82BC-4E503311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8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1708-835C-3398-9FE3-3CF69D31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D064A-D9E3-E206-9DEC-AC2E928E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5B45C-998F-1699-93FB-64ED59F8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D3F00-8619-FF91-5ADC-B841B73D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9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16A76-7101-9BAA-2321-9A7FDF70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86723-6B04-E1D8-62C9-E1F9994F9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E6D7-98C2-D7B0-5B02-3B82432D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3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175E-3BB8-DE9F-D7A8-5585905C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8C933-1BF0-6D0F-6321-C7FA77530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DF13F-B6F1-35C8-85B9-FB133A648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B79F7-A9B0-BBC3-3C43-59929FB3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9C4F8-EB51-96F3-B376-D1C36B13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39686-6943-F497-42D7-651E56F6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33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8AE6-9862-A9FD-1012-457879F7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E29FA-6D0E-C12A-EBD6-F25280E3F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2493E-D6F2-8256-4F0F-42D72238C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56BBC-736A-8919-DC9C-C178B20E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7D23C-D4C9-FD80-3F53-BFC929104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B566B-FBF7-58E8-E39D-20214127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2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6EE77-414A-9579-5574-507604A8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EBBBB-5F05-7413-3317-BE31E99C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FB57B-6D5F-6743-4A1C-525B8D28F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0C32B-226A-B342-9BAA-893954C7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180E4-72F1-D893-E95B-02B0FDE0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4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CC3C6-BE03-6540-EAB7-A7047B61A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D8EED-D4B8-218D-B4E2-2FF9C68A4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83F27-50B3-3282-387D-2A7BA534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98684-1AA4-D0C7-D172-B40F098B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E77BF-8726-8DF0-1976-2773E4CC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7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2CA2CC-53F5-4AC4-EB3E-7367B62DD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444E1-087B-3641-A19A-826CF3E8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562CA-A6BD-C617-2670-DDE8D5602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4A9BB-44F7-6965-3646-FA672D770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49DAF-9FF2-EF50-CF17-F7EAE6821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65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aium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214438"/>
            <a:ext cx="6858000" cy="2387600"/>
          </a:xfrm>
        </p:spPr>
        <p:txBody>
          <a:bodyPr>
            <a:normAutofit/>
          </a:bodyPr>
          <a:lstStyle/>
          <a:p>
            <a:pPr algn="l"/>
            <a:r>
              <a:rPr lang="en-IN" sz="3600"/>
              <a:t>Obstetric sonography </a:t>
            </a:r>
            <a:br>
              <a:rPr lang="en-IN" sz="3600"/>
            </a:br>
            <a:r>
              <a:rPr lang="en-IN" sz="3600"/>
              <a:t>overview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/>
              <a:t>By</a:t>
            </a:r>
          </a:p>
          <a:p>
            <a:pPr algn="l"/>
            <a:r>
              <a:rPr lang="en-IN"/>
              <a:t>Faculty of MIATA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C7CDA-E7AA-E9BB-8C91-E08D73A82E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0"/>
            <a:ext cx="31644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8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650" y="2063523"/>
            <a:ext cx="7886700" cy="2730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6727F9-DF0D-1C67-91D7-F7EEBF1BE5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21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UNDERSTANDING THE TRIMESTERS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normal pregnancy lasts for 9 months, 40 weeks, or 280 days. </a:t>
            </a:r>
          </a:p>
          <a:p>
            <a:r>
              <a:rPr lang="en-IN" dirty="0"/>
              <a:t>However, it may last up to 42 weeks. </a:t>
            </a:r>
          </a:p>
          <a:p>
            <a:r>
              <a:rPr lang="en-IN" dirty="0"/>
              <a:t>As a result, typically the first trimester is defined as weeks 1 through 12, the second trimester is defined as weeks 13 through 26, and the third trimester is defined as weeks 27 through 42. </a:t>
            </a:r>
          </a:p>
          <a:p>
            <a:r>
              <a:rPr lang="en-IN" dirty="0" err="1"/>
              <a:t>Fetal</a:t>
            </a:r>
            <a:r>
              <a:rPr lang="en-IN" dirty="0"/>
              <a:t> age is determined by the last menstrual period, which may be referred to as menstrual age or gestational 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AEE03-5E15-1062-7247-D91D07B941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CLINICAL INDICATIONS FOR AN</a:t>
            </a:r>
            <a:br>
              <a:rPr lang="en-IN" dirty="0"/>
            </a:br>
            <a:r>
              <a:rPr lang="en-IN" dirty="0"/>
              <a:t>OBSTETRIC SONOGRAM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An obstetric sonogram may be requested for various reasons. </a:t>
            </a:r>
          </a:p>
          <a:p>
            <a:r>
              <a:rPr lang="en-IN" dirty="0"/>
              <a:t>The American Institute of Ultrasound in Medicine (AIUM) publishes the practice guidelines for an obstetric sonogram on their website at </a:t>
            </a:r>
            <a:r>
              <a:rPr lang="en-IN" dirty="0">
                <a:hlinkClick r:id="rId2"/>
              </a:rPr>
              <a:t>www.aium.org</a:t>
            </a:r>
            <a:r>
              <a:rPr lang="en-IN" dirty="0"/>
              <a:t> (Tables 22-1 and 22-2).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6B690-71F0-FFD9-3A3A-9EBBE5F081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5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90689"/>
            <a:ext cx="712694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A2D288-39CD-D247-D5BB-8515163029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02608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4F94ED-C158-0AAE-A94B-F9EE179714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7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PATIENT PREPARATION FOR</a:t>
            </a:r>
            <a:br>
              <a:rPr lang="en-IN" sz="2800" dirty="0"/>
            </a:br>
            <a:r>
              <a:rPr lang="en-IN" sz="2800" dirty="0"/>
              <a:t>AN OBSTETRIC SONOGRAM</a:t>
            </a:r>
            <a:br>
              <a:rPr lang="en-IN" sz="2800" dirty="0"/>
            </a:br>
            <a:r>
              <a:rPr lang="en-IN" sz="2800" dirty="0"/>
              <a:t>AND PATIENT CARE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Both </a:t>
            </a:r>
            <a:r>
              <a:rPr lang="en-IN" dirty="0" err="1"/>
              <a:t>transvaginal</a:t>
            </a:r>
            <a:r>
              <a:rPr lang="en-IN" dirty="0"/>
              <a:t> (TV) and </a:t>
            </a:r>
            <a:r>
              <a:rPr lang="en-IN" dirty="0" err="1"/>
              <a:t>transabdominal</a:t>
            </a:r>
            <a:r>
              <a:rPr lang="en-IN" dirty="0"/>
              <a:t> (TA) imaging may be utilized to evaluate the gravid uterus. </a:t>
            </a:r>
          </a:p>
          <a:p>
            <a:r>
              <a:rPr lang="en-IN" dirty="0"/>
              <a:t>Although both techniques have their limitations, they often work well in conjunction with each other. </a:t>
            </a:r>
          </a:p>
          <a:p>
            <a:r>
              <a:rPr lang="en-IN" dirty="0"/>
              <a:t>In the early first trimester, if TA imaging is used, the patient should have a distended urinary bladder to better visualize not only the uterus, but also the adnexa. </a:t>
            </a:r>
          </a:p>
          <a:p>
            <a:r>
              <a:rPr lang="en-IN" dirty="0"/>
              <a:t>TV imaging is most often the technique used to imagine the early pregnancy, as it offers superior resolution. </a:t>
            </a:r>
          </a:p>
          <a:p>
            <a:r>
              <a:rPr lang="en-IN" dirty="0"/>
              <a:t>An empty maternal bladder is needed for this exam. </a:t>
            </a:r>
          </a:p>
          <a:p>
            <a:r>
              <a:rPr lang="en-IN" dirty="0"/>
              <a:t>Second and third trimester </a:t>
            </a:r>
            <a:r>
              <a:rPr lang="en-IN" dirty="0" err="1"/>
              <a:t>sonographic</a:t>
            </a:r>
            <a:r>
              <a:rPr lang="en-IN" dirty="0"/>
              <a:t> examinations also require an empty maternal bladder.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62651A-1C93-B20C-8E2F-AA34F87DB6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First trimester sonograms may require the use of a 5- to 10-MHz or higher TV transducer to better visualize intrauterine structures and the adnexa. </a:t>
            </a:r>
          </a:p>
          <a:p>
            <a:r>
              <a:rPr lang="en-IN" dirty="0"/>
              <a:t>Typically, a 3- to 5-MHz TA transducer will allow sufficient penetration in most pregnant patients, while providing sufficient resolution.</a:t>
            </a:r>
          </a:p>
          <a:p>
            <a:r>
              <a:rPr lang="en-IN" dirty="0"/>
              <a:t>These frequency ranges will vary among ultrasound equipment. </a:t>
            </a:r>
          </a:p>
          <a:p>
            <a:r>
              <a:rPr lang="en-IN" dirty="0"/>
              <a:t>Obese patients may require the use of lower frequency transducers for additional penetration.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D0104-44C2-594F-014C-852AC11771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08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All transducers and transducer cords should be cleaned after performing an obstetric sonogram to prevent the spread of disease. </a:t>
            </a:r>
          </a:p>
          <a:p>
            <a:r>
              <a:rPr lang="en-IN" dirty="0"/>
              <a:t>TV transducers should be soaked in a disinfecting solution and the manufacturer’s specified instructions should be followed. </a:t>
            </a:r>
          </a:p>
          <a:p>
            <a:r>
              <a:rPr lang="en-IN" dirty="0"/>
              <a:t>Since TV imaging requires that the transducer be placed into the vagina, a probe cover should be placed on the transducer and it should be inserted into the vagina using sterile jelly as a lubricant.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81D9A-8C79-595C-19DC-26C6E34E10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0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While evaluating the gravid patient, the sonographer should be aware of a unique situation that may arise during the examination. </a:t>
            </a:r>
          </a:p>
          <a:p>
            <a:r>
              <a:rPr lang="en-IN" dirty="0"/>
              <a:t>Patients in their late second or third trimester may suffer from supine hypotensive syndrome, which is a reduction in blood return to the maternal heart caused by the gravid uterus compressing the maternal inferior vena cava. </a:t>
            </a:r>
          </a:p>
          <a:p>
            <a:r>
              <a:rPr lang="en-IN" dirty="0"/>
              <a:t>Patients can complain of tachycardia, sweating, nausea, and pallor. </a:t>
            </a:r>
          </a:p>
          <a:p>
            <a:r>
              <a:rPr lang="en-IN" dirty="0"/>
              <a:t>The sonographer can assist the patient into a right lateral or left lateral position to alleviate symptoms.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F8E19-AE86-33A5-C0A9-06B680AC3E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01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GATHERING A CLINICAL HISTORY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review of prior examinations should be performed by the sonographer before any interaction with the patient.</a:t>
            </a:r>
          </a:p>
          <a:p>
            <a:r>
              <a:rPr lang="en-IN" dirty="0"/>
              <a:t>This review includes previous sonograms and other imaging studies when applicable. </a:t>
            </a:r>
          </a:p>
          <a:p>
            <a:r>
              <a:rPr lang="en-IN" dirty="0"/>
              <a:t>Moreover, sonographers must be capable of </a:t>
            </a:r>
            <a:r>
              <a:rPr lang="en-IN" dirty="0" err="1"/>
              <a:t>analyzing</a:t>
            </a:r>
            <a:r>
              <a:rPr lang="en-IN" dirty="0"/>
              <a:t> the clinical history and complaints of their patients. </a:t>
            </a:r>
          </a:p>
          <a:p>
            <a:r>
              <a:rPr lang="en-IN" dirty="0"/>
              <a:t>This practice will not only aid in clinical practice, but will also assist in answering complex certification examination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392BD3-975A-B670-2905-154AF785F7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8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By correlating clinical findings with </a:t>
            </a:r>
            <a:r>
              <a:rPr lang="en-IN" dirty="0" err="1"/>
              <a:t>sonographic</a:t>
            </a:r>
            <a:r>
              <a:rPr lang="en-IN" dirty="0"/>
              <a:t> findings, the sonographer can directly impact patient care by providing the most targeted exam possible. </a:t>
            </a:r>
          </a:p>
          <a:p>
            <a:r>
              <a:rPr lang="en-IN" dirty="0"/>
              <a:t>Furthermore, when faced with a complicated, in-depth registry question, the registrant will be able to eliminate information that is not relevant in order to answer the question appropriately.</a:t>
            </a:r>
          </a:p>
          <a:p>
            <a:r>
              <a:rPr lang="en-IN" dirty="0"/>
              <a:t>Although questions in the obstetric portion of these registries may have some clinical history, like laboratory findings, many are image-based questions that examine the reviewer’s ability to discern </a:t>
            </a:r>
            <a:r>
              <a:rPr lang="en-IN" dirty="0" err="1"/>
              <a:t>sonographic</a:t>
            </a:r>
            <a:r>
              <a:rPr lang="en-IN" dirty="0"/>
              <a:t> anatomy and pathology. </a:t>
            </a:r>
          </a:p>
          <a:p>
            <a:r>
              <a:rPr lang="en-IN" dirty="0"/>
              <a:t>For this reason, crucial </a:t>
            </a:r>
            <a:r>
              <a:rPr lang="en-IN" dirty="0" err="1"/>
              <a:t>sonographic</a:t>
            </a:r>
            <a:r>
              <a:rPr lang="en-IN" dirty="0"/>
              <a:t> images and diagrams are provided throughout this section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AF13E-D078-27CA-9179-58B515A418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66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Determining the cause of vaginal bleeding is a common obstetrical dilemma. </a:t>
            </a:r>
          </a:p>
          <a:p>
            <a:r>
              <a:rPr lang="en-IN" dirty="0"/>
              <a:t>Although vaginal bleeding can be idiopathic, in the first trimester the sonographer should be aware that there can be multiple reasons why a patient could present with vaginal bleeding, including ectopic pregnancy, gestational trophoblastic disease, miscarriage, blighted ovum, embryonic demise, and </a:t>
            </a:r>
            <a:r>
              <a:rPr lang="en-IN" dirty="0" err="1"/>
              <a:t>subchorionic</a:t>
            </a:r>
            <a:r>
              <a:rPr lang="en-IN" dirty="0"/>
              <a:t> </a:t>
            </a:r>
            <a:r>
              <a:rPr lang="en-IN" dirty="0" err="1"/>
              <a:t>hemorrhage</a:t>
            </a:r>
            <a:r>
              <a:rPr lang="en-IN" dirty="0"/>
              <a:t>. </a:t>
            </a:r>
          </a:p>
          <a:p>
            <a:r>
              <a:rPr lang="en-IN" dirty="0"/>
              <a:t>In the second trimester, painless vaginal bleeding is most often associated with placenta </a:t>
            </a:r>
            <a:r>
              <a:rPr lang="en-IN" dirty="0" err="1"/>
              <a:t>previa</a:t>
            </a:r>
            <a:r>
              <a:rPr lang="en-IN" dirty="0"/>
              <a:t>, while painful vaginal bleeding may occur as a result of placental abruption.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77317-DB3A-DB69-EDB5-8F10FACC6C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24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LABORATORY FINDINGS RELEVANT</a:t>
            </a:r>
            <a:br>
              <a:rPr lang="en-IN" dirty="0"/>
            </a:br>
            <a:r>
              <a:rPr lang="en-IN" dirty="0"/>
              <a:t>TO OBSTETRIC SONOGRAPHY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A439B-22C7-A42A-313D-3AC3B3DF82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95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Triple and Quadruple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triple screen is a maternal blood test performed between 15 and 20 gestational weeks. It includes human chorionic gonadotropin (</a:t>
            </a:r>
            <a:r>
              <a:rPr lang="en-IN" dirty="0" err="1"/>
              <a:t>hCG</a:t>
            </a:r>
            <a:r>
              <a:rPr lang="en-IN" dirty="0"/>
              <a:t>), maternal serum </a:t>
            </a:r>
            <a:r>
              <a:rPr lang="en-IN" dirty="0" err="1"/>
              <a:t>alphafetoprotein</a:t>
            </a:r>
            <a:r>
              <a:rPr lang="en-IN" dirty="0"/>
              <a:t> (MSAFP), and </a:t>
            </a:r>
            <a:r>
              <a:rPr lang="en-IN" dirty="0" err="1"/>
              <a:t>estriol</a:t>
            </a:r>
            <a:r>
              <a:rPr lang="en-IN" dirty="0"/>
              <a:t>. </a:t>
            </a:r>
          </a:p>
          <a:p>
            <a:r>
              <a:rPr lang="en-IN" dirty="0"/>
              <a:t>The quadruple screen adds an additional analysis of </a:t>
            </a:r>
            <a:r>
              <a:rPr lang="en-IN" dirty="0" err="1"/>
              <a:t>inhibin</a:t>
            </a:r>
            <a:r>
              <a:rPr lang="en-IN" dirty="0"/>
              <a:t> A. </a:t>
            </a:r>
          </a:p>
          <a:p>
            <a:r>
              <a:rPr lang="en-IN" dirty="0"/>
              <a:t>Atypical laboratory findings can be associated with abnormal pregnancies (Table 22-3).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C3637-4752-A0FF-7D6C-36CC4E3511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08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52908"/>
            <a:ext cx="6626324" cy="5239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A6882B-3E3E-F663-5889-E5F971232B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45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Early First Trimester Screening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Some medical institutions provide an earlier test than the customary triple screen offered during the second trimester. </a:t>
            </a:r>
          </a:p>
          <a:p>
            <a:r>
              <a:rPr lang="en-IN" dirty="0"/>
              <a:t>This test can be performed between 11 and 14 gestational weeks. </a:t>
            </a:r>
          </a:p>
          <a:p>
            <a:r>
              <a:rPr lang="en-IN" dirty="0"/>
              <a:t>It is an analysis of maternal blood levels of </a:t>
            </a:r>
            <a:r>
              <a:rPr lang="en-IN" dirty="0" err="1"/>
              <a:t>hCG</a:t>
            </a:r>
            <a:r>
              <a:rPr lang="en-IN" dirty="0"/>
              <a:t> and pregnancy-associated plasma protein A (PAPP-A), combined with </a:t>
            </a:r>
            <a:r>
              <a:rPr lang="en-IN" dirty="0" err="1"/>
              <a:t>fetal</a:t>
            </a:r>
            <a:r>
              <a:rPr lang="en-IN" dirty="0"/>
              <a:t> nuchal translucency (NT) measurements obtained with </a:t>
            </a:r>
            <a:r>
              <a:rPr lang="en-IN" dirty="0" err="1"/>
              <a:t>sonography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DC3D5-E45C-A201-92CD-EC7F157D43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81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FETAL BIOMETRY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Measurements obtained in the first trimester include yolk sac, gestational sac, crown rump length, and NT.</a:t>
            </a:r>
          </a:p>
          <a:p>
            <a:r>
              <a:rPr lang="en-IN" dirty="0"/>
              <a:t>These are discussed in the following chapters. </a:t>
            </a:r>
          </a:p>
          <a:p>
            <a:r>
              <a:rPr lang="en-IN" dirty="0"/>
              <a:t>Although standard </a:t>
            </a:r>
            <a:r>
              <a:rPr lang="en-IN" dirty="0" err="1"/>
              <a:t>fetal</a:t>
            </a:r>
            <a:r>
              <a:rPr lang="en-IN" dirty="0"/>
              <a:t> biometry of the second and third trimester is also discussed in the following chapters of this book,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0184CF-262D-4727-55C2-27EA4C3DA0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12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ARTIFACTS IN OB IMAGING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Obstetric </a:t>
            </a:r>
            <a:r>
              <a:rPr lang="en-IN" dirty="0" err="1"/>
              <a:t>sonography</a:t>
            </a:r>
            <a:r>
              <a:rPr lang="en-IN" dirty="0"/>
              <a:t> involves careful analysis of vital </a:t>
            </a:r>
            <a:r>
              <a:rPr lang="en-IN" dirty="0" err="1"/>
              <a:t>fetal</a:t>
            </a:r>
            <a:r>
              <a:rPr lang="en-IN" dirty="0"/>
              <a:t> and maternal structures. </a:t>
            </a:r>
          </a:p>
          <a:p>
            <a:r>
              <a:rPr lang="en-IN" dirty="0"/>
              <a:t>Often, </a:t>
            </a:r>
            <a:r>
              <a:rPr lang="en-IN" dirty="0" err="1"/>
              <a:t>artifacts</a:t>
            </a:r>
            <a:r>
              <a:rPr lang="en-IN" dirty="0"/>
              <a:t> will be observed during an obstetric sonogram. </a:t>
            </a:r>
          </a:p>
          <a:p>
            <a:r>
              <a:rPr lang="en-IN" dirty="0"/>
              <a:t>It is important to know that </a:t>
            </a:r>
            <a:r>
              <a:rPr lang="en-IN" dirty="0" err="1"/>
              <a:t>artifacts</a:t>
            </a:r>
            <a:r>
              <a:rPr lang="en-IN" dirty="0"/>
              <a:t> exist and why they occur (Table 22-5).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5CFDA-E861-07E3-A3B1-A566C7CC03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27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82" y="2514600"/>
            <a:ext cx="8259509" cy="27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5DEAAD-11E8-F7E0-9D87-578D093647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04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BIOPHYSICAL PROFILE SCORING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purpose of biophysical profile scoring is to </a:t>
            </a:r>
            <a:r>
              <a:rPr lang="en-IN" dirty="0" err="1"/>
              <a:t>investigat</a:t>
            </a:r>
            <a:r>
              <a:rPr lang="en-IN" dirty="0"/>
              <a:t> for signs of </a:t>
            </a:r>
            <a:r>
              <a:rPr lang="en-IN" dirty="0" err="1"/>
              <a:t>fetal</a:t>
            </a:r>
            <a:r>
              <a:rPr lang="en-IN" dirty="0"/>
              <a:t> hypoxia. </a:t>
            </a:r>
          </a:p>
          <a:p>
            <a:r>
              <a:rPr lang="en-IN" dirty="0"/>
              <a:t>Each examination of the </a:t>
            </a:r>
            <a:r>
              <a:rPr lang="en-IN" dirty="0" err="1"/>
              <a:t>fetus</a:t>
            </a:r>
            <a:r>
              <a:rPr lang="en-IN" dirty="0"/>
              <a:t> lasts 30 minutes. </a:t>
            </a:r>
          </a:p>
          <a:p>
            <a:r>
              <a:rPr lang="en-IN" dirty="0"/>
              <a:t>The </a:t>
            </a:r>
            <a:r>
              <a:rPr lang="en-IN" dirty="0" err="1"/>
              <a:t>sonographic</a:t>
            </a:r>
            <a:r>
              <a:rPr lang="en-IN" dirty="0"/>
              <a:t> examination is scored according to specific </a:t>
            </a:r>
            <a:r>
              <a:rPr lang="en-IN" dirty="0" err="1"/>
              <a:t>fetal</a:t>
            </a:r>
            <a:r>
              <a:rPr lang="en-IN" dirty="0"/>
              <a:t> movements (Table 22-6).</a:t>
            </a:r>
          </a:p>
          <a:p>
            <a:r>
              <a:rPr lang="en-IN" dirty="0"/>
              <a:t>The highest possible </a:t>
            </a:r>
            <a:r>
              <a:rPr lang="en-IN" dirty="0" err="1"/>
              <a:t>sonographic</a:t>
            </a:r>
            <a:r>
              <a:rPr lang="en-IN" dirty="0"/>
              <a:t> score is 8 points, or 2 points for each criterion accomplished. </a:t>
            </a:r>
          </a:p>
          <a:p>
            <a:r>
              <a:rPr lang="en-IN" dirty="0"/>
              <a:t>The </a:t>
            </a:r>
            <a:r>
              <a:rPr lang="en-IN" dirty="0" err="1"/>
              <a:t>nonstress</a:t>
            </a:r>
            <a:r>
              <a:rPr lang="en-IN" dirty="0"/>
              <a:t> test, also referred to as </a:t>
            </a:r>
            <a:r>
              <a:rPr lang="en-IN" dirty="0" err="1"/>
              <a:t>fetal</a:t>
            </a:r>
            <a:r>
              <a:rPr lang="en-IN" dirty="0"/>
              <a:t> </a:t>
            </a:r>
            <a:r>
              <a:rPr lang="en-IN" dirty="0" err="1"/>
              <a:t>cardiotocography</a:t>
            </a:r>
            <a:r>
              <a:rPr lang="en-IN" dirty="0"/>
              <a:t>, is worth 2 additional points. </a:t>
            </a:r>
          </a:p>
          <a:p>
            <a:r>
              <a:rPr lang="en-IN" dirty="0"/>
              <a:t>Therefore, if combined with a </a:t>
            </a:r>
            <a:r>
              <a:rPr lang="en-IN" dirty="0" err="1"/>
              <a:t>nonstress</a:t>
            </a:r>
            <a:r>
              <a:rPr lang="en-IN" dirty="0"/>
              <a:t> test, the highest possible score is 10 for a biophysical profile.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91E645-7D79-80CB-822D-AE03FD4FEA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90" y="2057400"/>
            <a:ext cx="8775744" cy="3724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120713-6D7C-E9D8-5EE4-0E36D1EDD1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00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FETAL PRESENTATION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Determining </a:t>
            </a:r>
            <a:r>
              <a:rPr lang="en-IN" dirty="0" err="1"/>
              <a:t>fetal</a:t>
            </a:r>
            <a:r>
              <a:rPr lang="en-IN" dirty="0"/>
              <a:t> lie and presentation is a significant element of an obstetric sonogram. </a:t>
            </a:r>
          </a:p>
          <a:p>
            <a:r>
              <a:rPr lang="en-IN" dirty="0" err="1"/>
              <a:t>Fetal</a:t>
            </a:r>
            <a:r>
              <a:rPr lang="en-IN" dirty="0"/>
              <a:t> lie can be described as longitudinal or transverse. </a:t>
            </a:r>
          </a:p>
          <a:p>
            <a:r>
              <a:rPr lang="en-IN" dirty="0"/>
              <a:t>A longitudinal lie is present when the </a:t>
            </a:r>
            <a:r>
              <a:rPr lang="en-IN" dirty="0" err="1"/>
              <a:t>fetus</a:t>
            </a:r>
            <a:r>
              <a:rPr lang="en-IN" dirty="0"/>
              <a:t> lies along the longitudinal axis of the uterus, whereas transverse is when the </a:t>
            </a:r>
            <a:r>
              <a:rPr lang="en-IN" dirty="0" err="1"/>
              <a:t>fetus</a:t>
            </a:r>
            <a:r>
              <a:rPr lang="en-IN" dirty="0"/>
              <a:t> lies transversely within the uterus.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23CCEF-CF61-7248-7AE4-BA34AE547E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70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791200"/>
            <a:ext cx="8077200" cy="533400"/>
          </a:xfrm>
        </p:spPr>
        <p:txBody>
          <a:bodyPr/>
          <a:lstStyle/>
          <a:p>
            <a:r>
              <a:rPr lang="en-IN" dirty="0"/>
              <a:t>Cephalic  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20" y="1874044"/>
            <a:ext cx="645925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4F93CA-7FB0-99F5-6531-7154B9BA8F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358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676275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093C5D-D2BB-78EE-212E-4303269D50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82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Presentation of the </a:t>
            </a:r>
            <a:r>
              <a:rPr lang="en-IN" dirty="0" err="1"/>
              <a:t>fetus</a:t>
            </a:r>
            <a:r>
              <a:rPr lang="en-IN" dirty="0"/>
              <a:t> is determined by identifying the </a:t>
            </a:r>
            <a:r>
              <a:rPr lang="en-IN" dirty="0" err="1"/>
              <a:t>fetal</a:t>
            </a:r>
            <a:r>
              <a:rPr lang="en-IN" dirty="0"/>
              <a:t> anatomy that is closest to the internal </a:t>
            </a:r>
            <a:r>
              <a:rPr lang="en-IN" dirty="0" err="1"/>
              <a:t>os</a:t>
            </a:r>
            <a:r>
              <a:rPr lang="en-IN" dirty="0"/>
              <a:t> of the cervix. </a:t>
            </a:r>
          </a:p>
          <a:p>
            <a:r>
              <a:rPr lang="en-IN" dirty="0"/>
              <a:t>Cephalic presentation, or head first, is the most common presentation. </a:t>
            </a:r>
          </a:p>
          <a:p>
            <a:r>
              <a:rPr lang="en-IN" dirty="0"/>
              <a:t>A breech presentation can be further described as complete, incomplete (footling), or frank. </a:t>
            </a:r>
          </a:p>
          <a:p>
            <a:r>
              <a:rPr lang="en-IN" dirty="0"/>
              <a:t>A complete breech is when the </a:t>
            </a:r>
            <a:r>
              <a:rPr lang="en-IN" dirty="0" err="1"/>
              <a:t>fetal</a:t>
            </a:r>
            <a:r>
              <a:rPr lang="en-IN" dirty="0"/>
              <a:t> legs are flexed at the hips, and there is flexion of the knees also. </a:t>
            </a:r>
          </a:p>
          <a:p>
            <a:r>
              <a:rPr lang="en-IN" dirty="0"/>
              <a:t>Frank breech presentation is when the </a:t>
            </a:r>
            <a:r>
              <a:rPr lang="en-IN" dirty="0" err="1"/>
              <a:t>fetal</a:t>
            </a:r>
            <a:r>
              <a:rPr lang="en-IN" dirty="0"/>
              <a:t> buttocks are closest to the cervix, whereas footling breech is when there is extension of at least one of the legs toward the cervix (Fig. 22-1).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4664D-4C4E-26C1-4A8B-178346770C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07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700" dirty="0"/>
              <a:t>EXTRAUTERINE ABNORMALITIES</a:t>
            </a:r>
            <a:br>
              <a:rPr lang="en-IN" sz="2700" dirty="0"/>
            </a:br>
            <a:r>
              <a:rPr lang="en-IN" sz="2700" dirty="0"/>
              <a:t>ASSOCIATED WITH OBSTETRIC</a:t>
            </a:r>
            <a:br>
              <a:rPr lang="en-IN" sz="2700" dirty="0"/>
            </a:br>
            <a:r>
              <a:rPr lang="en-IN" sz="2700" dirty="0"/>
              <a:t>SONOGRAPHY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During a </a:t>
            </a:r>
            <a:r>
              <a:rPr lang="en-IN" dirty="0" err="1"/>
              <a:t>sonographic</a:t>
            </a:r>
            <a:r>
              <a:rPr lang="en-IN" dirty="0"/>
              <a:t> examination of the gravid patient, the sonographer must not only be aware of the </a:t>
            </a:r>
            <a:r>
              <a:rPr lang="en-IN" dirty="0" err="1"/>
              <a:t>fetal</a:t>
            </a:r>
            <a:r>
              <a:rPr lang="en-IN" dirty="0"/>
              <a:t> findings, but also cognizant of the surrounding maternal pelvic anatomy, including the ovaries and adnexa. </a:t>
            </a:r>
          </a:p>
          <a:p>
            <a:r>
              <a:rPr lang="en-IN" dirty="0"/>
              <a:t>The most common pelvic mass associated with pregnancy is the </a:t>
            </a:r>
            <a:r>
              <a:rPr lang="en-IN" b="1" dirty="0"/>
              <a:t>corpus </a:t>
            </a:r>
            <a:r>
              <a:rPr lang="en-IN" b="1" dirty="0" err="1"/>
              <a:t>luteum</a:t>
            </a:r>
            <a:r>
              <a:rPr lang="en-IN" b="1" dirty="0"/>
              <a:t> cyst </a:t>
            </a:r>
            <a:r>
              <a:rPr lang="en-IN" dirty="0"/>
              <a:t>of the ovary. </a:t>
            </a:r>
          </a:p>
          <a:p>
            <a:r>
              <a:rPr lang="en-IN" dirty="0"/>
              <a:t>These cysts can have a complex appearance, or a </a:t>
            </a:r>
            <a:r>
              <a:rPr lang="en-IN" b="1" dirty="0"/>
              <a:t>thick wall</a:t>
            </a:r>
            <a:r>
              <a:rPr lang="en-IN" dirty="0"/>
              <a:t>, and may therefore mimic an ectopic pregnancy. Large ovarian cysts or masses can lead to ovarian torsion.</a:t>
            </a:r>
          </a:p>
          <a:p>
            <a:r>
              <a:rPr lang="en-IN" dirty="0"/>
              <a:t>If a patient presents with a large ovarian abnormality, further </a:t>
            </a:r>
            <a:r>
              <a:rPr lang="en-IN" dirty="0" err="1"/>
              <a:t>sonographic</a:t>
            </a:r>
            <a:r>
              <a:rPr lang="en-IN" dirty="0"/>
              <a:t> signs of ovarian torsion must be investigated..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1BC97-30AF-C226-6CAB-0E0B28B5DB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36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1447800"/>
            <a:ext cx="6443949" cy="474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F4E364-E00A-5ADB-14F9-DC6C39B137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2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Pregnant patients who complain of right lower quadrant pain could be suffering from co-existing acute appendicitis.</a:t>
            </a:r>
          </a:p>
          <a:p>
            <a:r>
              <a:rPr lang="en-IN" dirty="0"/>
              <a:t>The appendix may be visualized with </a:t>
            </a:r>
            <a:r>
              <a:rPr lang="en-IN" dirty="0" err="1"/>
              <a:t>endovaginal</a:t>
            </a:r>
            <a:r>
              <a:rPr lang="en-IN" dirty="0"/>
              <a:t> imaging as well. </a:t>
            </a:r>
          </a:p>
          <a:p>
            <a:r>
              <a:rPr lang="en-IN" dirty="0"/>
              <a:t>Pregnant patients complaining of right upper quadrant pain could have gallstones.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89C2B-18FB-AF55-3774-E4FE0047A8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26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Hydronephrosis</a:t>
            </a:r>
            <a:r>
              <a:rPr lang="en-IN" dirty="0"/>
              <a:t> is common during late pregnancy.</a:t>
            </a:r>
          </a:p>
          <a:p>
            <a:r>
              <a:rPr lang="en-IN" dirty="0"/>
              <a:t>Dilation of the renal collecting system is most often secondary to the large size of the uterus with subsequent transient asymptomatic obstruction of the ureters.</a:t>
            </a:r>
          </a:p>
          <a:p>
            <a:r>
              <a:rPr lang="en-IN" dirty="0"/>
              <a:t>However, some patients will often suffer from back pain.</a:t>
            </a:r>
          </a:p>
          <a:p>
            <a:r>
              <a:rPr lang="en-IN" dirty="0"/>
              <a:t>A thorough analysis for urinary calculi must be performed in these situations.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42DF4C-F9F4-CE34-3FD5-97924758E3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8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ANALYZING AN OBSTETRIC REGISTRY</a:t>
            </a:r>
            <a:br>
              <a:rPr lang="en-IN" dirty="0"/>
            </a:br>
            <a:r>
              <a:rPr lang="en-IN" dirty="0"/>
              <a:t>QUESTION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Registry examinations can be intimidating. </a:t>
            </a:r>
          </a:p>
          <a:p>
            <a:r>
              <a:rPr lang="en-IN" dirty="0"/>
              <a:t>Unfortunately, clinical history during late pregnancy may not be helpful. </a:t>
            </a:r>
          </a:p>
          <a:p>
            <a:r>
              <a:rPr lang="en-IN" dirty="0"/>
              <a:t>For obstetric questions, laboratory findings, and an accurate recognition of </a:t>
            </a:r>
            <a:r>
              <a:rPr lang="en-IN" dirty="0" err="1"/>
              <a:t>sonographic</a:t>
            </a:r>
            <a:r>
              <a:rPr lang="en-IN" dirty="0"/>
              <a:t> anatomy</a:t>
            </a:r>
          </a:p>
          <a:p>
            <a:r>
              <a:rPr lang="en-IN" dirty="0"/>
              <a:t>are vital to answering the question correctly. </a:t>
            </a:r>
          </a:p>
          <a:p>
            <a:r>
              <a:rPr lang="en-IN" dirty="0"/>
              <a:t>Here are a couple of steps that you can use to give you a better chance at answering these complex questions. </a:t>
            </a:r>
          </a:p>
          <a:p>
            <a:r>
              <a:rPr lang="en-IN" dirty="0"/>
              <a:t>Read the question below and look at the image (Fig. 22-2).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4FF46-7AE2-FB17-E330-FB059DCD4C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46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369" y="1322300"/>
            <a:ext cx="5579513" cy="5134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74FA3A-EB3A-95D6-2228-263ECFB411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71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above image is of the gravid uterus of a 39-yearold patient who presented to the ultrasound department with a history of elevated MSAFP. </a:t>
            </a:r>
          </a:p>
          <a:p>
            <a:r>
              <a:rPr lang="en-IN" dirty="0"/>
              <a:t>She states that the </a:t>
            </a:r>
            <a:r>
              <a:rPr lang="en-IN" dirty="0" err="1"/>
              <a:t>fetus</a:t>
            </a:r>
            <a:r>
              <a:rPr lang="en-IN" dirty="0"/>
              <a:t> appears to have been moving regularly, and she has had no pain or vaginal bleeding. </a:t>
            </a:r>
          </a:p>
          <a:p>
            <a:r>
              <a:rPr lang="en-IN" dirty="0"/>
              <a:t>What is the most likely diagnosis?</a:t>
            </a:r>
          </a:p>
          <a:p>
            <a:r>
              <a:rPr lang="en-IN" dirty="0"/>
              <a:t>A. </a:t>
            </a:r>
            <a:r>
              <a:rPr lang="en-IN" dirty="0" err="1"/>
              <a:t>Spina</a:t>
            </a:r>
            <a:r>
              <a:rPr lang="en-IN" dirty="0"/>
              <a:t> bifida</a:t>
            </a:r>
          </a:p>
          <a:p>
            <a:r>
              <a:rPr lang="en-IN" dirty="0"/>
              <a:t>B. Trisomy 18</a:t>
            </a:r>
          </a:p>
          <a:p>
            <a:r>
              <a:rPr lang="en-IN" dirty="0"/>
              <a:t>C. Endometriosis</a:t>
            </a:r>
          </a:p>
          <a:p>
            <a:r>
              <a:rPr lang="en-IN" dirty="0"/>
              <a:t>D. Anencephaly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94972F-ED0D-4A53-7133-4E016C7AD7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62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 1: Look at the image and try to answer the question without looking at the answers provided.</a:t>
            </a:r>
          </a:p>
          <a:p>
            <a:r>
              <a:rPr lang="en-IN" dirty="0"/>
              <a:t>As you study, you need to look at as many </a:t>
            </a:r>
            <a:r>
              <a:rPr lang="en-IN" dirty="0" err="1"/>
              <a:t>sonographic</a:t>
            </a:r>
            <a:r>
              <a:rPr lang="en-IN" dirty="0"/>
              <a:t> images as you can. </a:t>
            </a:r>
          </a:p>
          <a:p>
            <a:r>
              <a:rPr lang="en-IN" dirty="0"/>
              <a:t>There are images provided for quick reference. </a:t>
            </a:r>
          </a:p>
          <a:p>
            <a:r>
              <a:rPr lang="en-IN" dirty="0"/>
              <a:t>The more </a:t>
            </a:r>
            <a:r>
              <a:rPr lang="en-IN" dirty="0" err="1"/>
              <a:t>sonographic</a:t>
            </a:r>
            <a:r>
              <a:rPr lang="en-IN" dirty="0"/>
              <a:t> images you look at, the better prepared you will be to answer image based questions. </a:t>
            </a:r>
          </a:p>
          <a:p>
            <a:r>
              <a:rPr lang="en-IN" dirty="0"/>
              <a:t>Try to determine what part of the </a:t>
            </a:r>
            <a:r>
              <a:rPr lang="en-IN" dirty="0" err="1"/>
              <a:t>fetus</a:t>
            </a:r>
            <a:r>
              <a:rPr lang="en-IN" dirty="0"/>
              <a:t> is being shown in the image. </a:t>
            </a:r>
          </a:p>
          <a:p>
            <a:r>
              <a:rPr lang="en-IN" dirty="0"/>
              <a:t>This step may eliminate some of the incorrect answers immediately.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77BE4-0740-3A13-E4E4-FD8669C766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66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 2: If you don’t know the answer right away from the image, then look at the question, and begin to break it down.</a:t>
            </a:r>
          </a:p>
          <a:p>
            <a:r>
              <a:rPr lang="en-IN" dirty="0"/>
              <a:t>Let us assume that you have no idea what the answer is from looking at the image. </a:t>
            </a:r>
          </a:p>
          <a:p>
            <a:r>
              <a:rPr lang="en-IN" dirty="0"/>
              <a:t>Then you move on to step 2, which is breaking the question down. </a:t>
            </a:r>
          </a:p>
          <a:p>
            <a:r>
              <a:rPr lang="en-IN" dirty="0"/>
              <a:t>This step is complicated, but it will help.</a:t>
            </a:r>
          </a:p>
          <a:p>
            <a:r>
              <a:rPr lang="en-IN" dirty="0"/>
              <a:t>The first part of the question provides the age of the patient, which is 39 years.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E0F2D-0568-A6B1-9D91-17216D2742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47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By simply knowing what advance maternal age is (35), we know that she is at increased risk for having a complicated pregnancy, and that she is more likely to have a </a:t>
            </a:r>
            <a:r>
              <a:rPr lang="en-IN" dirty="0" err="1"/>
              <a:t>fetus</a:t>
            </a:r>
            <a:r>
              <a:rPr lang="en-IN" dirty="0"/>
              <a:t> with an abnormality.</a:t>
            </a:r>
          </a:p>
          <a:p>
            <a:r>
              <a:rPr lang="en-IN" dirty="0"/>
              <a:t>Look at the answers provided. Is there one that you can eliminate solely on the patient’s age or irrelevance?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5C9074-B544-EF49-C1D5-949601E09C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03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There is one, endometriosis doesn’t make sense. </a:t>
            </a:r>
          </a:p>
          <a:p>
            <a:r>
              <a:rPr lang="en-IN" dirty="0"/>
              <a:t>Mark it off the list! You now have a 33% chance of answering the question correctly. </a:t>
            </a:r>
          </a:p>
          <a:p>
            <a:r>
              <a:rPr lang="en-IN" dirty="0"/>
              <a:t>We now move on to the next part of the patient’s history, which is the elevated MSAFP. </a:t>
            </a:r>
          </a:p>
          <a:p>
            <a:r>
              <a:rPr lang="en-IN" dirty="0"/>
              <a:t>Look at the answers and see if there are any that you can eliminate that are not linked with elevated MSAFP. </a:t>
            </a:r>
          </a:p>
          <a:p>
            <a:r>
              <a:rPr lang="en-IN" dirty="0"/>
              <a:t>There is one choice that can be eliminated. Trisomy 18 is typically not linked with an elevated MSAFP.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6F8CA-709E-E65D-C01E-784D9D621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61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Now, you have a 50% chance at getting the question correct. </a:t>
            </a:r>
          </a:p>
          <a:p>
            <a:r>
              <a:rPr lang="en-IN" dirty="0"/>
              <a:t>This is where the following chapters will help. You must know your </a:t>
            </a:r>
            <a:r>
              <a:rPr lang="en-IN" dirty="0" err="1"/>
              <a:t>sonographic</a:t>
            </a:r>
            <a:r>
              <a:rPr lang="en-IN" dirty="0"/>
              <a:t> findings to correctly answer these questions.</a:t>
            </a:r>
          </a:p>
          <a:p>
            <a:r>
              <a:rPr lang="en-IN" dirty="0"/>
              <a:t>This is an image of the </a:t>
            </a:r>
            <a:r>
              <a:rPr lang="en-IN" dirty="0" err="1"/>
              <a:t>fetal</a:t>
            </a:r>
            <a:r>
              <a:rPr lang="en-IN" dirty="0"/>
              <a:t> head. </a:t>
            </a:r>
          </a:p>
          <a:p>
            <a:r>
              <a:rPr lang="en-IN" dirty="0"/>
              <a:t>The correct answer is anencephaly. </a:t>
            </a:r>
          </a:p>
          <a:p>
            <a:r>
              <a:rPr lang="en-IN" dirty="0"/>
              <a:t>The cranium is absent above the orbits with anencephaly, as seen in this image.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928DC-9FCE-E77F-D6E9-175493DEB5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98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685800"/>
            <a:ext cx="4572000" cy="4998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5404A9-6A95-BC8C-34EA-425A1FF215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70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52500"/>
            <a:ext cx="4951947" cy="5093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92E4C3-0018-F2EE-82B8-9A26679455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084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88853"/>
            <a:ext cx="6093395" cy="34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802E29-82B0-0A98-B590-EF0D363D16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-609600"/>
            <a:ext cx="147674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32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2031</Words>
  <Application>Microsoft Office PowerPoint</Application>
  <PresentationFormat>On-screen Show (4:3)</PresentationFormat>
  <Paragraphs>124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Obstetric sonography  overview</vt:lpstr>
      <vt:lpstr>PowerPoint Presentation</vt:lpstr>
      <vt:lpstr>UNDERSTANDING THE TRIMESTERS </vt:lpstr>
      <vt:lpstr>CLINICAL INDICATIONS FOR AN OBSTETRIC SONOGRAM </vt:lpstr>
      <vt:lpstr>PowerPoint Presentation</vt:lpstr>
      <vt:lpstr>PowerPoint Presentation</vt:lpstr>
      <vt:lpstr>PATIENT PREPARATION FOR AN OBSTETRIC SONOGRAM AND PATIENT CARE </vt:lpstr>
      <vt:lpstr>PowerPoint Presentation</vt:lpstr>
      <vt:lpstr>PowerPoint Presentation</vt:lpstr>
      <vt:lpstr>PowerPoint Presentation</vt:lpstr>
      <vt:lpstr>GATHERING A CLINICAL HISTORY </vt:lpstr>
      <vt:lpstr>PowerPoint Presentation</vt:lpstr>
      <vt:lpstr>PowerPoint Presentation</vt:lpstr>
      <vt:lpstr>LABORATORY FINDINGS RELEVANT TO OBSTETRIC SONOGRAPHY</vt:lpstr>
      <vt:lpstr>The Triple and Quadruple Screen</vt:lpstr>
      <vt:lpstr>PowerPoint Presentation</vt:lpstr>
      <vt:lpstr>Early First Trimester Screening </vt:lpstr>
      <vt:lpstr>FETAL BIOMETRY </vt:lpstr>
      <vt:lpstr>ARTIFACTS IN OB IMAGING </vt:lpstr>
      <vt:lpstr>PowerPoint Presentation</vt:lpstr>
      <vt:lpstr>BIOPHYSICAL PROFILE SCORING </vt:lpstr>
      <vt:lpstr>PowerPoint Presentation</vt:lpstr>
      <vt:lpstr>FETAL PRESENTATION </vt:lpstr>
      <vt:lpstr>PowerPoint Presentation</vt:lpstr>
      <vt:lpstr>PowerPoint Presentation</vt:lpstr>
      <vt:lpstr>PowerPoint Presentation</vt:lpstr>
      <vt:lpstr>EXTRAUTERINE ABNORMALITIES ASSOCIATED WITH OBSTETRIC SONOGRAPHY </vt:lpstr>
      <vt:lpstr>PowerPoint Presentation</vt:lpstr>
      <vt:lpstr>PowerPoint Presentation</vt:lpstr>
      <vt:lpstr>PowerPoint Presentation</vt:lpstr>
      <vt:lpstr>ANALYZING AN OBSTETRIC REGISTRY QUESTION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Arivudainambi G. Govindan</dc:creator>
  <cp:lastModifiedBy>Gunanathan RP</cp:lastModifiedBy>
  <cp:revision>15</cp:revision>
  <dcterms:created xsi:type="dcterms:W3CDTF">2006-08-16T00:00:00Z</dcterms:created>
  <dcterms:modified xsi:type="dcterms:W3CDTF">2026-03-07T15:13:32Z</dcterms:modified>
</cp:coreProperties>
</file>